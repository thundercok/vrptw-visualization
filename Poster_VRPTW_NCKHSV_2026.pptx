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78672" cy="302757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template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378672" cy="302757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411480"/>
            <a:ext cx="12435840" cy="2286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TỐI ƯU HOÁ BÀI TOÁN ĐỊNH TUYẾN PHƯƠNG TIỆN TRONG KHUNG THỜI GIAN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97706"/>
                </a:solidFill>
                <a:latin typeface="Arial"/>
              </a:rPr>
              <a:t>BẰNG THUẬT TOÁN HYBRID DDQN - ALNS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2926080"/>
            <a:ext cx="124358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SVTH: </a:t>
            </a:r>
            <a:r>
              <a:rPr sz="1500" b="0" i="0">
                <a:solidFill>
                  <a:srgbClr val="FFFFFF"/>
                </a:solidFill>
                <a:latin typeface="Arial"/>
              </a:rPr>
              <a:t>Huỳnh Nhật Huy¹ (MSSV: 523C0012), Nguyễn Nhật Huy¹, Nguyễn Thị Bảo Trân²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GVHD: </a:t>
            </a:r>
            <a:r>
              <a:rPr sz="1500" b="1" i="0">
                <a:solidFill>
                  <a:srgbClr val="D97706"/>
                </a:solidFill>
                <a:latin typeface="Arial"/>
              </a:rPr>
              <a:t>TS. Hồ Thị Linh*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2456" y="4389120"/>
            <a:ext cx="1243584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CBD5E1"/>
                </a:solidFill>
                <a:latin typeface="Arial"/>
              </a:rPr>
              <a:t>¹ Sinh viên ngành Khoa học Máy tính, ² Sinh viên ngành Kỹ thuật Phần mềm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CBD5E1"/>
                </a:solidFill>
                <a:latin typeface="Arial"/>
              </a:rPr>
              <a:t>* Nhóm nghiên cứu Xử lý Ngôn ngữ Tự nhiên &amp; Khai phá Dữ liệu (NLP-KD), Khoa CNTT, Trường Đại học Tôn Đức Thắng</a:t>
            </a:r>
          </a:p>
        </p:txBody>
      </p:sp>
      <p:pic>
        <p:nvPicPr>
          <p:cNvPr id="6" name="Picture 5" descr="qr_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40" y="274320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264640" y="5980176"/>
            <a:ext cx="3200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FFFFFF"/>
                </a:solidFill>
                <a:latin typeface="Arial"/>
              </a:rPr>
              <a:t>Quét mã xem mã nguồn / 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62456" y="6903720"/>
            <a:ext cx="9125712" cy="6949440"/>
          </a:xfrm>
          <a:prstGeom prst="roundRect">
            <a:avLst>
              <a:gd name="adj" fmla="val 1052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62456" y="6903720"/>
            <a:ext cx="9125712" cy="438912"/>
          </a:xfrm>
          <a:prstGeom prst="roundRect">
            <a:avLst>
              <a:gd name="adj" fmla="val 1666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62456" y="7269480"/>
            <a:ext cx="9125712" cy="7315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6903720"/>
            <a:ext cx="7187184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1. GIỚI THIỆU BÀI TOÁN &amp; ĐỘNG LỰC NGHIÊN CỨU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87384" y="6976872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87384" y="6976872"/>
            <a:ext cx="155448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7706"/>
                </a:solidFill>
                <a:latin typeface="Arial"/>
              </a:rPr>
              <a:t>TỔNG QUAN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7434072"/>
            <a:ext cx="8833104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Bài toán Định tuyến Phương tiện trong Khung Thời gian (</a:t>
            </a:r>
            <a:r>
              <a:rPr sz="1250" b="1" i="0">
                <a:solidFill>
                  <a:srgbClr val="1D4ED8"/>
                </a:solidFill>
                <a:latin typeface="Arial"/>
              </a:rPr>
              <a:t>VRPTW</a:t>
            </a:r>
            <a:r>
              <a:rPr sz="1250" b="0" i="0">
                <a:solidFill>
                  <a:srgbClr val="0F172A"/>
                </a:solidFill>
                <a:latin typeface="Arial"/>
              </a:rPr>
              <a:t>) đòi hỏi thiết kế tuyến đường phục vụ toàn bộ khách hàng theo mục tiêu kép phân cấp: </a:t>
            </a:r>
            <a:r>
              <a:rPr sz="1250" b="1" i="0">
                <a:solidFill>
                  <a:srgbClr val="1D4ED8"/>
                </a:solidFill>
                <a:latin typeface="Arial"/>
              </a:rPr>
              <a:t>tối thiểu số xe (Min NV)</a:t>
            </a:r>
            <a:r>
              <a:rPr sz="1250" b="0" i="0">
                <a:solidFill>
                  <a:srgbClr val="0F172A"/>
                </a:solidFill>
                <a:latin typeface="Arial"/>
              </a:rPr>
              <a:t> trước, rồi đến </a:t>
            </a:r>
            <a:r>
              <a:rPr sz="1250" b="1" i="0">
                <a:solidFill>
                  <a:srgbClr val="047857"/>
                </a:solidFill>
                <a:latin typeface="Arial"/>
              </a:rPr>
              <a:t>tối thiểu quãng đường (Min TD)</a:t>
            </a:r>
            <a:r>
              <a:rPr sz="1250" b="0" i="0">
                <a:solidFill>
                  <a:srgbClr val="0F172A"/>
                </a:solidFill>
                <a:latin typeface="Arial"/>
              </a:rPr>
              <a:t>, với ràng buộc tải trọng </a:t>
            </a:r>
            <a:r>
              <a:rPr sz="1250" b="1" i="1">
                <a:solidFill>
                  <a:srgbClr val="0F172A"/>
                </a:solidFill>
                <a:latin typeface="Arial"/>
              </a:rPr>
              <a:t>Q</a:t>
            </a:r>
            <a:r>
              <a:rPr sz="1250" b="0" i="0">
                <a:solidFill>
                  <a:srgbClr val="0F172A"/>
                </a:solidFill>
                <a:latin typeface="Arial"/>
              </a:rPr>
              <a:t> và cửa sổ thời gian </a:t>
            </a:r>
            <a:r>
              <a:rPr sz="1250" b="1" i="1">
                <a:solidFill>
                  <a:srgbClr val="0F172A"/>
                </a:solidFill>
                <a:latin typeface="Arial"/>
              </a:rPr>
              <a:t>[Eᵢ, Lᵢ]</a:t>
            </a:r>
            <a:r>
              <a:rPr sz="1250" b="0" i="0">
                <a:solidFill>
                  <a:srgbClr val="0F172A"/>
                </a:solidFill>
                <a:latin typeface="Arial"/>
              </a:rPr>
              <a:t> tại mỗi khách hàng.</a:t>
            </a:r>
          </a:p>
        </p:txBody>
      </p:sp>
      <p:pic>
        <p:nvPicPr>
          <p:cNvPr id="15" name="Picture 14" descr="vrptw_problem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8988552"/>
            <a:ext cx="8833104" cy="2944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08760" y="11951208"/>
            <a:ext cx="8833104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4748B"/>
                </a:solidFill>
                <a:latin typeface="Arial"/>
              </a:rPr>
              <a:t>Sơ đồ mạng lưới điều phối xe thông minh VRPTW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12225528"/>
            <a:ext cx="8833104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146304" indent="-146304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</a:t>
            </a:r>
            <a:r>
              <a:rPr sz="1250" b="1" i="0">
                <a:solidFill>
                  <a:srgbClr val="DC2626"/>
                </a:solidFill>
                <a:latin typeface="Arial"/>
              </a:rPr>
              <a:t>Hạn chế: </a:t>
            </a:r>
            <a:r>
              <a:rPr sz="1250" b="0" i="0">
                <a:solidFill>
                  <a:srgbClr val="0F172A"/>
                </a:solidFill>
                <a:latin typeface="Arial"/>
              </a:rPr>
              <a:t>ALNS truyền thống chọn toán tử phá huỷ/sửa chữa ngẫu nhiên có trọng số (Roulette Wheel), dễ hội tụ sớm vào cực tiểu địa phương.</a:t>
            </a:r>
          </a:p>
          <a:p>
            <a:pPr algn="l" marL="146304" indent="-146304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</a:t>
            </a:r>
            <a:r>
              <a:rPr sz="1250" b="1" i="0">
                <a:solidFill>
                  <a:srgbClr val="047857"/>
                </a:solidFill>
                <a:latin typeface="Arial"/>
              </a:rPr>
              <a:t>Giải pháp: </a:t>
            </a:r>
            <a:r>
              <a:rPr sz="1250" b="0" i="0">
                <a:solidFill>
                  <a:srgbClr val="0F172A"/>
                </a:solidFill>
                <a:latin typeface="Arial"/>
              </a:rPr>
              <a:t>khung Hybrid DDQN-ALNS — hai tác tử Deep Q-Learning phân cấp học chính sách chọn toán tử thích ứng, thay cho cơ chế ngẫu nhiên tĩnh.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90504" y="6903720"/>
            <a:ext cx="9125712" cy="6949440"/>
          </a:xfrm>
          <a:prstGeom prst="roundRect">
            <a:avLst>
              <a:gd name="adj" fmla="val 1052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890504" y="6903720"/>
            <a:ext cx="9125712" cy="438912"/>
          </a:xfrm>
          <a:prstGeom prst="roundRect">
            <a:avLst>
              <a:gd name="adj" fmla="val 1666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90504" y="7269480"/>
            <a:ext cx="9125712" cy="7315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36808" y="6903720"/>
            <a:ext cx="7187184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2. TẬP DỮ LIỆU &amp; MIỀN MÔ PHỎNG (DOMAIN RANDOMIZATION)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315432" y="6976872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315432" y="6976872"/>
            <a:ext cx="155448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7706"/>
                </a:solidFill>
                <a:latin typeface="Arial"/>
              </a:rPr>
              <a:t>DỮ LIỆU &amp; DR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36808" y="7434072"/>
            <a:ext cx="8833104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Hai bộ benchmark chuẩn quốc tế: </a:t>
            </a:r>
            <a:r>
              <a:rPr sz="1250" b="1" i="0">
                <a:solidFill>
                  <a:srgbClr val="1D4ED8"/>
                </a:solidFill>
                <a:latin typeface="Arial"/>
              </a:rPr>
              <a:t>Solomon-100</a:t>
            </a:r>
            <a:r>
              <a:rPr sz="1250" b="0" i="0">
                <a:solidFill>
                  <a:srgbClr val="0F172A"/>
                </a:solidFill>
                <a:latin typeface="Arial"/>
              </a:rPr>
              <a:t> và </a:t>
            </a:r>
            <a:r>
              <a:rPr sz="1250" b="1" i="0">
                <a:solidFill>
                  <a:srgbClr val="1D4ED8"/>
                </a:solidFill>
                <a:latin typeface="Arial"/>
              </a:rPr>
              <a:t>Gehring–Homberger</a:t>
            </a:r>
            <a:r>
              <a:rPr sz="1250" b="0" i="0">
                <a:solidFill>
                  <a:srgbClr val="0F172A"/>
                </a:solidFill>
                <a:latin typeface="Arial"/>
              </a:rPr>
              <a:t> — tổng </a:t>
            </a:r>
            <a:r>
              <a:rPr sz="1250" b="1" i="0">
                <a:solidFill>
                  <a:srgbClr val="0F172A"/>
                </a:solidFill>
                <a:latin typeface="Arial"/>
              </a:rPr>
              <a:t>176 bài toán</a:t>
            </a:r>
            <a:r>
              <a:rPr sz="1250" b="0" i="0">
                <a:solidFill>
                  <a:srgbClr val="0F172A"/>
                </a:solidFill>
                <a:latin typeface="Arial"/>
              </a:rPr>
              <a:t>, 100–400 khách hàng, thuộc các nhóm C, R, RC.</a:t>
            </a:r>
          </a:p>
        </p:txBody>
      </p:sp>
      <p:pic>
        <p:nvPicPr>
          <p:cNvPr id="25" name="Picture 24" descr="domain_randomization_3pan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6808" y="8714232"/>
            <a:ext cx="8833104" cy="294436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036808" y="11676888"/>
            <a:ext cx="8833104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4748B"/>
                </a:solidFill>
                <a:latin typeface="Arial"/>
              </a:rPr>
              <a:t>3 miền phân bố không gian Domain Randomization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36808" y="11951208"/>
            <a:ext cx="8833104" cy="1691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146304" indent="-146304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</a:t>
            </a:r>
            <a:r>
              <a:rPr sz="1250" b="1" i="0">
                <a:solidFill>
                  <a:srgbClr val="D97706"/>
                </a:solidFill>
                <a:latin typeface="Arial"/>
              </a:rPr>
              <a:t>Huấn luyện: </a:t>
            </a:r>
            <a:r>
              <a:rPr sz="1250" b="0" i="0">
                <a:solidFill>
                  <a:srgbClr val="0F172A"/>
                </a:solidFill>
                <a:latin typeface="Arial"/>
              </a:rPr>
              <a:t>đa nhiệm ngoại tuyến trên đồ thị ngẫu nhiên (N = 20–100 khách hàng), biến thiên toạ độ và độ chặt khung giờ.</a:t>
            </a:r>
          </a:p>
          <a:p>
            <a:pPr algn="l" marL="146304" indent="-146304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</a:t>
            </a:r>
            <a:r>
              <a:rPr sz="1250" b="1" i="0">
                <a:solidFill>
                  <a:srgbClr val="047857"/>
                </a:solidFill>
                <a:latin typeface="Arial"/>
              </a:rPr>
              <a:t>Zero-shot: </a:t>
            </a:r>
            <a:r>
              <a:rPr sz="1250" b="0" i="0">
                <a:solidFill>
                  <a:srgbClr val="0F172A"/>
                </a:solidFill>
                <a:latin typeface="Arial"/>
              </a:rPr>
              <a:t>đóng băng trọng số mạng (frozen weights), chuyển giao trực tiếp sang dữ liệu thực tế mà không huấn luyện lại.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62456" y="14090904"/>
            <a:ext cx="9125712" cy="6949440"/>
          </a:xfrm>
          <a:prstGeom prst="roundRect">
            <a:avLst>
              <a:gd name="adj" fmla="val 1052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362456" y="14090904"/>
            <a:ext cx="9125712" cy="438912"/>
          </a:xfrm>
          <a:prstGeom prst="roundRect">
            <a:avLst>
              <a:gd name="adj" fmla="val 1666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62456" y="14456664"/>
            <a:ext cx="9125712" cy="7315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08760" y="14090904"/>
            <a:ext cx="7187184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3. ĐỀ XUẤT KIẾN TRÚC MÔ HÌNH (HYBRID DDQN - ALNS)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87384" y="14164056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87384" y="14164056"/>
            <a:ext cx="155448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7706"/>
                </a:solidFill>
                <a:latin typeface="Arial"/>
              </a:rPr>
              <a:t>KIẾN TRÚC 4 TẦNG</a:t>
            </a:r>
          </a:p>
        </p:txBody>
      </p:sp>
      <p:pic>
        <p:nvPicPr>
          <p:cNvPr id="34" name="Picture 33" descr="crisp_architecture_mod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2338" y="14621256"/>
            <a:ext cx="8825947" cy="33832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508760" y="18022824"/>
            <a:ext cx="8833104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4748B"/>
                </a:solidFill>
                <a:latin typeface="Arial"/>
              </a:rPr>
              <a:t>Kiến trúc 4 tầng: Macro DDQN → Micro DDQN → LAC → Set Partitioning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18315432"/>
            <a:ext cx="8833104" cy="2651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146304" indent="-146304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</a:t>
            </a:r>
            <a:r>
              <a:rPr sz="1250" b="1" i="0">
                <a:solidFill>
                  <a:srgbClr val="1D4ED8"/>
                </a:solidFill>
                <a:latin typeface="Arial"/>
              </a:rPr>
              <a:t>Macro DDQN: </a:t>
            </a:r>
            <a:r>
              <a:rPr sz="1250" b="0" i="0">
                <a:solidFill>
                  <a:srgbClr val="0F172A"/>
                </a:solidFill>
                <a:latin typeface="Arial"/>
              </a:rPr>
              <a:t>vector trạng thái 12 chiều → 7 chế độ thích ứng {Default, Intensify, Diversify, TW-Rescue, Pool-Recombine, Route-Reduce, Infeasible-Descent}.</a:t>
            </a:r>
          </a:p>
          <a:p>
            <a:pPr algn="l" marL="146304" indent="-146304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</a:t>
            </a:r>
            <a:r>
              <a:rPr sz="1250" b="1" i="0">
                <a:solidFill>
                  <a:srgbClr val="1D4ED8"/>
                </a:solidFill>
                <a:latin typeface="Arial"/>
              </a:rPr>
              <a:t>Micro DDQN: </a:t>
            </a:r>
            <a:r>
              <a:rPr sz="1250" b="0" i="0">
                <a:solidFill>
                  <a:srgbClr val="0F172A"/>
                </a:solidFill>
                <a:latin typeface="Arial"/>
              </a:rPr>
              <a:t>vector trạng thái 20 chiều + one-hot mode → </a:t>
            </a:r>
            <a:r>
              <a:rPr sz="1250" b="1" i="0">
                <a:solidFill>
                  <a:srgbClr val="0F172A"/>
                </a:solidFill>
                <a:latin typeface="Arial"/>
              </a:rPr>
              <a:t>65 cặp toán tử</a:t>
            </a:r>
            <a:r>
              <a:rPr sz="1250" b="0" i="0">
                <a:solidFill>
                  <a:srgbClr val="0F172A"/>
                </a:solidFill>
                <a:latin typeface="Arial"/>
              </a:rPr>
              <a:t> (13 Destroy × 5 Repair), chọn qua ε-greedy + Thompson Sampling Bandit + Entropy Gating.</a:t>
            </a:r>
          </a:p>
          <a:p>
            <a:pPr algn="l" marL="146304" indent="-146304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</a:t>
            </a:r>
            <a:r>
              <a:rPr sz="1250" b="1" i="0">
                <a:solidFill>
                  <a:srgbClr val="047857"/>
                </a:solidFill>
                <a:latin typeface="Arial"/>
              </a:rPr>
              <a:t>LAC + Set Partitioning: </a:t>
            </a:r>
            <a:r>
              <a:rPr sz="1250" b="0" i="0">
                <a:solidFill>
                  <a:srgbClr val="0F172A"/>
                </a:solidFill>
                <a:latin typeface="Arial"/>
              </a:rPr>
              <a:t>MLP 9→64→48→32→1 (LAC) thay Simulated Annealing sau 300 bước warmup, tầm nhìn H=80 bước; Dual-Slot Archive (75%/25%) tái tổ hợp tuyến qua Solver HiGHS (SciPy).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890504" y="14090904"/>
            <a:ext cx="9125712" cy="6949440"/>
          </a:xfrm>
          <a:prstGeom prst="roundRect">
            <a:avLst>
              <a:gd name="adj" fmla="val 1052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890504" y="14090904"/>
            <a:ext cx="9125712" cy="438912"/>
          </a:xfrm>
          <a:prstGeom prst="roundRect">
            <a:avLst>
              <a:gd name="adj" fmla="val 1666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890504" y="14456664"/>
            <a:ext cx="9125712" cy="7315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36808" y="14090904"/>
            <a:ext cx="7187184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4. PHƯƠNG PHÁP THỰC HIỆN &amp; QUY TRÌNH 3 GIAI ĐOẠN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315432" y="14164056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315432" y="14164056"/>
            <a:ext cx="155448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7706"/>
                </a:solidFill>
                <a:latin typeface="Arial"/>
              </a:rPr>
              <a:t>QUY TRÌNH 3 BƯỚC</a:t>
            </a:r>
          </a:p>
        </p:txBody>
      </p:sp>
      <p:pic>
        <p:nvPicPr>
          <p:cNvPr id="43" name="Picture 42" descr="pipeline_stages_diagr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9802" y="14621256"/>
            <a:ext cx="8807115" cy="27889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1036808" y="17428464"/>
            <a:ext cx="8833104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4748B"/>
                </a:solidFill>
                <a:latin typeface="Arial"/>
              </a:rPr>
              <a:t>Quy trình 3 giai đoạn thực thi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36808" y="17721072"/>
            <a:ext cx="8833104" cy="3108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146304" indent="-146304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</a:t>
            </a:r>
            <a:r>
              <a:rPr sz="1250" b="1" i="0">
                <a:solidFill>
                  <a:srgbClr val="1D4ED8"/>
                </a:solidFill>
                <a:latin typeface="Arial"/>
              </a:rPr>
              <a:t>Stage 1: </a:t>
            </a:r>
            <a:r>
              <a:rPr sz="1250" b="0" i="0">
                <a:solidFill>
                  <a:srgbClr val="0F172A"/>
                </a:solidFill>
                <a:latin typeface="Arial"/>
              </a:rPr>
              <a:t>Huấn luyện đa nhiệm ngoại tuyến (Offline Multi-task Training) với PER buffer, trên tập đồ thị ngẫu nhiên.</a:t>
            </a:r>
          </a:p>
          <a:p>
            <a:pPr algn="l" marL="146304" indent="-146304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</a:t>
            </a:r>
            <a:r>
              <a:rPr sz="1250" b="1" i="0">
                <a:solidFill>
                  <a:srgbClr val="D97706"/>
                </a:solidFill>
                <a:latin typeface="Arial"/>
              </a:rPr>
              <a:t>Stage 2: </a:t>
            </a:r>
            <a:r>
              <a:rPr sz="1250" b="0" i="0">
                <a:solidFill>
                  <a:srgbClr val="0F172A"/>
                </a:solidFill>
                <a:latin typeface="Arial"/>
              </a:rPr>
              <a:t>Chuẩn bị Zero-shot — đóng băng toàn bộ trọng số mạng đã huấn luyện.</a:t>
            </a:r>
          </a:p>
          <a:p>
            <a:pPr algn="l" marL="146304" indent="-146304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</a:t>
            </a:r>
            <a:r>
              <a:rPr sz="1250" b="1" i="0">
                <a:solidFill>
                  <a:srgbClr val="047857"/>
                </a:solidFill>
                <a:latin typeface="Arial"/>
              </a:rPr>
              <a:t>Stage 3: </a:t>
            </a:r>
            <a:r>
              <a:rPr sz="1250" b="0" i="0">
                <a:solidFill>
                  <a:srgbClr val="0F172A"/>
                </a:solidFill>
                <a:latin typeface="Arial"/>
              </a:rPr>
              <a:t>Thực thi suy luận trực tuyến thời gian thực (Online Execution) trên dữ liệu thực tế, không huấn luyện lại.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62456" y="21278088"/>
            <a:ext cx="9125712" cy="6949440"/>
          </a:xfrm>
          <a:prstGeom prst="roundRect">
            <a:avLst>
              <a:gd name="adj" fmla="val 1052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62456" y="21278088"/>
            <a:ext cx="9125712" cy="438912"/>
          </a:xfrm>
          <a:prstGeom prst="roundRect">
            <a:avLst>
              <a:gd name="adj" fmla="val 1666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362456" y="21643848"/>
            <a:ext cx="9125712" cy="7315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08760" y="21278088"/>
            <a:ext cx="7187184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5. KẾT QUẢ MÔ PHỎNG &amp; ĐÁNH GIÁ THỰC NGHIỆM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87384" y="2135124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87384" y="21351240"/>
            <a:ext cx="155448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7706"/>
                </a:solidFill>
                <a:latin typeface="Arial"/>
              </a:rPr>
              <a:t>BENCHMARK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1508760" y="21808440"/>
          <a:ext cx="8833104" cy="2048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/>
                <a:gridCol w="2331720"/>
                <a:gridCol w="960120"/>
                <a:gridCol w="1143000"/>
                <a:gridCol w="1051560"/>
                <a:gridCol w="1563624"/>
              </a:tblGrid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Tập Benchmark</a:t>
                      </a:r>
                    </a:p>
                  </a:txBody>
                  <a:tcPr marL="45720" marR="45720" marT="9144" marB="9144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Thuật toán</a:t>
                      </a:r>
                    </a:p>
                  </a:txBody>
                  <a:tcPr marL="45720" marR="45720" marT="9144" marB="9144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Số xe TB (NV)↓</a:t>
                      </a:r>
                    </a:p>
                  </a:txBody>
                  <a:tcPr marL="45720" marR="45720" marT="9144" marB="9144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Quãng đường TB (TD)↓</a:t>
                      </a:r>
                    </a:p>
                  </a:txBody>
                  <a:tcPr marL="45720" marR="45720" marT="9144" marB="9144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Thời gian (s)</a:t>
                      </a:r>
                    </a:p>
                  </a:txBody>
                  <a:tcPr marL="45720" marR="45720" marT="9144" marB="9144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p-value</a:t>
                      </a:r>
                    </a:p>
                  </a:txBody>
                  <a:tcPr marL="45720" marR="45720" marT="9144" marB="9144" anchor="ctr">
                    <a:solidFill>
                      <a:srgbClr val="0F172A"/>
                    </a:solidFill>
                  </a:tcPr>
                </a:tc>
              </a:tr>
              <a:tr h="274320">
                <a:tc rowSpan="3"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0F172A"/>
                          </a:solidFill>
                          <a:latin typeface="Arial"/>
                        </a:rPr>
                        <a:t>Solomon-100 (56 bài toán)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BKS (SINTEF)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47857"/>
                          </a:solidFill>
                          <a:latin typeface="Arial"/>
                        </a:rPr>
                        <a:t>7.07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47857"/>
                          </a:solidFill>
                          <a:latin typeface="Arial"/>
                        </a:rPr>
                        <a:t>1013.36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ALNS-Base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7.54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1017.31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10.1s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27432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F172A"/>
                          </a:solidFill>
                          <a:latin typeface="Arial"/>
                        </a:rPr>
                        <a:t>Hybrid-DDQN (Đề xuất)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D4ED8"/>
                          </a:solidFill>
                          <a:latin typeface="Arial"/>
                        </a:rPr>
                        <a:t>7.34*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D4ED8"/>
                          </a:solidFill>
                          <a:latin typeface="Arial"/>
                        </a:rPr>
                        <a:t>1017.82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39.0s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0.00127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 rowSpan="3"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0F172A"/>
                          </a:solidFill>
                          <a:latin typeface="Arial"/>
                        </a:rPr>
                        <a:t>Homberger-200 (60 bài toán, 200 KH)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ALNS-Base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11.87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3009.91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3.9s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27432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F172A"/>
                          </a:solidFill>
                          <a:latin typeface="Arial"/>
                        </a:rPr>
                        <a:t>Hybrid-DDQN (Đề xuất)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D4ED8"/>
                          </a:solidFill>
                          <a:latin typeface="Arial"/>
                        </a:rPr>
                        <a:t>11.58*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D4ED8"/>
                          </a:solidFill>
                          <a:latin typeface="Arial"/>
                        </a:rPr>
                        <a:t>2844.73*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35.8s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1.34×10⁻⁹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GNN-Hybrid-DDQN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F172A"/>
                          </a:solidFill>
                          <a:latin typeface="Arial"/>
                        </a:rPr>
                        <a:t>11.58*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F172A"/>
                          </a:solidFill>
                          <a:latin typeface="Arial"/>
                        </a:rPr>
                        <a:t>2870.82*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26.5s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F172A"/>
                          </a:solidFill>
                          <a:latin typeface="Arial"/>
                        </a:rPr>
                        <a:t>0.00027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53" name="Picture 52" descr="route_R10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4450" y="23948136"/>
            <a:ext cx="2570307" cy="169164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508760" y="25658064"/>
            <a:ext cx="436168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4748B"/>
                </a:solidFill>
                <a:latin typeface="Arial"/>
              </a:rPr>
              <a:t>Lộ trình R101 — khớp 100% BKS</a:t>
            </a:r>
          </a:p>
        </p:txBody>
      </p:sp>
      <p:pic>
        <p:nvPicPr>
          <p:cNvPr id="55" name="Picture 54" descr="route_RC10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5866" y="23948136"/>
            <a:ext cx="2570307" cy="16916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5980176" y="25658064"/>
            <a:ext cx="436168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4748B"/>
                </a:solidFill>
                <a:latin typeface="Arial"/>
              </a:rPr>
              <a:t>Lộ trình RC101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08760" y="25932384"/>
            <a:ext cx="8833104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0F172A"/>
                </a:solidFill>
                <a:latin typeface="Arial"/>
              </a:rPr>
              <a:t>🛡️ Khả thi tuyệt đối: 0 vi phạm ràng buộc trên 580 lần chạy độc lập.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0F172A"/>
                </a:solidFill>
                <a:latin typeface="Arial"/>
              </a:rPr>
              <a:t>🏆 Tiết kiệm vượt trội: </a:t>
            </a:r>
            <a:r>
              <a:rPr sz="1100" b="1" i="0">
                <a:solidFill>
                  <a:srgbClr val="047857"/>
                </a:solidFill>
                <a:latin typeface="Arial"/>
              </a:rPr>
              <a:t>giảm 165.18 km (-5.49%)</a:t>
            </a:r>
            <a:r>
              <a:rPr sz="1100" b="0" i="0">
                <a:solidFill>
                  <a:srgbClr val="0F172A"/>
                </a:solidFill>
                <a:latin typeface="Arial"/>
              </a:rPr>
              <a:t> quãng đường trên Homberger-200 so với ALNS (p = 1.34×10⁻⁹).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F172A"/>
                </a:solidFill>
                <a:latin typeface="Arial"/>
              </a:rPr>
              <a:t>⚠️ So với OR-Tools: </a:t>
            </a:r>
            <a:r>
              <a:rPr sz="1100" b="1" i="0">
                <a:solidFill>
                  <a:srgbClr val="DC2626"/>
                </a:solidFill>
                <a:latin typeface="Arial"/>
              </a:rPr>
              <a:t>OR-Tools lạm phát đội xe +80%</a:t>
            </a:r>
            <a:r>
              <a:rPr sz="1100" b="0" i="0">
                <a:solidFill>
                  <a:srgbClr val="0F172A"/>
                </a:solidFill>
                <a:latin typeface="Arial"/>
              </a:rPr>
              <a:t> trên nhóm RC2 (6.50 xe so với BKS 3.25 xe); Hybrid-DDQN khớp chính xác 3.25 xe.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890504" y="21278088"/>
            <a:ext cx="9125712" cy="6949440"/>
          </a:xfrm>
          <a:prstGeom prst="roundRect">
            <a:avLst>
              <a:gd name="adj" fmla="val 1052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0890504" y="21278088"/>
            <a:ext cx="9125712" cy="438912"/>
          </a:xfrm>
          <a:prstGeom prst="roundRect">
            <a:avLst>
              <a:gd name="adj" fmla="val 1666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890504" y="21643848"/>
            <a:ext cx="9125712" cy="7315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036808" y="21278088"/>
            <a:ext cx="7187184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6. KẾT LUẬN &amp; ĐÓNG GÓP NGHIÊN CỨU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8315432" y="2135124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8315432" y="21351240"/>
            <a:ext cx="155448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7706"/>
                </a:solidFill>
                <a:latin typeface="Arial"/>
              </a:rPr>
              <a:t>KẾT LUẬN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36808" y="21808440"/>
            <a:ext cx="8833104" cy="62727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146304" indent="-146304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</a:t>
            </a:r>
            <a:r>
              <a:rPr sz="1250" b="1" i="0">
                <a:solidFill>
                  <a:srgbClr val="1D4ED8"/>
                </a:solidFill>
                <a:latin typeface="Arial"/>
              </a:rPr>
              <a:t>1. Đóng góp học thuật: </a:t>
            </a:r>
            <a:r>
              <a:rPr sz="1250" b="0" i="0">
                <a:solidFill>
                  <a:srgbClr val="0F172A"/>
                </a:solidFill>
                <a:latin typeface="Arial"/>
              </a:rPr>
              <a:t>kiến trúc phân cấp 3 tầng DDQN-ALNS đầu tiên; GNN Contrastive Edge Predictor; chiến lược Zero-shot Domain Randomization.</a:t>
            </a:r>
          </a:p>
          <a:p>
            <a:pPr algn="l" marL="146304" indent="-146304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</a:t>
            </a:r>
            <a:r>
              <a:rPr sz="1250" b="1" i="0">
                <a:solidFill>
                  <a:srgbClr val="047857"/>
                </a:solidFill>
                <a:latin typeface="Arial"/>
              </a:rPr>
              <a:t>2. Ý nghĩa thực tiễn: </a:t>
            </a:r>
            <a:r>
              <a:rPr sz="1250" b="0" i="0">
                <a:solidFill>
                  <a:srgbClr val="0F172A"/>
                </a:solidFill>
                <a:latin typeface="Arial"/>
              </a:rPr>
              <a:t>cắt giảm chi phí logistics xanh; nền tảng </a:t>
            </a:r>
            <a:r>
              <a:rPr sz="1250" b="1" i="0">
                <a:solidFill>
                  <a:srgbClr val="0F172A"/>
                </a:solidFill>
                <a:latin typeface="Arial"/>
              </a:rPr>
              <a:t>NAMI Dispatch Portal</a:t>
            </a:r>
            <a:r>
              <a:rPr sz="1250" b="0" i="0">
                <a:solidFill>
                  <a:srgbClr val="0F172A"/>
                </a:solidFill>
                <a:latin typeface="Arial"/>
              </a:rPr>
              <a:t> (FastAPI • Leaflet.js • Server-Sent Events • Docker).</a:t>
            </a:r>
          </a:p>
          <a:p>
            <a:pPr algn="l" marL="146304" indent="-146304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</a:t>
            </a:r>
            <a:r>
              <a:rPr sz="1250" b="1" i="0">
                <a:solidFill>
                  <a:srgbClr val="D97706"/>
                </a:solidFill>
                <a:latin typeface="Arial"/>
              </a:rPr>
              <a:t>3. Hướng phát triển: </a:t>
            </a:r>
            <a:r>
              <a:rPr sz="1250" b="0" i="0">
                <a:solidFill>
                  <a:srgbClr val="0F172A"/>
                </a:solidFill>
                <a:latin typeface="Arial"/>
              </a:rPr>
              <a:t>Mở rộng cho đội xe không đồng nhất (Heterogeneous Fleet) và điều phối động theo thời gian thực (Dynamic Real-time VRPTW).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Tài liệu tham khảo: [1] Ropke, 2006    [2] Mnih, 2015    [3] Homberger, 2001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