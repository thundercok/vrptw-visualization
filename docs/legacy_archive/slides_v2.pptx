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BÁO CÁO NGHIÊN CỨU KHOA HỌC CẤP TRƯỜNG</a:t>
            </a:r>
          </a:p>
          <a:p>
            <a:pPr>
              <a:spcBef>
                <a:spcPts val="1500"/>
              </a:spcBef>
              <a:defRPr sz="2600" b="1">
                <a:solidFill>
                  <a:srgbClr val="F8FAFC"/>
                </a:solidFill>
              </a:defRPr>
            </a:pPr>
            <a:r>
              <a:t>Hệ Thống Tối Ưu Lộ Trình Xe Có Khung Thời Gian (VRPTW)</a:t>
            </a:r>
            <a:br/>
            <a:r>
              <a:t>Bằng Thuật Toán Lai Deep Reinforcement Learning (DDQN) &amp; ALNS</a:t>
            </a:r>
          </a:p>
          <a:p>
            <a:pPr>
              <a:spcBef>
                <a:spcPts val="1000"/>
              </a:spcBef>
              <a:defRPr sz="1500" i="1">
                <a:solidFill>
                  <a:srgbClr val="00B4D8"/>
                </a:solidFill>
              </a:defRPr>
            </a:pPr>
            <a:r>
              <a:t>A Hybrid Deep Q-Network &amp; Adaptive Large Neighborhood Search Framework with MILP Recombination</a:t>
            </a:r>
          </a:p>
          <a:p>
            <a:pPr>
              <a:spcBef>
                <a:spcPts val="3000"/>
              </a:spcBef>
              <a:defRPr sz="1300">
                <a:solidFill>
                  <a:srgbClr val="94A3B8"/>
                </a:solidFill>
              </a:defRPr>
            </a:pPr>
            <a:r>
              <a:t>• Thời lượng báo cáo: 20 Phút  |  • Quy mô thực nghiệm: Solomon 100 &amp; Gehring-Homberger 200-600</a:t>
            </a:r>
            <a:br/>
            <a:r>
              <a:t>• Đóng góp: Tối ưu số xe (NV), Giảm quãng đường (TD), Kiểm định thống kê Wilcoxon p &lt; 0.002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TỔNG QUAN BÀI THUYẾT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Nội Dung Báo Cáo (Agenda - 20 Phút)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1. Đặt Vấn Đề &amp; Mục Tiêu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Bài toán VRPTW, mục tiêu thứ bậc Lexicographic (NV &gt; TD) &amp; Thách thức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463040"/>
            <a:ext cx="3429000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600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2. Tổng Quan Nghiên Cứu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0312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So sánh ALNS cổ điển, Google OR-Tools &amp; Khoảng trống nghiên cứu (Research Gap).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463040"/>
            <a:ext cx="3429000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600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3. Phương Pháp Đề Xuất (Core)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0312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Khung thuật toán lai Hybrid-DDQN: Regime Switching, Operator RL, GNN Edge &amp; MILP.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429000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4. Kiến Trúc Hệ Thống &amp; Web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Full-stack Monorepo, FastAPI, PyTorch, HiGHS MILP, Firebase &amp; UI Visualizer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840480"/>
            <a:ext cx="3429000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9776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5. Đánh Giá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48056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So sánh độc lập (Cold-start), Kiểm định Wilcoxon (p &lt; 0.002), Phân tích lạm phát xe.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3840480"/>
            <a:ext cx="3429000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9776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6. Kết Luận &amp; Đóng Góp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448056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Tóm tắt đóng góp chính &amp; Định hướng phát triển ứng dụng thực tế.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PHẦN 1: GIỚI THIỆU &amp; ĐỘNG LỰC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Đặt Vấn Đề: Bài Toán VRPTW &amp; Mục Tiêu Lexicographic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Mô Hình Bài Toán VRPTW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• Định nghĩa: Phục vụ N khách hàng với vị trí, nhu cầu d_i, thời gian phục vụ s_i và khung thời gian [e_i, l_i].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Đồ thị G = (V, A): V = {0, 1, ..., N}, 0 là kho trung tâm (depot).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Ràng buộc nghiêm ngặt:</a:t>
            </a:r>
            <a:br/>
            <a:r>
              <a:t>  - Khung thời gian: e_i &lt;= t_i &lt;= l_i</a:t>
            </a:r>
            <a:br/>
            <a:r>
              <a:t>  - Sức chứa xe: sum(d_i) &lt;= Capacity Q</a:t>
            </a:r>
            <a:br/>
            <a:r>
              <a:t>  - Ràng buộc quay về kho: t_last + s_last + dist(last, 0) &lt;= l_0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Hàm Mục Tiêu Lexicographic (NV &gt;&gt; TD)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Hàm mục tiêu ưu tiên bậc nhất trong Thực Tế Logistics:</a:t>
            </a:r>
          </a:p>
          <a:p>
            <a:pPr>
              <a:spcBef>
                <a:spcPts val="1000"/>
              </a:spcBef>
              <a:defRPr sz="1800" b="1">
                <a:solidFill>
                  <a:srgbClr val="00B4D8"/>
                </a:solidFill>
              </a:defRPr>
            </a:pPr>
            <a:r>
              <a:t>Minimizing:  min ( NV , TD )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1. Ưu tiên hàng đầu (Primary): Giảm số lượng xe deployed (NV).</a:t>
            </a:r>
            <a:br/>
            <a:r>
              <a:t>   -&gt; Chi phí cố định đầu xe (khấu hao, tài xế, bảo trì) áp đảo chi phí nhiên liệu di chuyển.</a:t>
            </a:r>
            <a:br/>
            <a:r>
              <a:t>2. Ưu tiên thứ hai (Secondary): Tối thiểu hóa tổng quãng đường di chuyển (TD) khi NV đã cố định.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PHẦN 3: ĐÓNG GÓP THUẬT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Phương Pháp Đề Xuất: Kiến Trúc Lai Hybrid DDQN-ALNS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Khung Thuật Toán Điều Khiển Phân Cấp (Hierarchical DRL Control Loop)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800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1. Plateau Controller (DDQN Trạng Thái Vùng Tìm Kiếm):</a:t>
            </a:r>
            <a:br/>
            <a:r>
              <a:t>   - Quyết định chuyển đổi 7 Chế Độ (Regime Switching): Intensify, Diversify, Route-Reduce, Pool-Recombine, TW-Rescue...</a:t>
            </a:r>
            <a:br/>
            <a:r>
              <a:t>   - Giúp tìm kiếm bứt phá khỏi vùng cực trị địa phương.</a:t>
            </a:r>
          </a:p>
          <a:p>
            <a:pPr>
              <a:spcBef>
                <a:spcPts val="1500"/>
              </a:spcBef>
              <a:defRPr sz="1400">
                <a:solidFill>
                  <a:srgbClr val="F8FAFC"/>
                </a:solidFill>
              </a:defRPr>
            </a:pPr>
            <a:r>
              <a:t>2. Operator Controller (DDQN Lựa Chọn Toán Tử):</a:t>
            </a:r>
            <a:br/>
            <a:r>
              <a:t>   - Lựa chọn thông minh cặp toán tử trong không gian 65 hành động (13 Destroy x 5 Repair).</a:t>
            </a:r>
            <a:br/>
            <a:r>
              <a:t>   - Kết hợp mô hình Learned Acceptance Criterion (LAC) thay thế Metropolis Simulated Annealing.</a:t>
            </a:r>
          </a:p>
          <a:p>
            <a:pPr>
              <a:spcBef>
                <a:spcPts val="1500"/>
              </a:spcBef>
              <a:defRPr sz="1400">
                <a:solidFill>
                  <a:srgbClr val="F8FAFC"/>
                </a:solidFill>
              </a:defRPr>
            </a:pPr>
            <a:r>
              <a:t>3. GNN Edge Heatmap Guidance &amp; Generalized Ejection Chains:</a:t>
            </a:r>
            <a:br/>
            <a:r>
              <a:t>   - GNN dự đoán xác suất cạnh tối ưu để định hướng sửa lộ trình.</a:t>
            </a:r>
            <a:br/>
            <a:r>
              <a:t>   - Ejection Chains độ sâu N (generalized depth 4-6) giúp triệt tiêu các route khó.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PHẦN 5: ĐÁNH GIÁ THỰC NGHIỆM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Kết Quả Thực Nghiệm Trên Bộ Dữ Liệu Solomon 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Bảng Tổng Hợp Hiệu Năng Solomon 100 (56 Thực Thể)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2103120"/>
          <a:ext cx="1018001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669"/>
                <a:gridCol w="1696669"/>
                <a:gridCol w="1696669"/>
                <a:gridCol w="1696669"/>
                <a:gridCol w="1696669"/>
                <a:gridCol w="169667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1122"/>
                          </a:solidFill>
                        </a:defRPr>
                      </a:pPr>
                      <a:r>
                        <a:t>Lớp Dữ Liệu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1122"/>
                          </a:solidFill>
                        </a:defRPr>
                      </a:pPr>
                      <a:r>
                        <a:t>Thuật Toán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1122"/>
                          </a:solidFill>
                        </a:defRPr>
                      </a:pPr>
                      <a:r>
                        <a:t>Mean NV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1122"/>
                          </a:solidFill>
                        </a:defRPr>
                      </a:pPr>
                      <a:r>
                        <a:t>Mean TD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1122"/>
                          </a:solidFill>
                        </a:defRPr>
                      </a:pPr>
                      <a:r>
                        <a:t>Gap% vs BKS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1122"/>
                          </a:solidFill>
                        </a:defRPr>
                      </a:pPr>
                      <a:r>
                        <a:t>Thời Gian (s)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C1 (17 bài)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Hybrid-DDQN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828.38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95.2s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C2 (8 bài)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Hybrid-DDQN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589.97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+0.02%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62.4s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R1 (12 bài)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Hybrid-DDQN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12.26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1206.81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-0.37%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117.6s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R2 (11 bài)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Hybrid-DDQN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2.86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950.61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-0.08%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125.2s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RC1 (8 bài)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Hybrid-DDQN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11.98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1358.82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-1.50%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113.5s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RC2 (8 bài)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Hybrid-DDQN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3.25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1130.02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+3.18%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78.3s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PHẦN 5: ĐÁNH GIÁ THỰC NGHIỆM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Kiểm Định Thống Kê Wilcoxon Signed-Rank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Kiểm Định Số Lượng Xe (NV)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Mẫu kiểm định N = 56 bài Solomon.</a:t>
            </a:r>
          </a:p>
          <a:p>
            <a:pPr>
              <a:spcBef>
                <a:spcPts val="1500"/>
              </a:spcBef>
              <a:defRPr sz="1800" b="1">
                <a:solidFill>
                  <a:srgbClr val="10B981"/>
                </a:solidFill>
              </a:defRPr>
            </a:pPr>
            <a:r>
              <a:t>Wilcoxon p-value = 0.00161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-&gt; Ý nghĩa thống kê vượt trội (p &lt; 0.01):</a:t>
            </a:r>
            <a:br/>
            <a:r>
              <a:t>  Hybrid-DDQN giảm số lượng xe đáng kể so với ALNS-Base.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Kiểm Định Quãng Đường (Matched-NV TD)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Mẫu kiểm định N = 45 bài (Khớp chính xác số xe).</a:t>
            </a:r>
          </a:p>
          <a:p>
            <a:pPr>
              <a:spcBef>
                <a:spcPts val="1500"/>
              </a:spcBef>
              <a:defRPr sz="1800" b="1">
                <a:solidFill>
                  <a:srgbClr val="10B981"/>
                </a:solidFill>
              </a:defRPr>
            </a:pPr>
            <a:r>
              <a:t>Wilcoxon p-value = 0.000415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-&gt; Ý nghĩa thống kê cực kỳ cao (p &lt; 0.001):</a:t>
            </a:r>
            <a:br/>
            <a:r>
              <a:t>  Khi cùng số xe, Hybrid-DDQN tối ưu quãng đường vượt trội so với ALNS truyền thống.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