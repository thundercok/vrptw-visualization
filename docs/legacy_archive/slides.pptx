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trong Hội đồng khoa học và các bạn sinh viên.</a:t>
            </a:r>
          </a:p>
          <a:p/>
          <a:p>
            <a:r>
              <a:t>Hôm nay, em xin phép đại diện nhóm nghiên cứu trình bày đề tài: 'Thuật toán lai học tăng cường sâu và tìm kiếm lân cận lớn thích ứng cho bài toán tối ưu hóa định tuyến xe có ràng buộc khung thời gian (VRPTW)'.</a:t>
            </a:r>
          </a:p>
          <a:p/>
          <a:p>
            <a:r>
              <a:t>Nghiên cứu của tụi em tập trung vào việc giải quyết bài toán cốt lõi trong ngành logistics bằng cách kết hợp sức mạnh của học máy (Deep RL) và toán học tối ưu hóa truyền thống (Metaheuristics) để vượt qua các rào cản về hiệu năng và số lượng xe của các giải pháp hiện tại.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Nội dung bài báo cáo hôm nay của em sẽ đi qua 8 phần chính:</a:t>
            </a:r>
          </a:p>
          <a:p>
            <a:r>
              <a:t>từ việc xác định bài toán, phân tích khoảng trống nghiên cứu, đề xuất mô hình lai DDQN-ALNS tích hợp GNN, thiết kế hệ thống NAMI Dispatcher thực tế, các kết quả thực nghiệm kiểm định nghiêm ngặt, so sánh trực diện với Google OR-Tools và cuối cùng là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VRPTW là một bài toán NP-Khó điển hình trong vận tải. Mục tiêu của chúng ta là điều phối một đội xe đồng nhất từ kho trung tâm đi phục vụ khách hàng sao cho: tổng số lượng xe (fleet size) được tối thiểu hóa trước tiên, sau đó mới đến tối thiểu hóa tổng quãng đường di chuyển (travel distance).</a:t>
            </a:r>
          </a:p>
          <a:p/>
          <a:p>
            <a:r>
              <a:t>Đây là mục tiêu phân cấp (lexicographical) rất sát với thực tế, vì chi phí cố định để vận hành thêm một chiếc xe lớn hơn rất nhiều so với chi phí nhiên liệu phát sinh thêm trên quãng đường.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Động lực lớn nhất của nghiên cứu này là giải quyết hiện tượng 'lạm phát đội xe' (fleet inflation). Nhiều thuật toán hiện tại khi chạy thực tế thường chấp nhận tăng thêm xe để đổi lấy tổng quãng đường ngắn hơn một chút, điều này đi ngược lại tối ưu hóa chi phí vận hành doanh nghiệp.</a:t>
            </a:r>
          </a:p>
          <a:p/>
          <a:p>
            <a:r>
              <a:t>Đồng thời, tụi em muốn tạo ra một hệ thống không chỉ giải toán trên giấy mà phải tích hợp trực quan hóa thời gian thực (telemetry) để điều phối viên có thể giám sát và can thiệp khi cần thiết.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Nhìn lại các nghiên cứu trước đây: Các phương pháp heuristic truyền thống như ALNS rất mạnh về đảm bảo ràng buộc, nhưng cơ chế chọn toán tử bằng vòng quay roulette lại quá đơn giản và mang tính myopic (thiển cận) — không học được trạng thái tìm kiếm hiện tại.</a:t>
            </a:r>
          </a:p>
          <a:p/>
          <a:p>
            <a:r>
              <a:t>Ngược lại, các mô hình học máy cuối-đến-cuối (End-to-End) như Pointer Networks hay GNN sinh lộ trình trực tiếp lại rất dễ tạo ra các tuyến đường không khả thi khi gặp ràng buộc thời gian ngặt nghèo của VRPTW. Vì vậy, nhóm đề xuất giải pháp lai: Giữ nguyên khung thuật toán ALNS để đảm bảo 100% tính khả thi toán học, nhưng dùng mạng thần kinh sâu DDQN làm bộ não điều khiển việc chọn toán tử và chấp nhận lời giải.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Tụi em thiết kế bài toán dưới dạng Tiến trình Quyết định Markov Phân cấp (Hierarchical MDP).</a:t>
            </a:r>
          </a:p>
          <a:p/>
          <a:p>
            <a:r>
              <a:t>Bộ điều khiển cấp cao Plateau Controller sẽ theo dõi tiến trình hội tụ. Nếu quá trình tìm kiếm bị kẹt (plateau) quá 60 vòng lặp, nó sẽ can thiệp bằng cách chuyển đổi chế độ tìm kiếm: ví dụ chuyển sang 'TW-Rescue' để gỡ các nút thắt thời gian, hoặc 'Reduce' để ép giảm xe.</a:t>
            </a:r>
          </a:p>
          <a:p/>
          <a:p>
            <a:r>
              <a:t>Dưới quyền của nó, bộ điều khiển cấp thấp Operator Controller sẽ căn cứ vào chế độ đang chạy và trạng thái chi tiết của các tuyến đường để chọn ra cặp toán tử phá hủy và sửa chữa tốt nhất trong số 55 cặp có sẵn.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cải tiến quan trọng khác là Learned Acceptance Criterion (LAC).</a:t>
            </a:r>
          </a:p>
          <a:p/>
          <a:p>
            <a:r>
              <a:t>Thay vì chấp nhận lời giải tệ hơn bằng công thức Simulated Annealing vật lý truyền thống, chúng em dùng một mạng thần kinh phân loại nhị phân siêu nhẹ. Mạng này học trực tuyến qua cơ chế hindsight (nhìn lại quá khứ) để đoán xem: việc chấp nhận một bước đi lùi hiện tại có giúp thuật toán tìm ra đột phá trong vòng 80 bước tiếp theo hay không.</a:t>
            </a:r>
          </a:p>
          <a:p/>
          <a:p>
            <a:r>
              <a:t>Bên cạnh đó, các tuyến đường tốt đi qua các vòng lặp được lưu trữ vào Route Pool. Định kỳ, mô hình giải bài toán phân hoạch tập hợp (Set Partitioning) bằng MILP dưới giới hạn 4 giây để tìm ra cách lắp ghép các tuyến đường đơn lẻ thành một lời giải hoàn chỉnh tối ưu nhất về số xe.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tụi em thử nghiệm trên các thực thể cực khó như Solomon RC101, thuật toán thường bị kẹt ở mức 15 xe trong khi lời giải tốt nhất thế giới (BKS) là 14 xe.</a:t>
            </a:r>
          </a:p>
          <a:p/>
          <a:p>
            <a:r>
              <a:t>Qua phân tích, chúng em phát hiện ra lỗi Feasibility Entrapment: thuật toán ALNS thông thường chỉ cải tiến cục bộ nên không bao giờ tạo ra được các tuyến đường có cấu trúc hoàn toàn mới để gom nhóm khách hàng khác đi. Để phá vỡ trần xe này, nhóm đã bổ sung cơ chế gieo hạt chủ động vào Route Pool: sử dụng thuật toán Clarke-Wright Savings cải tiến để tạo 'cầu nối thời gian', khởi tạo trực tiếp hướng mục tiêu số xe NV-1, và thực hiện sinh cột thuật toán từ lời giải tốt nhất.</a:t>
            </a:r>
          </a:p>
          <a:p/>
          <a:p>
            <a:r>
              <a:t>Nhờ vậy, Route Pool luôn giàu các tuyến tiềm năng dài 8-10 khách hàng để bộ giải MILP tìm ra lời giải 14 xe.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tăng tốc độ và hướng dẫn tìm kiếm, chúng em tích hợp một mạng thần kinh tích chập đồ thị (GNN) siêu nhẹ.</a:t>
            </a:r>
          </a:p>
          <a:p/>
          <a:p>
            <a:r>
              <a:t>Mạng GNN này chạy đúng 1 lần duy nhất lúc bắt đầu để tính toán xác suất liên kết tối ưu giữa mọi cặp khách hàng, tạo ra một heatmap tĩnh. Chi phí chèn khách hàng mới trong ALNS sẽ được nhân giảm giá dựa trên heatmap này, giúp ưu tiên các cạnh có độ tin cậy cao.</a:t>
            </a:r>
          </a:p>
          <a:p/>
          <a:p>
            <a:r>
              <a:t>Đồng thời, chúng em thiết kế lịch trình lọc cạnh động để bỏ qua sớm các phép biến đổi cục bộ không khả thi, giúp giảm đáng kể thời gian CPU lãng phí.</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giai đoạn cuối, sau khi thuật toán chính dừng, lời giải tốt nhất tiếp tục đi qua chuỗi 'đánh bóng' (polish cascade).</a:t>
            </a:r>
          </a:p>
          <a:p/>
          <a:p>
            <a:r>
              <a:t>Đầu tiên là chuỗi xích đẩy bậc 3 (Depth-3 Ejection Chain): nếu một khách hàng c không thể nhét vào đâu, ta sẽ chèn c vào tuyến Ri để đẩy d ra, d chèn vào Rj đẩy e ra, e chèn vào Rk. Chuỗi đẩy sâu 3 cấp này giúp gỡ các nút thắt cực kỳ phức tạp để triệt tiêu chiếc xe cuối cùng.</a:t>
            </a:r>
          </a:p>
          <a:p/>
          <a:p>
            <a:r>
              <a:t>Sau đó là các thuật toán loại bỏ xe bằng vùng đệm, tìm kiếm cam kết 1500 vòng lặp, và tối ưu hóa quãng đường cho đến khi hội tụ hoàn toàn.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mặt kỹ thuật hệ thống, chúng em phát triển nền tảng NAMI Dispatcher dưới dạng cấu trúc monorepo.</a:t>
            </a:r>
          </a:p>
          <a:p/>
          <a:p>
            <a:r>
              <a:t>Giao diện frontend viết bằng React và Vite cho tốc độ phản hồi cực nhanh, vẽ bản đồ tuyến trực quan và hiển thị biểu đồ Gantt thời gian thực.</a:t>
            </a:r>
          </a:p>
          <a:p/>
          <a:p>
            <a:r>
              <a:t>Backend sử dụng FastAPI kết nối WebSockets với nhân giải toán Solver Core. Thiết kế này giúp điều phối viên vừa theo dõi tiến trình giải toán của thuật toán AI từng giây một, vừa có thể can thiệp thủ công vào các tuyến xe nếu có sự cố ngoài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đảm bảo tính trung thực học thuật (Academic Integrity), tụi em áp dụng quy trình kiểm thử cực kỳ nghiêm ngặt gọi là 'Independent Cold-Starts'.</a:t>
            </a:r>
          </a:p>
          <a:p/>
          <a:p>
            <a:r>
              <a:t>Nhiều bài báo trước đây thường chạy liên tục các thực thể, khiến lời giải tốt của thực thể trước nằm lại trong bộ nhớ đệm và vô tình 'mồi' (warm-start) cho thực thể sau, dẫn đến kết quả sai lệch và không thể tái lập. Ở đây, mỗi lượt giải của tụi em đều được cô lập hoàn toàn từ đầu, thư mục bộ đệm bị xóa sạch trước khi chạy.</a:t>
            </a:r>
          </a:p>
          <a:p/>
          <a:p>
            <a:r>
              <a:t>Thực nghiệm được tiến hành trên toàn bộ 56 thực thể Solomon 100 khách hàng, và các quy mô lớn 200, 400 khách hàng của Gehring-Homberger.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kết quả thực nghiệm về số xe — mục tiêu quan trọng nhất.</a:t>
            </a:r>
          </a:p>
          <a:p/>
          <a:p>
            <a:r>
              <a:t>Trên nhóm thực thể RC1, thuật toán lai DDQN-ALNS của chúng em đạt Gap% âm so với BKS (-0.358%), chứng tỏ chúng em tìm được số xe tối thiểu toàn cục (ví dụ như mức 14 xe của RC101) trong khi ALNS thông thường bị kẹt ở 15 xe.</a:t>
            </a:r>
          </a:p>
          <a:p/>
          <a:p>
            <a:r>
              <a:t>Đặc biệt trên nhóm RC2, thuật toán của tụi em duy trì số xe trung bình cực tốt là 3.475 xe, trong khi bộ giải Google OR-Tools bị hiện tượng lạm phát xe nghiêm trọng khi phải dùng trung bình tới 6.25 xe (tức là tốn gần gấp đôi số xe) để đổi lấy quãng đường ngắn hơn.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slide này, em xin nhấn mạnh một đóng góp về phương pháp luận đánh giá.</a:t>
            </a:r>
          </a:p>
          <a:p/>
          <a:p>
            <a:r>
              <a:t>Khi so sánh quãng đường di chuyển (TD), việc so sánh thô là không sòng phẳng nếu số xe không bằng nhau. Một thuật toán dùng 15 xe chắc chắn sẽ dễ tìm đường ngắn hơn thuật toán dùng 14 xe vì áp lực ràng buộc thời gian được san sẻ.</a:t>
            </a:r>
          </a:p>
          <a:p/>
          <a:p>
            <a:r>
              <a:t>Vì vậy, tụi em áp dụng bộ lọc 'Strict Fair Intersection' (N=39) — tức là chỉ so sánh quãng đường trên các thực thể mà tất cả các bộ giải đều đạt cùng số xe tối thiểu. Kết quả cho thấy thuật toán lai của chúng em giảm được 1.75% quãng đường trên nhóm RC1 và tới 4.07% trên nhóm R1 so với ALNS truyền thống.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khả năng mở rộng trên tập Gehring-Homberger quy mô lớn:</a:t>
            </a:r>
          </a:p>
          <a:p/>
          <a:p>
            <a:r>
              <a:t>Ở quy mô 200 khách hàng, thuật toán lai thể hiện độ ổn định vượt trội khi tỷ lệ lệch số xe chỉ từ 0% đến 20%, so với mức 30% đến 70% của ALNS truyền thống.</a:t>
            </a:r>
          </a:p>
          <a:p/>
          <a:p>
            <a:r>
              <a:t>Ở quy mô 400 khách hàng, dù cả hai thuật toán đều có sự suy giảm so với BKS lý thuyết, mô hình của chúng em vẫn giữ được vị thế dẫn trước rõ rệt với việc tiết kiệm trung bình từ 0.7 đến 0.8 xe (có ý nghĩa thống kê với kiểm định Wilcoxon p=0.0156).</a:t>
            </a:r>
          </a:p>
          <a:p/>
          <a:p>
            <a:r>
              <a:t>Đổi lại, thuật toán lai chạy chậm hơn từ 1.3 đến 4.6 lần do chi phí giải các bài toán MILP phân hoạch tập hợp lớn.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giao diện của hệ thống trực quan hóa NAMI Dispatcher do tụi em xây dựng.</a:t>
            </a:r>
          </a:p>
          <a:p/>
          <a:p>
            <a:r>
              <a:t>Hệ thống cho phép điều phối viên tải dữ liệu khách hàng lên, bấm nút giải toán và theo dõi tiến trình chạy của thuật toán AI dưới dạng đồ thị telemetry trực quan.</a:t>
            </a:r>
          </a:p>
          <a:p/>
          <a:p>
            <a:r>
              <a:t>Bản đồ sẽ vẽ chi tiết lộ trình của từng xe với màu sắc khác nhau, và biểu đồ Gantt bên dưới giúp kiểm tra độ trễ (slack time) của từng điểm giao hàng. Công cụ này giúp biến thuật toán AI dạng hộp đen thành một hệ thống minh bạch, có thể tương tác và ứng dụng được ngay vào doanh nghiệp.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lại, nghiên cứu của tụi em đã:</a:t>
            </a:r>
          </a:p>
          <a:p>
            <a:r>
              <a:t>1. Chứng minh tính hiệu quả của mô hình học máy phân cấp trong điều khiển tìm kiếm cục bộ;</a:t>
            </a:r>
          </a:p>
          <a:p>
            <a:r>
              <a:t>2. Vượt qua trần xe tối thiểu trên các bộ dữ liệu chuẩn Solomon;</a:t>
            </a:r>
          </a:p>
          <a:p>
            <a:r>
              <a:t>3. Và hiện thực hóa giải pháp bằng một phần mềm trực quan hoàn chỉnh.</a:t>
            </a:r>
          </a:p>
          <a:p/>
          <a:p>
            <a:r>
              <a:t>Trong tương lai, nhóm sẽ tập trung tối ưu hóa thời gian tính toán trên quy mô lớn bằng cách song song hóa luồng chạy trên GPU, và mở rộng bài toán cho đội xe không đồng nhất (nhiều tải trọng khác nhau).</a:t>
            </a:r>
          </a:p>
          <a:p/>
          <a:p>
            <a:r>
              <a:t>Em xin chân thành cảm ơn thầy cô đã lắng nghe và rất mong nhận được câu hỏi góp ý từ Hội đồng.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Dưới đây là cẩm nang trả lời các câu hỏi phản biện cốt lõi từ Hội đồng khoa học:</a:t>
            </a:r>
          </a:p>
          <a:p/>
          <a:p>
            <a:r>
              <a:t>1. Về thời gian tính toán: Nhấn mạnh đây là sự đánh đổi có lợi giữa tài nguyên máy tính giá rẻ và chi phí vận hành xe thực tế hàng ngàn USD của doanh nghiệp.</a:t>
            </a:r>
          </a:p>
          <a:p/>
          <a:p>
            <a:r>
              <a:t>2. Về việc đánh giá GNN trên 3 thực thể: Giải thích rõ đây là Case Study để kiểm định tính thích ứng cấu trúc không gian (clustered, random, mixed), và khẳng định số liệu quét đầy đủ đã nằm trong báo cáo chi tiết.</a:t>
            </a:r>
          </a:p>
          <a:p/>
          <a:p>
            <a:r>
              <a:t>3. Về độ tin cậy khoa học: Nhắc đến việc tất cả các kết quả so sánh đều đi kèm kiểm định Wilcoxon Signed-Rank với p-value rõ ràng chứng minh độ vượt trội mang ý nghĩa thống kê.</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772400" y="1371600"/>
            <a:ext cx="4114800" cy="4114800"/>
          </a:xfrm>
          <a:prstGeom prst="ellipse">
            <a:avLst/>
          </a:prstGeom>
          <a:solidFill>
            <a:srgbClr val="12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365760"/>
          </a:xfrm>
          <a:prstGeom prst="rect">
            <a:avLst/>
          </a:prstGeom>
          <a:noFill/>
        </p:spPr>
        <p:txBody>
          <a:bodyPr wrap="none">
            <a:spAutoFit/>
          </a:bodyPr>
          <a:lstStyle/>
          <a:p>
            <a:pPr>
              <a:defRPr sz="1300" b="1">
                <a:solidFill>
                  <a:srgbClr val="00B4D8"/>
                </a:solidFill>
                <a:latin typeface="Segoe UI"/>
              </a:defRPr>
            </a:pPr>
            <a:r>
              <a:t>STUDENT RESEARCH CONFERENCE (NCKH) 2025 - 2026</a:t>
            </a:r>
          </a:p>
        </p:txBody>
      </p:sp>
      <p:sp>
        <p:nvSpPr>
          <p:cNvPr id="5" name="TextBox 4"/>
          <p:cNvSpPr txBox="1"/>
          <p:nvPr/>
        </p:nvSpPr>
        <p:spPr>
          <a:xfrm>
            <a:off x="731520" y="1828800"/>
            <a:ext cx="9601200" cy="2011680"/>
          </a:xfrm>
          <a:prstGeom prst="rect">
            <a:avLst/>
          </a:prstGeom>
          <a:noFill/>
        </p:spPr>
        <p:txBody>
          <a:bodyPr wrap="square">
            <a:spAutoFit/>
          </a:bodyPr>
          <a:lstStyle/>
          <a:p>
            <a:pPr>
              <a:spcAft>
                <a:spcPts val="1200"/>
              </a:spcAft>
              <a:defRPr sz="3600" b="1">
                <a:solidFill>
                  <a:srgbClr val="FFFFFF"/>
                </a:solidFill>
                <a:latin typeface="Segoe UI"/>
              </a:defRPr>
            </a:pPr>
            <a:r>
              <a:t>A Hybrid Deep Reinforcement Learning and Adaptive Large Neighborhood Search Metaheuristic for the Vehicle Routing Problem with Time Windows</a:t>
            </a:r>
          </a:p>
        </p:txBody>
      </p:sp>
      <p:sp>
        <p:nvSpPr>
          <p:cNvPr id="6" name="TextBox 5"/>
          <p:cNvSpPr txBox="1"/>
          <p:nvPr/>
        </p:nvSpPr>
        <p:spPr>
          <a:xfrm>
            <a:off x="731520" y="3840480"/>
            <a:ext cx="9601200" cy="731520"/>
          </a:xfrm>
          <a:prstGeom prst="rect">
            <a:avLst/>
          </a:prstGeom>
          <a:noFill/>
        </p:spPr>
        <p:txBody>
          <a:bodyPr wrap="square">
            <a:spAutoFit/>
          </a:bodyPr>
          <a:lstStyle/>
          <a:p>
            <a:pPr>
              <a:defRPr sz="1800">
                <a:solidFill>
                  <a:srgbClr val="F59E0B"/>
                </a:solidFill>
                <a:latin typeface="Segoe UI"/>
              </a:defRPr>
            </a:pPr>
            <a:r>
              <a:t>Combining Neural Decision Making with Heuristics to Resolve Scale-Aware Routing Limits</a:t>
            </a:r>
          </a:p>
        </p:txBody>
      </p:sp>
      <p:sp>
        <p:nvSpPr>
          <p:cNvPr id="7" name="TextBox 6"/>
          <p:cNvSpPr txBox="1"/>
          <p:nvPr/>
        </p:nvSpPr>
        <p:spPr>
          <a:xfrm>
            <a:off x="731520" y="5120640"/>
            <a:ext cx="10698480" cy="1097280"/>
          </a:xfrm>
          <a:prstGeom prst="rect">
            <a:avLst/>
          </a:prstGeom>
          <a:noFill/>
        </p:spPr>
        <p:txBody>
          <a:bodyPr wrap="none">
            <a:spAutoFit/>
          </a:bodyPr>
          <a:lstStyle/>
          <a:p>
            <a:pPr>
              <a:spcAft>
                <a:spcPts val="600"/>
              </a:spcAft>
              <a:defRPr sz="1300" b="1">
                <a:solidFill>
                  <a:srgbClr val="E2E8F0"/>
                </a:solidFill>
                <a:latin typeface="Segoe UI"/>
              </a:defRPr>
            </a:pPr>
            <a:r>
              <a:t>Presenters: Thi-Linh Ho &amp; Ha-Vy Duy Nguyen</a:t>
            </a:r>
            <a:br/>
            <a:r>
              <a:t>Advisor: Student Research Initiative Committee</a:t>
            </a:r>
            <a:br/>
            <a:r>
              <a:t>Faculty of Information Technology, Ton Duc Thang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STRUCTURE</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Presentation Agenda</a:t>
            </a:r>
          </a:p>
        </p:txBody>
      </p:sp>
      <p:sp>
        <p:nvSpPr>
          <p:cNvPr id="5" name="Rounded Rectangle 4"/>
          <p:cNvSpPr/>
          <p:nvPr/>
        </p:nvSpPr>
        <p:spPr>
          <a:xfrm>
            <a:off x="731520" y="1645920"/>
            <a:ext cx="2468880" cy="19202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103120" cy="1554480"/>
          </a:xfrm>
          <a:prstGeom prst="rect">
            <a:avLst/>
          </a:prstGeom>
          <a:noFill/>
        </p:spPr>
        <p:txBody>
          <a:bodyPr wrap="square" lIns="0" tIns="0" rIns="0" bIns="0">
            <a:spAutoFit/>
          </a:bodyPr>
          <a:lstStyle/>
          <a:p>
            <a:pPr>
              <a:spcAft>
                <a:spcPts val="1000"/>
              </a:spcAft>
              <a:defRPr sz="1500" b="1">
                <a:solidFill>
                  <a:srgbClr val="00B4D8"/>
                </a:solidFill>
                <a:latin typeface="Segoe UI"/>
              </a:defRPr>
            </a:pPr>
            <a:r>
              <a:t>01. Introduction</a:t>
            </a:r>
          </a:p>
          <a:p>
            <a:pPr>
              <a:defRPr sz="1200">
                <a:solidFill>
                  <a:srgbClr val="E2E8F0"/>
                </a:solidFill>
                <a:latin typeface="Segoe UI"/>
              </a:defRPr>
            </a:pPr>
            <a:r>
              <a:t>VRPTW parameters, constraints, and the Lexicographical objective model.</a:t>
            </a:r>
          </a:p>
        </p:txBody>
      </p:sp>
      <p:sp>
        <p:nvSpPr>
          <p:cNvPr id="7" name="Rounded Rectangle 6"/>
          <p:cNvSpPr/>
          <p:nvPr/>
        </p:nvSpPr>
        <p:spPr>
          <a:xfrm>
            <a:off x="3474720" y="1645920"/>
            <a:ext cx="2468880" cy="19202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1828800"/>
            <a:ext cx="2103120" cy="1554480"/>
          </a:xfrm>
          <a:prstGeom prst="rect">
            <a:avLst/>
          </a:prstGeom>
          <a:noFill/>
        </p:spPr>
        <p:txBody>
          <a:bodyPr wrap="square" lIns="0" tIns="0" rIns="0" bIns="0">
            <a:spAutoFit/>
          </a:bodyPr>
          <a:lstStyle/>
          <a:p>
            <a:pPr>
              <a:spcAft>
                <a:spcPts val="1000"/>
              </a:spcAft>
              <a:defRPr sz="1500" b="1">
                <a:solidFill>
                  <a:srgbClr val="00B4D8"/>
                </a:solidFill>
                <a:latin typeface="Segoe UI"/>
              </a:defRPr>
            </a:pPr>
            <a:r>
              <a:t>02. Motivation</a:t>
            </a:r>
          </a:p>
          <a:p>
            <a:pPr>
              <a:defRPr sz="1200">
                <a:solidFill>
                  <a:srgbClr val="E2E8F0"/>
                </a:solidFill>
                <a:latin typeface="Segoe UI"/>
              </a:defRPr>
            </a:pPr>
            <a:r>
              <a:t>Addressing Fleet Inflation &amp; the necessity of real-time telemetry.</a:t>
            </a:r>
          </a:p>
        </p:txBody>
      </p:sp>
      <p:sp>
        <p:nvSpPr>
          <p:cNvPr id="9" name="Rounded Rectangle 8"/>
          <p:cNvSpPr/>
          <p:nvPr/>
        </p:nvSpPr>
        <p:spPr>
          <a:xfrm>
            <a:off x="6217920" y="1645920"/>
            <a:ext cx="2468880" cy="19202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28800"/>
            <a:ext cx="2103120" cy="1554480"/>
          </a:xfrm>
          <a:prstGeom prst="rect">
            <a:avLst/>
          </a:prstGeom>
          <a:noFill/>
        </p:spPr>
        <p:txBody>
          <a:bodyPr wrap="square" lIns="0" tIns="0" rIns="0" bIns="0">
            <a:spAutoFit/>
          </a:bodyPr>
          <a:lstStyle/>
          <a:p>
            <a:pPr>
              <a:spcAft>
                <a:spcPts val="1000"/>
              </a:spcAft>
              <a:defRPr sz="1500" b="1">
                <a:solidFill>
                  <a:srgbClr val="00B4D8"/>
                </a:solidFill>
                <a:latin typeface="Segoe UI"/>
              </a:defRPr>
            </a:pPr>
            <a:r>
              <a:t>03. Proposed Framework</a:t>
            </a:r>
          </a:p>
          <a:p>
            <a:pPr>
              <a:defRPr sz="1200">
                <a:solidFill>
                  <a:srgbClr val="E2E8F0"/>
                </a:solidFill>
                <a:latin typeface="Segoe UI"/>
              </a:defRPr>
            </a:pPr>
            <a:r>
              <a:t>Combining Hierarchical MDP (DDQN) with mathematical search (ALNS).</a:t>
            </a:r>
          </a:p>
        </p:txBody>
      </p:sp>
      <p:sp>
        <p:nvSpPr>
          <p:cNvPr id="11" name="Rounded Rectangle 10"/>
          <p:cNvSpPr/>
          <p:nvPr/>
        </p:nvSpPr>
        <p:spPr>
          <a:xfrm>
            <a:off x="8961120" y="1645920"/>
            <a:ext cx="2468880" cy="19202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0" y="1828800"/>
            <a:ext cx="2103120" cy="1554480"/>
          </a:xfrm>
          <a:prstGeom prst="rect">
            <a:avLst/>
          </a:prstGeom>
          <a:noFill/>
        </p:spPr>
        <p:txBody>
          <a:bodyPr wrap="square" lIns="0" tIns="0" rIns="0" bIns="0">
            <a:spAutoFit/>
          </a:bodyPr>
          <a:lstStyle/>
          <a:p>
            <a:pPr>
              <a:spcAft>
                <a:spcPts val="1000"/>
              </a:spcAft>
              <a:defRPr sz="1500" b="1">
                <a:solidFill>
                  <a:srgbClr val="00B4D8"/>
                </a:solidFill>
                <a:latin typeface="Segoe UI"/>
              </a:defRPr>
            </a:pPr>
            <a:r>
              <a:t>04. Proactive Seeding</a:t>
            </a:r>
          </a:p>
          <a:p>
            <a:pPr>
              <a:defRPr sz="1200">
                <a:solidFill>
                  <a:srgbClr val="E2E8F0"/>
                </a:solidFill>
                <a:latin typeface="Segoe UI"/>
              </a:defRPr>
            </a:pPr>
            <a:r>
              <a:t>Clarke-Wright bridge routing &amp; Set Partitioning MILP solver.</a:t>
            </a:r>
          </a:p>
        </p:txBody>
      </p:sp>
      <p:sp>
        <p:nvSpPr>
          <p:cNvPr id="13" name="Rounded Rectangle 12"/>
          <p:cNvSpPr/>
          <p:nvPr/>
        </p:nvSpPr>
        <p:spPr>
          <a:xfrm>
            <a:off x="731520" y="3840480"/>
            <a:ext cx="2468880" cy="19202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023360"/>
            <a:ext cx="2103120" cy="1554480"/>
          </a:xfrm>
          <a:prstGeom prst="rect">
            <a:avLst/>
          </a:prstGeom>
          <a:noFill/>
        </p:spPr>
        <p:txBody>
          <a:bodyPr wrap="square" lIns="0" tIns="0" rIns="0" bIns="0">
            <a:spAutoFit/>
          </a:bodyPr>
          <a:lstStyle/>
          <a:p>
            <a:pPr>
              <a:spcAft>
                <a:spcPts val="1000"/>
              </a:spcAft>
              <a:defRPr sz="1500" b="1">
                <a:solidFill>
                  <a:srgbClr val="00B4D8"/>
                </a:solidFill>
                <a:latin typeface="Segoe UI"/>
              </a:defRPr>
            </a:pPr>
            <a:r>
              <a:t>05. GNN Heatmaps</a:t>
            </a:r>
          </a:p>
          <a:p>
            <a:pPr>
              <a:defRPr sz="1200">
                <a:solidFill>
                  <a:srgbClr val="E2E8F0"/>
                </a:solidFill>
                <a:latin typeface="Segoe UI"/>
              </a:defRPr>
            </a:pPr>
            <a:r>
              <a:t>Optimizing detour calculations dynamically with neural edge predictions.</a:t>
            </a:r>
          </a:p>
        </p:txBody>
      </p:sp>
      <p:sp>
        <p:nvSpPr>
          <p:cNvPr id="15" name="Rounded Rectangle 14"/>
          <p:cNvSpPr/>
          <p:nvPr/>
        </p:nvSpPr>
        <p:spPr>
          <a:xfrm>
            <a:off x="3474720" y="3840480"/>
            <a:ext cx="2468880" cy="19202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0" y="4023360"/>
            <a:ext cx="2103120" cy="1554480"/>
          </a:xfrm>
          <a:prstGeom prst="rect">
            <a:avLst/>
          </a:prstGeom>
          <a:noFill/>
        </p:spPr>
        <p:txBody>
          <a:bodyPr wrap="square" lIns="0" tIns="0" rIns="0" bIns="0">
            <a:spAutoFit/>
          </a:bodyPr>
          <a:lstStyle/>
          <a:p>
            <a:pPr>
              <a:spcAft>
                <a:spcPts val="1000"/>
              </a:spcAft>
              <a:defRPr sz="1500" b="1">
                <a:solidFill>
                  <a:srgbClr val="00B4D8"/>
                </a:solidFill>
                <a:latin typeface="Segoe UI"/>
              </a:defRPr>
            </a:pPr>
            <a:r>
              <a:t>06. Post-Processing</a:t>
            </a:r>
          </a:p>
          <a:p>
            <a:pPr>
              <a:defRPr sz="1200">
                <a:solidFill>
                  <a:srgbClr val="E2E8F0"/>
                </a:solidFill>
                <a:latin typeface="Segoe UI"/>
              </a:defRPr>
            </a:pPr>
            <a:r>
              <a:t>Ejection chains, buffered route elimination, and TD polishing cascade.</a:t>
            </a:r>
          </a:p>
        </p:txBody>
      </p:sp>
      <p:sp>
        <p:nvSpPr>
          <p:cNvPr id="17" name="Rounded Rectangle 16"/>
          <p:cNvSpPr/>
          <p:nvPr/>
        </p:nvSpPr>
        <p:spPr>
          <a:xfrm>
            <a:off x="6217920" y="3840480"/>
            <a:ext cx="2468880" cy="19202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023360"/>
            <a:ext cx="2103120" cy="1554480"/>
          </a:xfrm>
          <a:prstGeom prst="rect">
            <a:avLst/>
          </a:prstGeom>
          <a:noFill/>
        </p:spPr>
        <p:txBody>
          <a:bodyPr wrap="square" lIns="0" tIns="0" rIns="0" bIns="0">
            <a:spAutoFit/>
          </a:bodyPr>
          <a:lstStyle/>
          <a:p>
            <a:pPr>
              <a:spcAft>
                <a:spcPts val="1000"/>
              </a:spcAft>
              <a:defRPr sz="1500" b="1">
                <a:solidFill>
                  <a:srgbClr val="00B4D8"/>
                </a:solidFill>
                <a:latin typeface="Segoe UI"/>
              </a:defRPr>
            </a:pPr>
            <a:r>
              <a:t>07. System Architecture</a:t>
            </a:r>
          </a:p>
          <a:p>
            <a:pPr>
              <a:defRPr sz="1200">
                <a:solidFill>
                  <a:srgbClr val="E2E8F0"/>
                </a:solidFill>
                <a:latin typeface="Segoe UI"/>
              </a:defRPr>
            </a:pPr>
            <a:r>
              <a:t>Monorepo integration of Vite + React UI, FastAPI, and C++ solver bindings.</a:t>
            </a:r>
          </a:p>
        </p:txBody>
      </p:sp>
      <p:sp>
        <p:nvSpPr>
          <p:cNvPr id="19" name="Rounded Rectangle 18"/>
          <p:cNvSpPr/>
          <p:nvPr/>
        </p:nvSpPr>
        <p:spPr>
          <a:xfrm>
            <a:off x="8961120" y="3840480"/>
            <a:ext cx="2468880" cy="19202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0" y="4023360"/>
            <a:ext cx="2103120" cy="1554480"/>
          </a:xfrm>
          <a:prstGeom prst="rect">
            <a:avLst/>
          </a:prstGeom>
          <a:noFill/>
        </p:spPr>
        <p:txBody>
          <a:bodyPr wrap="square" lIns="0" tIns="0" rIns="0" bIns="0">
            <a:spAutoFit/>
          </a:bodyPr>
          <a:lstStyle/>
          <a:p>
            <a:pPr>
              <a:spcAft>
                <a:spcPts val="1000"/>
              </a:spcAft>
              <a:defRPr sz="1500" b="1">
                <a:solidFill>
                  <a:srgbClr val="00B4D8"/>
                </a:solidFill>
                <a:latin typeface="Segoe UI"/>
              </a:defRPr>
            </a:pPr>
            <a:r>
              <a:t>08. Experimental Results</a:t>
            </a:r>
          </a:p>
          <a:p>
            <a:pPr>
              <a:defRPr sz="1200">
                <a:solidFill>
                  <a:srgbClr val="E2E8F0"/>
                </a:solidFill>
                <a:latin typeface="Segoe UI"/>
              </a:defRPr>
            </a:pPr>
            <a:r>
              <a:t>Verification under strict cold-starts, OR-Tools comparison, and scaling limits.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PROBLEM MODELING</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Vehicle Routing Problem with Time Windows (VRPTW)</a:t>
            </a:r>
          </a:p>
        </p:txBody>
      </p:sp>
      <p:sp>
        <p:nvSpPr>
          <p:cNvPr id="5" name="Rounded Rectangle 4"/>
          <p:cNvSpPr/>
          <p:nvPr/>
        </p:nvSpPr>
        <p:spPr>
          <a:xfrm>
            <a:off x="731520" y="1463040"/>
            <a:ext cx="548640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937760" cy="457200"/>
          </a:xfrm>
          <a:prstGeom prst="rect">
            <a:avLst/>
          </a:prstGeom>
          <a:noFill/>
        </p:spPr>
        <p:txBody>
          <a:bodyPr wrap="square" lIns="0" tIns="0" rIns="0" bIns="0">
            <a:spAutoFit/>
          </a:bodyPr>
          <a:lstStyle/>
          <a:p>
            <a:pPr>
              <a:defRPr sz="1800" b="1">
                <a:solidFill>
                  <a:srgbClr val="FFFFFF"/>
                </a:solidFill>
                <a:latin typeface="Segoe UI"/>
              </a:defRPr>
            </a:pPr>
            <a:r>
              <a:t>Mathematical Foundations</a:t>
            </a:r>
          </a:p>
        </p:txBody>
      </p:sp>
      <p:sp>
        <p:nvSpPr>
          <p:cNvPr id="7" name="TextBox 6"/>
          <p:cNvSpPr txBox="1"/>
          <p:nvPr/>
        </p:nvSpPr>
        <p:spPr>
          <a:xfrm>
            <a:off x="1005840" y="2103120"/>
            <a:ext cx="4937760" cy="3657600"/>
          </a:xfrm>
          <a:prstGeom prst="rect">
            <a:avLst/>
          </a:prstGeom>
          <a:noFill/>
        </p:spPr>
        <p:txBody>
          <a:bodyPr wrap="square" lIns="0" tIns="0" rIns="0" bIns="0">
            <a:spAutoFit/>
          </a:bodyPr>
          <a:lstStyle/>
          <a:p>
            <a:pPr>
              <a:spcAft>
                <a:spcPts val="1000"/>
              </a:spcAft>
              <a:defRPr sz="1300">
                <a:solidFill>
                  <a:srgbClr val="E2E8F0"/>
                </a:solidFill>
                <a:latin typeface="Segoe UI"/>
              </a:defRPr>
            </a:pPr>
            <a:r>
              <a:t>Objective Context: Serve a set of customer demands q_i at locations N with homogeneous fleet capacity Q.</a:t>
            </a:r>
          </a:p>
          <a:p>
            <a:pPr>
              <a:spcAft>
                <a:spcPts val="1000"/>
              </a:spcAft>
              <a:defRPr sz="1300">
                <a:solidFill>
                  <a:srgbClr val="E2E8F0"/>
                </a:solidFill>
                <a:latin typeface="Segoe UI"/>
              </a:defRPr>
            </a:pPr>
            <a:r>
              <a:t>Hard Operational Constraints:</a:t>
            </a:r>
          </a:p>
          <a:p>
            <a:pPr lvl="1">
              <a:spcAft>
                <a:spcPts val="1000"/>
              </a:spcAft>
              <a:defRPr sz="1300">
                <a:solidFill>
                  <a:srgbClr val="E2E8F0"/>
                </a:solidFill>
                <a:latin typeface="Segoe UI"/>
              </a:defRPr>
            </a:pPr>
            <a:r>
              <a:t>Capacity limit: Sum of demands along any route &lt;= Q.</a:t>
            </a:r>
          </a:p>
          <a:p>
            <a:pPr lvl="1">
              <a:spcAft>
                <a:spcPts val="1000"/>
              </a:spcAft>
              <a:defRPr sz="1300">
                <a:solidFill>
                  <a:srgbClr val="E2E8F0"/>
                </a:solidFill>
                <a:latin typeface="Segoe UI"/>
              </a:defRPr>
            </a:pPr>
            <a:r>
              <a:t>Time Windows: Arrival at customer i must occur within [e_i, l_i]. Early arrival induces waiting; late arrival is strictly infeasible.</a:t>
            </a:r>
          </a:p>
          <a:p>
            <a:pPr>
              <a:spcAft>
                <a:spcPts val="1000"/>
              </a:spcAft>
              <a:defRPr sz="1300">
                <a:solidFill>
                  <a:srgbClr val="E2E8F0"/>
                </a:solidFill>
                <a:latin typeface="Segoe UI"/>
              </a:defRPr>
            </a:pPr>
            <a:r>
              <a:t>Lexicographical Objective Hierarchy:</a:t>
            </a:r>
          </a:p>
          <a:p>
            <a:pPr lvl="1">
              <a:spcAft>
                <a:spcPts val="1000"/>
              </a:spcAft>
              <a:defRPr sz="1300">
                <a:solidFill>
                  <a:srgbClr val="E2E8F0"/>
                </a:solidFill>
                <a:latin typeface="Segoe UI"/>
              </a:defRPr>
            </a:pPr>
            <a:r>
              <a:t>Primary: Minimize Fleet Size (NV)</a:t>
            </a:r>
          </a:p>
          <a:p>
            <a:pPr lvl="1">
              <a:spcAft>
                <a:spcPts val="1000"/>
              </a:spcAft>
              <a:defRPr sz="1300">
                <a:solidFill>
                  <a:srgbClr val="E2E8F0"/>
                </a:solidFill>
                <a:latin typeface="Segoe UI"/>
              </a:defRPr>
            </a:pPr>
            <a:r>
              <a:t>Secondary: Minimize Travel Distance (TD)</a:t>
            </a:r>
          </a:p>
        </p:txBody>
      </p:sp>
      <p:sp>
        <p:nvSpPr>
          <p:cNvPr id="8" name="TextBox 7"/>
          <p:cNvSpPr txBox="1"/>
          <p:nvPr/>
        </p:nvSpPr>
        <p:spPr>
          <a:xfrm>
            <a:off x="1005840" y="5120640"/>
            <a:ext cx="4937760" cy="731520"/>
          </a:xfrm>
          <a:prstGeom prst="rect">
            <a:avLst/>
          </a:prstGeom>
          <a:noFill/>
        </p:spPr>
        <p:txBody>
          <a:bodyPr wrap="square">
            <a:spAutoFit/>
          </a:bodyPr>
          <a:lstStyle/>
          <a:p>
            <a:pPr algn="ctr">
              <a:defRPr b="1" sz="2000">
                <a:solidFill>
                  <a:srgbClr val="00B4D8"/>
                </a:solidFill>
                <a:latin typeface="Segoe UI"/>
              </a:defRPr>
            </a:pPr>
            <a:r>
              <a:t>lex min ( NV ,  TD )</a:t>
            </a:r>
          </a:p>
        </p:txBody>
      </p:sp>
      <p:sp>
        <p:nvSpPr>
          <p:cNvPr id="9" name="Rounded Rectangle 8"/>
          <p:cNvSpPr/>
          <p:nvPr/>
        </p:nvSpPr>
        <p:spPr>
          <a:xfrm>
            <a:off x="6492240" y="1463040"/>
            <a:ext cx="493776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0" y="1737360"/>
            <a:ext cx="4389120" cy="457200"/>
          </a:xfrm>
          <a:prstGeom prst="rect">
            <a:avLst/>
          </a:prstGeom>
          <a:noFill/>
        </p:spPr>
        <p:txBody>
          <a:bodyPr wrap="square" lIns="0" tIns="0" rIns="0" bIns="0">
            <a:spAutoFit/>
          </a:bodyPr>
          <a:lstStyle/>
          <a:p>
            <a:pPr>
              <a:defRPr sz="1800" b="1">
                <a:solidFill>
                  <a:srgbClr val="FFFFFF"/>
                </a:solidFill>
                <a:latin typeface="Segoe UI"/>
              </a:defRPr>
            </a:pPr>
            <a:r>
              <a:t>Routing Diorama Visualization</a:t>
            </a:r>
          </a:p>
        </p:txBody>
      </p:sp>
      <p:sp>
        <p:nvSpPr>
          <p:cNvPr id="11" name="Oval 10"/>
          <p:cNvSpPr/>
          <p:nvPr/>
        </p:nvSpPr>
        <p:spPr>
          <a:xfrm>
            <a:off x="8595360" y="3474720"/>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4206240"/>
            <a:ext cx="2560320" cy="457200"/>
          </a:xfrm>
          <a:prstGeom prst="rect">
            <a:avLst/>
          </a:prstGeom>
          <a:noFill/>
        </p:spPr>
        <p:txBody>
          <a:bodyPr wrap="square">
            <a:spAutoFit/>
          </a:bodyPr>
          <a:lstStyle/>
          <a:p>
            <a:pPr algn="ctr">
              <a:defRPr sz="1100" b="1">
                <a:solidFill>
                  <a:srgbClr val="FFFFFF"/>
                </a:solidFill>
                <a:latin typeface="Segoe UI"/>
              </a:defRPr>
            </a:pPr>
            <a:r>
              <a:t>DEPOT [0, 1000]</a:t>
            </a:r>
          </a:p>
        </p:txBody>
      </p:sp>
      <p:sp>
        <p:nvSpPr>
          <p:cNvPr id="13" name="Oval 12"/>
          <p:cNvSpPr/>
          <p:nvPr/>
        </p:nvSpPr>
        <p:spPr>
          <a:xfrm>
            <a:off x="7315200" y="2011680"/>
            <a:ext cx="365760" cy="36576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2377440"/>
            <a:ext cx="1828800" cy="365760"/>
          </a:xfrm>
          <a:prstGeom prst="rect">
            <a:avLst/>
          </a:prstGeom>
          <a:noFill/>
        </p:spPr>
        <p:txBody>
          <a:bodyPr wrap="square">
            <a:spAutoFit/>
          </a:bodyPr>
          <a:lstStyle/>
          <a:p>
            <a:pPr algn="ctr">
              <a:defRPr sz="1100">
                <a:solidFill>
                  <a:srgbClr val="E2E8F0"/>
                </a:solidFill>
                <a:latin typeface="Segoe UI"/>
              </a:defRPr>
            </a:pPr>
            <a:r>
              <a:t>c1 [10, 50]</a:t>
            </a:r>
          </a:p>
        </p:txBody>
      </p:sp>
      <p:sp>
        <p:nvSpPr>
          <p:cNvPr id="15" name="Oval 14"/>
          <p:cNvSpPr/>
          <p:nvPr/>
        </p:nvSpPr>
        <p:spPr>
          <a:xfrm>
            <a:off x="7132320" y="4754880"/>
            <a:ext cx="365760" cy="36576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5120640"/>
            <a:ext cx="1828800" cy="365760"/>
          </a:xfrm>
          <a:prstGeom prst="rect">
            <a:avLst/>
          </a:prstGeom>
          <a:noFill/>
        </p:spPr>
        <p:txBody>
          <a:bodyPr wrap="square">
            <a:spAutoFit/>
          </a:bodyPr>
          <a:lstStyle/>
          <a:p>
            <a:pPr algn="ctr">
              <a:defRPr sz="1100">
                <a:solidFill>
                  <a:srgbClr val="E2E8F0"/>
                </a:solidFill>
                <a:latin typeface="Segoe UI"/>
              </a:defRPr>
            </a:pPr>
            <a:r>
              <a:t>c2 [40, 90]</a:t>
            </a:r>
          </a:p>
        </p:txBody>
      </p:sp>
      <p:sp>
        <p:nvSpPr>
          <p:cNvPr id="17" name="Oval 16"/>
          <p:cNvSpPr/>
          <p:nvPr/>
        </p:nvSpPr>
        <p:spPr>
          <a:xfrm>
            <a:off x="10241280" y="2194560"/>
            <a:ext cx="365760" cy="36576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0" y="2560320"/>
            <a:ext cx="1828800" cy="365760"/>
          </a:xfrm>
          <a:prstGeom prst="rect">
            <a:avLst/>
          </a:prstGeom>
          <a:noFill/>
        </p:spPr>
        <p:txBody>
          <a:bodyPr wrap="square">
            <a:spAutoFit/>
          </a:bodyPr>
          <a:lstStyle/>
          <a:p>
            <a:pPr algn="ctr">
              <a:defRPr sz="1100">
                <a:solidFill>
                  <a:srgbClr val="E2E8F0"/>
                </a:solidFill>
                <a:latin typeface="Segoe UI"/>
              </a:defRPr>
            </a:pPr>
            <a:r>
              <a:t>c3 [20, 60]</a:t>
            </a:r>
          </a:p>
        </p:txBody>
      </p:sp>
      <p:sp>
        <p:nvSpPr>
          <p:cNvPr id="19" name="Oval 18"/>
          <p:cNvSpPr/>
          <p:nvPr/>
        </p:nvSpPr>
        <p:spPr>
          <a:xfrm>
            <a:off x="10058400" y="4572000"/>
            <a:ext cx="365760" cy="36576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4937760"/>
            <a:ext cx="1828800" cy="365760"/>
          </a:xfrm>
          <a:prstGeom prst="rect">
            <a:avLst/>
          </a:prstGeom>
          <a:noFill/>
        </p:spPr>
        <p:txBody>
          <a:bodyPr wrap="square">
            <a:spAutoFit/>
          </a:bodyPr>
          <a:lstStyle/>
          <a:p>
            <a:pPr algn="ctr">
              <a:defRPr sz="1100">
                <a:solidFill>
                  <a:srgbClr val="E2E8F0"/>
                </a:solidFill>
                <a:latin typeface="Segoe UI"/>
              </a:defRPr>
            </a:pPr>
            <a:r>
              <a:t>c4 [70, 120]</a:t>
            </a:r>
          </a:p>
        </p:txBody>
      </p:sp>
      <p:cxnSp>
        <p:nvCxnSpPr>
          <p:cNvPr id="21" name="Connector 20"/>
          <p:cNvCxnSpPr/>
          <p:nvPr/>
        </p:nvCxnSpPr>
        <p:spPr>
          <a:xfrm flipH="1" flipV="1">
            <a:off x="7498079" y="2194560"/>
            <a:ext cx="1463041" cy="1645920"/>
          </a:xfrm>
          <a:prstGeom prst="line">
            <a:avLst/>
          </a:prstGeom>
          <a:ln w="3175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7315200" y="2194560"/>
            <a:ext cx="182879" cy="2743200"/>
          </a:xfrm>
          <a:prstGeom prst="line">
            <a:avLst/>
          </a:prstGeom>
          <a:ln w="3175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315200" y="3840480"/>
            <a:ext cx="1645920" cy="1097280"/>
          </a:xfrm>
          <a:prstGeom prst="line">
            <a:avLst/>
          </a:prstGeom>
          <a:ln w="3175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961120" y="2377440"/>
            <a:ext cx="1463040" cy="1463040"/>
          </a:xfrm>
          <a:prstGeom prst="line">
            <a:avLst/>
          </a:prstGeom>
          <a:ln w="31750">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0241280" y="2377440"/>
            <a:ext cx="182880" cy="2377440"/>
          </a:xfrm>
          <a:prstGeom prst="line">
            <a:avLst/>
          </a:prstGeom>
          <a:ln w="31750">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8961120" y="3840480"/>
            <a:ext cx="1280160" cy="914400"/>
          </a:xfrm>
          <a:prstGeom prst="line">
            <a:avLst/>
          </a:prstGeom>
          <a:ln w="31750">
            <a:solidFill>
              <a:srgbClr val="F59E0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MOTIVATION</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Research Motivation &amp; Operational Gaps</a:t>
            </a:r>
          </a:p>
        </p:txBody>
      </p:sp>
      <p:sp>
        <p:nvSpPr>
          <p:cNvPr id="5" name="Rounded Rectangle 4"/>
          <p:cNvSpPr/>
          <p:nvPr/>
        </p:nvSpPr>
        <p:spPr>
          <a:xfrm>
            <a:off x="731520" y="1463040"/>
            <a:ext cx="548640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937760" cy="457200"/>
          </a:xfrm>
          <a:prstGeom prst="rect">
            <a:avLst/>
          </a:prstGeom>
          <a:noFill/>
        </p:spPr>
        <p:txBody>
          <a:bodyPr wrap="square" lIns="0" tIns="0" rIns="0" bIns="0">
            <a:spAutoFit/>
          </a:bodyPr>
          <a:lstStyle/>
          <a:p>
            <a:pPr>
              <a:defRPr sz="1800" b="1">
                <a:solidFill>
                  <a:srgbClr val="FFFFFF"/>
                </a:solidFill>
                <a:latin typeface="Segoe UI"/>
              </a:defRPr>
            </a:pPr>
            <a:r>
              <a:t>Fleet Economics &amp; Logistics Objectives</a:t>
            </a:r>
          </a:p>
        </p:txBody>
      </p:sp>
      <p:sp>
        <p:nvSpPr>
          <p:cNvPr id="7" name="TextBox 6"/>
          <p:cNvSpPr txBox="1"/>
          <p:nvPr/>
        </p:nvSpPr>
        <p:spPr>
          <a:xfrm>
            <a:off x="1005840" y="2103120"/>
            <a:ext cx="4937760" cy="3657600"/>
          </a:xfrm>
          <a:prstGeom prst="rect">
            <a:avLst/>
          </a:prstGeom>
          <a:noFill/>
        </p:spPr>
        <p:txBody>
          <a:bodyPr wrap="square" lIns="0" tIns="0" rIns="0" bIns="0">
            <a:spAutoFit/>
          </a:bodyPr>
          <a:lstStyle/>
          <a:p>
            <a:pPr>
              <a:spcAft>
                <a:spcPts val="1000"/>
              </a:spcAft>
              <a:defRPr sz="1400">
                <a:solidFill>
                  <a:srgbClr val="E2E8F0"/>
                </a:solidFill>
                <a:latin typeface="Segoe UI"/>
              </a:defRPr>
            </a:pPr>
            <a:r>
              <a:t>Fleet Costs Dominate: Adding a single vehicle incurs fixed labor, capital overhead, and licensing costs equivalent to 10x to 50x the variable fuel cost of marginal travel distance changes.</a:t>
            </a:r>
          </a:p>
          <a:p>
            <a:pPr>
              <a:spcAft>
                <a:spcPts val="1000"/>
              </a:spcAft>
              <a:defRPr sz="1400">
                <a:solidFill>
                  <a:srgbClr val="E2E8F0"/>
                </a:solidFill>
                <a:latin typeface="Segoe UI"/>
              </a:defRPr>
            </a:pPr>
            <a:r>
              <a:t>Lexicographical Entrapment: Standard algorithms trade vehicle count (increasing fleet size) to yield a slightly lower travel distance, causing 'fleet inflation'.</a:t>
            </a:r>
          </a:p>
          <a:p>
            <a:pPr>
              <a:spcAft>
                <a:spcPts val="1000"/>
              </a:spcAft>
              <a:defRPr sz="1400">
                <a:solidFill>
                  <a:srgbClr val="E2E8F0"/>
                </a:solidFill>
                <a:latin typeface="Segoe UI"/>
              </a:defRPr>
            </a:pPr>
            <a:r>
              <a:t>Actionable Tooling Needs: Dispatch operators require interactive telemetry, low-latency Gantt diagrams and map rendering to manage live deliveries instead of plain solver console text.</a:t>
            </a:r>
          </a:p>
        </p:txBody>
      </p:sp>
      <p:sp>
        <p:nvSpPr>
          <p:cNvPr id="8" name="Rounded Rectangle 7"/>
          <p:cNvSpPr/>
          <p:nvPr/>
        </p:nvSpPr>
        <p:spPr>
          <a:xfrm>
            <a:off x="6492240" y="1463040"/>
            <a:ext cx="2286000" cy="1371600"/>
          </a:xfrm>
          <a:prstGeom prst="roundRect">
            <a:avLst/>
          </a:prstGeom>
          <a:solidFill>
            <a:srgbClr val="1E293B"/>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45920"/>
            <a:ext cx="2286000" cy="548640"/>
          </a:xfrm>
          <a:prstGeom prst="rect">
            <a:avLst/>
          </a:prstGeom>
          <a:noFill/>
        </p:spPr>
        <p:txBody>
          <a:bodyPr wrap="square">
            <a:spAutoFit/>
          </a:bodyPr>
          <a:lstStyle/>
          <a:p>
            <a:pPr algn="ctr">
              <a:defRPr sz="2800" b="1">
                <a:solidFill>
                  <a:srgbClr val="00B4D8"/>
                </a:solidFill>
                <a:latin typeface="Segoe UI"/>
              </a:defRPr>
            </a:pPr>
            <a:r>
              <a:t>$10,000+</a:t>
            </a:r>
          </a:p>
        </p:txBody>
      </p:sp>
      <p:sp>
        <p:nvSpPr>
          <p:cNvPr id="10" name="TextBox 9"/>
          <p:cNvSpPr txBox="1"/>
          <p:nvPr/>
        </p:nvSpPr>
        <p:spPr>
          <a:xfrm>
            <a:off x="6492240" y="2194560"/>
            <a:ext cx="2286000" cy="365760"/>
          </a:xfrm>
          <a:prstGeom prst="rect">
            <a:avLst/>
          </a:prstGeom>
          <a:noFill/>
        </p:spPr>
        <p:txBody>
          <a:bodyPr wrap="square">
            <a:spAutoFit/>
          </a:bodyPr>
          <a:lstStyle/>
          <a:p>
            <a:pPr algn="ctr">
              <a:defRPr sz="900" b="1">
                <a:solidFill>
                  <a:srgbClr val="94A3B8"/>
                </a:solidFill>
                <a:latin typeface="Segoe UI"/>
              </a:defRPr>
            </a:pPr>
            <a:r>
              <a:t>FIXED COST / MONTH</a:t>
            </a:r>
          </a:p>
        </p:txBody>
      </p:sp>
      <p:sp>
        <p:nvSpPr>
          <p:cNvPr id="11" name="Rounded Rectangle 10"/>
          <p:cNvSpPr/>
          <p:nvPr/>
        </p:nvSpPr>
        <p:spPr>
          <a:xfrm>
            <a:off x="9144000" y="1463040"/>
            <a:ext cx="2286000" cy="1371600"/>
          </a:xfrm>
          <a:prstGeom prst="roundRect">
            <a:avLst/>
          </a:prstGeom>
          <a:solidFill>
            <a:srgbClr val="1E293B"/>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0" y="1645920"/>
            <a:ext cx="2286000" cy="548640"/>
          </a:xfrm>
          <a:prstGeom prst="rect">
            <a:avLst/>
          </a:prstGeom>
          <a:noFill/>
        </p:spPr>
        <p:txBody>
          <a:bodyPr wrap="square">
            <a:spAutoFit/>
          </a:bodyPr>
          <a:lstStyle/>
          <a:p>
            <a:pPr algn="ctr">
              <a:defRPr sz="2800" b="1">
                <a:solidFill>
                  <a:srgbClr val="00B4D8"/>
                </a:solidFill>
                <a:latin typeface="Segoe UI"/>
              </a:defRPr>
            </a:pPr>
            <a:r>
              <a:t>10x - 50x</a:t>
            </a:r>
          </a:p>
        </p:txBody>
      </p:sp>
      <p:sp>
        <p:nvSpPr>
          <p:cNvPr id="13" name="TextBox 12"/>
          <p:cNvSpPr txBox="1"/>
          <p:nvPr/>
        </p:nvSpPr>
        <p:spPr>
          <a:xfrm>
            <a:off x="9144000" y="2194560"/>
            <a:ext cx="2286000" cy="365760"/>
          </a:xfrm>
          <a:prstGeom prst="rect">
            <a:avLst/>
          </a:prstGeom>
          <a:noFill/>
        </p:spPr>
        <p:txBody>
          <a:bodyPr wrap="square">
            <a:spAutoFit/>
          </a:bodyPr>
          <a:lstStyle/>
          <a:p>
            <a:pPr algn="ctr">
              <a:defRPr sz="900" b="1">
                <a:solidFill>
                  <a:srgbClr val="94A3B8"/>
                </a:solidFill>
                <a:latin typeface="Segoe UI"/>
              </a:defRPr>
            </a:pPr>
            <a:r>
              <a:t>SAVINGS FACTOR / VEHICLE</a:t>
            </a:r>
          </a:p>
        </p:txBody>
      </p:sp>
      <p:sp>
        <p:nvSpPr>
          <p:cNvPr id="14" name="Rounded Rectangle 13"/>
          <p:cNvSpPr/>
          <p:nvPr/>
        </p:nvSpPr>
        <p:spPr>
          <a:xfrm>
            <a:off x="6492240" y="3108960"/>
            <a:ext cx="4937760" cy="292608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3291840"/>
            <a:ext cx="4389120" cy="2560320"/>
          </a:xfrm>
          <a:prstGeom prst="rect">
            <a:avLst/>
          </a:prstGeom>
          <a:noFill/>
        </p:spPr>
        <p:txBody>
          <a:bodyPr wrap="square" lIns="0" tIns="0" rIns="0" bIns="0">
            <a:spAutoFit/>
          </a:bodyPr>
          <a:lstStyle/>
          <a:p>
            <a:pPr>
              <a:spcAft>
                <a:spcPts val="1200"/>
              </a:spcAft>
              <a:defRPr sz="1800" b="1">
                <a:solidFill>
                  <a:srgbClr val="EF4444"/>
                </a:solidFill>
                <a:latin typeface="Segoe UI"/>
              </a:defRPr>
            </a:pPr>
            <a:r>
              <a:t>⚠ The "Fleet Inflation" Trap</a:t>
            </a:r>
          </a:p>
          <a:p>
            <a:pPr>
              <a:defRPr sz="1300">
                <a:solidFill>
                  <a:srgbClr val="E2E8F0"/>
                </a:solidFill>
                <a:latin typeface="Segoe UI"/>
              </a:defRPr>
            </a:pPr>
            <a:r>
              <a:t>Traditional metaheuristics optimize scalar values: Cost = alpha * NV + beta * TD.</a:t>
            </a:r>
            <a:br/>
            <a:br/>
            <a:r>
              <a:t>If alpha is set too low relative to time bounds, the algorithm sacrifices vehicle bounds to optimize travel coordinates. Our hybrid model separates these objectives strictly.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LITERATURE REVIEW</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Related Work &amp; Research Gaps</a:t>
            </a:r>
          </a:p>
        </p:txBody>
      </p:sp>
      <p:sp>
        <p:nvSpPr>
          <p:cNvPr id="5" name="Rounded Rectangle 4"/>
          <p:cNvSpPr/>
          <p:nvPr/>
        </p:nvSpPr>
        <p:spPr>
          <a:xfrm>
            <a:off x="731520" y="1463040"/>
            <a:ext cx="1069848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10149840" cy="457200"/>
          </a:xfrm>
          <a:prstGeom prst="rect">
            <a:avLst/>
          </a:prstGeom>
          <a:noFill/>
        </p:spPr>
        <p:txBody>
          <a:bodyPr wrap="square" lIns="0" tIns="0" rIns="0" bIns="0">
            <a:spAutoFit/>
          </a:bodyPr>
          <a:lstStyle/>
          <a:p>
            <a:pPr>
              <a:defRPr sz="1800" b="1">
                <a:solidFill>
                  <a:srgbClr val="FFFFFF"/>
                </a:solidFill>
                <a:latin typeface="Segoe UI"/>
              </a:defRPr>
            </a:pPr>
            <a:r>
              <a:t>Comparative Analysis of VRP Methodologies</a:t>
            </a:r>
          </a:p>
        </p:txBody>
      </p:sp>
      <p:graphicFrame>
        <p:nvGraphicFramePr>
          <p:cNvPr id="7" name="Table 6"/>
          <p:cNvGraphicFramePr>
            <a:graphicFrameLocks noGrp="1"/>
          </p:cNvGraphicFramePr>
          <p:nvPr/>
        </p:nvGraphicFramePr>
        <p:xfrm>
          <a:off x="1005840" y="2103120"/>
          <a:ext cx="10149840" cy="2743200"/>
        </p:xfrm>
        <a:graphic>
          <a:graphicData uri="http://schemas.openxmlformats.org/drawingml/2006/table">
            <a:tbl>
              <a:tblPr firstRow="1" bandRow="1">
                <a:tableStyleId>{5C22544A-7EE6-4342-B048-85BDC9FD1C3A}</a:tableStyleId>
              </a:tblPr>
              <a:tblGrid>
                <a:gridCol w="2029968"/>
                <a:gridCol w="2029968"/>
                <a:gridCol w="2029968"/>
                <a:gridCol w="2029968"/>
                <a:gridCol w="2029968"/>
              </a:tblGrid>
              <a:tr h="685800">
                <a:tc>
                  <a:txBody>
                    <a:bodyPr/>
                    <a:lstStyle/>
                    <a:p>
                      <a:pPr algn="ctr">
                        <a:defRPr sz="1300" b="1">
                          <a:solidFill>
                            <a:srgbClr val="FFFFFF"/>
                          </a:solidFill>
                          <a:latin typeface="Segoe UI"/>
                        </a:defRPr>
                      </a:pPr>
                      <a:r>
                        <a:t>Methodology</a:t>
                      </a:r>
                    </a:p>
                  </a:txBody>
                  <a:tcPr>
                    <a:solidFill>
                      <a:srgbClr val="0F172A"/>
                    </a:solidFill>
                  </a:tcPr>
                </a:tc>
                <a:tc>
                  <a:txBody>
                    <a:bodyPr/>
                    <a:lstStyle/>
                    <a:p>
                      <a:pPr algn="ctr">
                        <a:defRPr sz="1300" b="1">
                          <a:solidFill>
                            <a:srgbClr val="FFFFFF"/>
                          </a:solidFill>
                          <a:latin typeface="Segoe UI"/>
                        </a:defRPr>
                      </a:pPr>
                      <a:r>
                        <a:t>Constraint Feasibility</a:t>
                      </a:r>
                    </a:p>
                  </a:txBody>
                  <a:tcPr>
                    <a:solidFill>
                      <a:srgbClr val="0F172A"/>
                    </a:solidFill>
                  </a:tcPr>
                </a:tc>
                <a:tc>
                  <a:txBody>
                    <a:bodyPr/>
                    <a:lstStyle/>
                    <a:p>
                      <a:pPr algn="ctr">
                        <a:defRPr sz="1300" b="1">
                          <a:solidFill>
                            <a:srgbClr val="FFFFFF"/>
                          </a:solidFill>
                          <a:latin typeface="Segoe UI"/>
                        </a:defRPr>
                      </a:pPr>
                      <a:r>
                        <a:t>Scaling Capabilities</a:t>
                      </a:r>
                    </a:p>
                  </a:txBody>
                  <a:tcPr>
                    <a:solidFill>
                      <a:srgbClr val="0F172A"/>
                    </a:solidFill>
                  </a:tcPr>
                </a:tc>
                <a:tc>
                  <a:txBody>
                    <a:bodyPr/>
                    <a:lstStyle/>
                    <a:p>
                      <a:pPr algn="ctr">
                        <a:defRPr sz="1300" b="1">
                          <a:solidFill>
                            <a:srgbClr val="FFFFFF"/>
                          </a:solidFill>
                          <a:latin typeface="Segoe UI"/>
                        </a:defRPr>
                      </a:pPr>
                      <a:r>
                        <a:t>Search Adaptability</a:t>
                      </a:r>
                    </a:p>
                  </a:txBody>
                  <a:tcPr>
                    <a:solidFill>
                      <a:srgbClr val="0F172A"/>
                    </a:solidFill>
                  </a:tcPr>
                </a:tc>
                <a:tc>
                  <a:txBody>
                    <a:bodyPr/>
                    <a:lstStyle/>
                    <a:p>
                      <a:pPr algn="ctr">
                        <a:defRPr sz="1300" b="1">
                          <a:solidFill>
                            <a:srgbClr val="FFFFFF"/>
                          </a:solidFill>
                          <a:latin typeface="Segoe UI"/>
                        </a:defRPr>
                      </a:pPr>
                      <a:r>
                        <a:t>Objective Priority</a:t>
                      </a:r>
                    </a:p>
                  </a:txBody>
                  <a:tcPr>
                    <a:solidFill>
                      <a:srgbClr val="0F172A"/>
                    </a:solidFill>
                  </a:tcPr>
                </a:tc>
              </a:tr>
              <a:tr h="685800">
                <a:tc>
                  <a:txBody>
                    <a:bodyPr/>
                    <a:lstStyle/>
                    <a:p>
                      <a:pPr algn="ctr">
                        <a:defRPr sz="1200">
                          <a:solidFill>
                            <a:srgbClr val="E2E8F0"/>
                          </a:solidFill>
                          <a:latin typeface="Segoe UI"/>
                        </a:defRPr>
                      </a:pPr>
                      <a:r>
                        <a:t>Classical Heuristics (ALNS, TS)</a:t>
                      </a:r>
                    </a:p>
                  </a:txBody>
                  <a:tcPr>
                    <a:solidFill>
                      <a:srgbClr val="1E293B"/>
                    </a:solidFill>
                  </a:tcPr>
                </a:tc>
                <a:tc>
                  <a:txBody>
                    <a:bodyPr/>
                    <a:lstStyle/>
                    <a:p>
                      <a:pPr algn="ctr">
                        <a:defRPr sz="1200">
                          <a:solidFill>
                            <a:srgbClr val="E2E8F0"/>
                          </a:solidFill>
                          <a:latin typeface="Segoe UI"/>
                        </a:defRPr>
                      </a:pPr>
                      <a:r>
                        <a:t>100% Guaranteed</a:t>
                      </a:r>
                    </a:p>
                  </a:txBody>
                  <a:tcPr>
                    <a:solidFill>
                      <a:srgbClr val="1E293B"/>
                    </a:solidFill>
                  </a:tcPr>
                </a:tc>
                <a:tc>
                  <a:txBody>
                    <a:bodyPr/>
                    <a:lstStyle/>
                    <a:p>
                      <a:pPr algn="ctr">
                        <a:defRPr sz="1200">
                          <a:solidFill>
                            <a:srgbClr val="E2E8F0"/>
                          </a:solidFill>
                          <a:latin typeface="Segoe UI"/>
                        </a:defRPr>
                      </a:pPr>
                      <a:r>
                        <a:t>High (1000+ nodes)</a:t>
                      </a:r>
                    </a:p>
                  </a:txBody>
                  <a:tcPr>
                    <a:solidFill>
                      <a:srgbClr val="1E293B"/>
                    </a:solidFill>
                  </a:tcPr>
                </a:tc>
                <a:tc>
                  <a:txBody>
                    <a:bodyPr/>
                    <a:lstStyle/>
                    <a:p>
                      <a:pPr algn="ctr">
                        <a:defRPr sz="1200">
                          <a:solidFill>
                            <a:srgbClr val="E2E8F0"/>
                          </a:solidFill>
                          <a:latin typeface="Segoe UI"/>
                        </a:defRPr>
                      </a:pPr>
                      <a:r>
                        <a:t>Low (Static Rules)</a:t>
                      </a:r>
                    </a:p>
                  </a:txBody>
                  <a:tcPr>
                    <a:solidFill>
                      <a:srgbClr val="1E293B"/>
                    </a:solidFill>
                  </a:tcPr>
                </a:tc>
                <a:tc>
                  <a:txBody>
                    <a:bodyPr/>
                    <a:lstStyle/>
                    <a:p>
                      <a:pPr algn="ctr">
                        <a:defRPr sz="1200">
                          <a:solidFill>
                            <a:srgbClr val="E2E8F0"/>
                          </a:solidFill>
                          <a:latin typeface="Segoe UI"/>
                        </a:defRPr>
                      </a:pPr>
                      <a:r>
                        <a:t>Scalar Weighted Cost</a:t>
                      </a:r>
                    </a:p>
                  </a:txBody>
                  <a:tcPr>
                    <a:solidFill>
                      <a:srgbClr val="1E293B"/>
                    </a:solidFill>
                  </a:tcPr>
                </a:tc>
              </a:tr>
              <a:tr h="685800">
                <a:tc>
                  <a:txBody>
                    <a:bodyPr/>
                    <a:lstStyle/>
                    <a:p>
                      <a:pPr algn="ctr">
                        <a:defRPr sz="1200">
                          <a:solidFill>
                            <a:srgbClr val="E2E8F0"/>
                          </a:solidFill>
                          <a:latin typeface="Segoe UI"/>
                        </a:defRPr>
                      </a:pPr>
                      <a:r>
                        <a:t>End-to-End Deep Learning</a:t>
                      </a:r>
                    </a:p>
                  </a:txBody>
                  <a:tcPr>
                    <a:solidFill>
                      <a:srgbClr val="1E293B"/>
                    </a:solidFill>
                  </a:tcPr>
                </a:tc>
                <a:tc>
                  <a:txBody>
                    <a:bodyPr/>
                    <a:lstStyle/>
                    <a:p>
                      <a:pPr algn="ctr">
                        <a:defRPr sz="1200">
                          <a:solidFill>
                            <a:srgbClr val="E2E8F0"/>
                          </a:solidFill>
                          <a:latin typeface="Segoe UI"/>
                        </a:defRPr>
                      </a:pPr>
                      <a:r>
                        <a:t>Fails on tight bounds</a:t>
                      </a:r>
                    </a:p>
                  </a:txBody>
                  <a:tcPr>
                    <a:solidFill>
                      <a:srgbClr val="1E293B"/>
                    </a:solidFill>
                  </a:tcPr>
                </a:tc>
                <a:tc>
                  <a:txBody>
                    <a:bodyPr/>
                    <a:lstStyle/>
                    <a:p>
                      <a:pPr algn="ctr">
                        <a:defRPr sz="1200">
                          <a:solidFill>
                            <a:srgbClr val="E2E8F0"/>
                          </a:solidFill>
                          <a:latin typeface="Segoe UI"/>
                        </a:defRPr>
                      </a:pPr>
                      <a:r>
                        <a:t>Poor (&lt; 100 nodes)</a:t>
                      </a:r>
                    </a:p>
                  </a:txBody>
                  <a:tcPr>
                    <a:solidFill>
                      <a:srgbClr val="1E293B"/>
                    </a:solidFill>
                  </a:tcPr>
                </a:tc>
                <a:tc>
                  <a:txBody>
                    <a:bodyPr/>
                    <a:lstStyle/>
                    <a:p>
                      <a:pPr algn="ctr">
                        <a:defRPr sz="1200">
                          <a:solidFill>
                            <a:srgbClr val="E2E8F0"/>
                          </a:solidFill>
                          <a:latin typeface="Segoe UI"/>
                        </a:defRPr>
                      </a:pPr>
                      <a:r>
                        <a:t>High (Neural)</a:t>
                      </a:r>
                    </a:p>
                  </a:txBody>
                  <a:tcPr>
                    <a:solidFill>
                      <a:srgbClr val="1E293B"/>
                    </a:solidFill>
                  </a:tcPr>
                </a:tc>
                <a:tc>
                  <a:txBody>
                    <a:bodyPr/>
                    <a:lstStyle/>
                    <a:p>
                      <a:pPr algn="ctr">
                        <a:defRPr sz="1200">
                          <a:solidFill>
                            <a:srgbClr val="E2E8F0"/>
                          </a:solidFill>
                          <a:latin typeface="Segoe UI"/>
                        </a:defRPr>
                      </a:pPr>
                      <a:r>
                        <a:t>Distance Minimization</a:t>
                      </a:r>
                    </a:p>
                  </a:txBody>
                  <a:tcPr>
                    <a:solidFill>
                      <a:srgbClr val="1E293B"/>
                    </a:solidFill>
                  </a:tcPr>
                </a:tc>
              </a:tr>
              <a:tr h="685800">
                <a:tc>
                  <a:txBody>
                    <a:bodyPr/>
                    <a:lstStyle/>
                    <a:p>
                      <a:pPr algn="ctr">
                        <a:defRPr sz="1200" b="1">
                          <a:solidFill>
                            <a:srgbClr val="F59E0B"/>
                          </a:solidFill>
                          <a:latin typeface="Segoe UI"/>
                        </a:defRPr>
                      </a:pPr>
                      <a:r>
                        <a:t>Proposed Hybrid Model</a:t>
                      </a:r>
                    </a:p>
                  </a:txBody>
                  <a:tcPr>
                    <a:solidFill>
                      <a:srgbClr val="1E293B"/>
                    </a:solidFill>
                  </a:tcPr>
                </a:tc>
                <a:tc>
                  <a:txBody>
                    <a:bodyPr/>
                    <a:lstStyle/>
                    <a:p>
                      <a:pPr algn="ctr">
                        <a:defRPr sz="1200" b="1">
                          <a:solidFill>
                            <a:srgbClr val="10B981"/>
                          </a:solidFill>
                          <a:latin typeface="Segoe UI"/>
                        </a:defRPr>
                      </a:pPr>
                      <a:r>
                        <a:t>100% Guaranteed</a:t>
                      </a:r>
                    </a:p>
                  </a:txBody>
                  <a:tcPr>
                    <a:solidFill>
                      <a:srgbClr val="1E293B"/>
                    </a:solidFill>
                  </a:tcPr>
                </a:tc>
                <a:tc>
                  <a:txBody>
                    <a:bodyPr/>
                    <a:lstStyle/>
                    <a:p>
                      <a:pPr algn="ctr">
                        <a:defRPr sz="1200" b="1">
                          <a:solidFill>
                            <a:srgbClr val="10B981"/>
                          </a:solidFill>
                          <a:latin typeface="Segoe UI"/>
                        </a:defRPr>
                      </a:pPr>
                      <a:r>
                        <a:t>High (400+ nodes)</a:t>
                      </a:r>
                    </a:p>
                  </a:txBody>
                  <a:tcPr>
                    <a:solidFill>
                      <a:srgbClr val="1E293B"/>
                    </a:solidFill>
                  </a:tcPr>
                </a:tc>
                <a:tc>
                  <a:txBody>
                    <a:bodyPr/>
                    <a:lstStyle/>
                    <a:p>
                      <a:pPr algn="ctr">
                        <a:defRPr sz="1200" b="1">
                          <a:solidFill>
                            <a:srgbClr val="10B981"/>
                          </a:solidFill>
                          <a:latin typeface="Segoe UI"/>
                        </a:defRPr>
                      </a:pPr>
                      <a:r>
                        <a:t>High (Hierarchical MDP)</a:t>
                      </a:r>
                    </a:p>
                  </a:txBody>
                  <a:tcPr>
                    <a:solidFill>
                      <a:srgbClr val="1E293B"/>
                    </a:solidFill>
                  </a:tcPr>
                </a:tc>
                <a:tc>
                  <a:txBody>
                    <a:bodyPr/>
                    <a:lstStyle/>
                    <a:p>
                      <a:pPr algn="ctr">
                        <a:defRPr sz="1200" b="1">
                          <a:solidFill>
                            <a:srgbClr val="00B4D8"/>
                          </a:solidFill>
                          <a:latin typeface="Segoe UI"/>
                        </a:defRPr>
                      </a:pPr>
                      <a:r>
                        <a:t>Lexicographical Primary</a:t>
                      </a:r>
                    </a:p>
                  </a:txBody>
                  <a:tcPr>
                    <a:solidFill>
                      <a:srgbClr val="1E293B"/>
                    </a:solidFill>
                  </a:tcPr>
                </a:tc>
              </a:tr>
            </a:tbl>
          </a:graphicData>
        </a:graphic>
      </p:graphicFrame>
      <p:sp>
        <p:nvSpPr>
          <p:cNvPr id="8" name="TextBox 7"/>
          <p:cNvSpPr txBox="1"/>
          <p:nvPr/>
        </p:nvSpPr>
        <p:spPr>
          <a:xfrm>
            <a:off x="1005840" y="5120640"/>
            <a:ext cx="10149840" cy="731520"/>
          </a:xfrm>
          <a:prstGeom prst="rect">
            <a:avLst/>
          </a:prstGeom>
          <a:noFill/>
        </p:spPr>
        <p:txBody>
          <a:bodyPr wrap="square">
            <a:spAutoFit/>
          </a:bodyPr>
          <a:lstStyle/>
          <a:p>
            <a:pPr>
              <a:defRPr i="1" b="1" sz="1400">
                <a:solidFill>
                  <a:srgbClr val="F59E0B"/>
                </a:solidFill>
                <a:latin typeface="Segoe UI"/>
              </a:defRPr>
            </a:pPr>
            <a:r>
              <a:t>The Core Research Gap: How can we coordinate a mathematically robust search that maintains 100% operational feasibility while utilizing neural network policies to govern destroy-repair transitions?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METHODOLOGY</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Hierarchical MDP Solver Core</a:t>
            </a:r>
          </a:p>
        </p:txBody>
      </p:sp>
      <p:sp>
        <p:nvSpPr>
          <p:cNvPr id="5" name="Rounded Rectangle 4"/>
          <p:cNvSpPr/>
          <p:nvPr/>
        </p:nvSpPr>
        <p:spPr>
          <a:xfrm>
            <a:off x="731520" y="1463040"/>
            <a:ext cx="548640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937760" cy="457200"/>
          </a:xfrm>
          <a:prstGeom prst="rect">
            <a:avLst/>
          </a:prstGeom>
          <a:noFill/>
        </p:spPr>
        <p:txBody>
          <a:bodyPr wrap="square" lIns="0" tIns="0" rIns="0" bIns="0">
            <a:spAutoFit/>
          </a:bodyPr>
          <a:lstStyle/>
          <a:p>
            <a:pPr>
              <a:defRPr sz="1800" b="1">
                <a:solidFill>
                  <a:srgbClr val="FFFFFF"/>
                </a:solidFill>
                <a:latin typeface="Segoe UI"/>
              </a:defRPr>
            </a:pPr>
            <a:r>
              <a:t>Dual-Level Decision Process</a:t>
            </a:r>
          </a:p>
        </p:txBody>
      </p:sp>
      <p:sp>
        <p:nvSpPr>
          <p:cNvPr id="7" name="TextBox 6"/>
          <p:cNvSpPr txBox="1"/>
          <p:nvPr/>
        </p:nvSpPr>
        <p:spPr>
          <a:xfrm>
            <a:off x="1005840" y="2103120"/>
            <a:ext cx="4937760" cy="3657600"/>
          </a:xfrm>
          <a:prstGeom prst="rect">
            <a:avLst/>
          </a:prstGeom>
          <a:noFill/>
        </p:spPr>
        <p:txBody>
          <a:bodyPr wrap="square" lIns="0" tIns="0" rIns="0" bIns="0">
            <a:spAutoFit/>
          </a:bodyPr>
          <a:lstStyle/>
          <a:p>
            <a:pPr>
              <a:spcAft>
                <a:spcPts val="1000"/>
              </a:spcAft>
              <a:defRPr sz="1300">
                <a:solidFill>
                  <a:srgbClr val="E2E8F0"/>
                </a:solidFill>
                <a:latin typeface="Segoe UI"/>
              </a:defRPr>
            </a:pPr>
            <a:r>
              <a:t>Macro-Level (Plateau Controller):</a:t>
            </a:r>
          </a:p>
          <a:p>
            <a:pPr lvl="1">
              <a:spcAft>
                <a:spcPts val="1000"/>
              </a:spcAft>
              <a:defRPr sz="1300">
                <a:solidFill>
                  <a:srgbClr val="E2E8F0"/>
                </a:solidFill>
                <a:latin typeface="Segoe UI"/>
              </a:defRPr>
            </a:pPr>
            <a:r>
              <a:t>Monitors solver convergence. Triggers if search stagnates for 60 iterations.</a:t>
            </a:r>
          </a:p>
          <a:p>
            <a:pPr lvl="1">
              <a:spcAft>
                <a:spcPts val="1000"/>
              </a:spcAft>
              <a:defRPr sz="1300">
                <a:solidFill>
                  <a:srgbClr val="E2E8F0"/>
                </a:solidFill>
                <a:latin typeface="Segoe UI"/>
              </a:defRPr>
            </a:pPr>
            <a:r>
              <a:t>Observes state s_t_c in R_12; selects search regime goal mode m_t in {Intensify, Diversify, TW-Rescue, Recombine, Reduce}.</a:t>
            </a:r>
          </a:p>
          <a:p>
            <a:pPr>
              <a:spcAft>
                <a:spcPts val="1000"/>
              </a:spcAft>
              <a:defRPr sz="1300">
                <a:solidFill>
                  <a:srgbClr val="E2E8F0"/>
                </a:solidFill>
                <a:latin typeface="Segoe UI"/>
              </a:defRPr>
            </a:pPr>
            <a:r>
              <a:t>Micro-Level (Operator Controller):</a:t>
            </a:r>
          </a:p>
          <a:p>
            <a:pPr lvl="1">
              <a:spcAft>
                <a:spcPts val="1000"/>
              </a:spcAft>
              <a:defRPr sz="1300">
                <a:solidFill>
                  <a:srgbClr val="E2E8F0"/>
                </a:solidFill>
                <a:latin typeface="Segoe UI"/>
              </a:defRPr>
            </a:pPr>
            <a:r>
              <a:t>Triggers at every search step. Observes state s_t_o in R_15.</a:t>
            </a:r>
          </a:p>
          <a:p>
            <a:pPr lvl="1">
              <a:spcAft>
                <a:spcPts val="1000"/>
              </a:spcAft>
              <a:defRPr sz="1300">
                <a:solidFill>
                  <a:srgbClr val="E2E8F0"/>
                </a:solidFill>
                <a:latin typeface="Segoe UI"/>
              </a:defRPr>
            </a:pPr>
            <a:r>
              <a:t>Selects destroy-repair operator pair a_t in {0, ..., 54}.</a:t>
            </a:r>
          </a:p>
          <a:p>
            <a:pPr>
              <a:spcAft>
                <a:spcPts val="1000"/>
              </a:spcAft>
              <a:defRPr sz="1300">
                <a:solidFill>
                  <a:srgbClr val="E2E8F0"/>
                </a:solidFill>
                <a:latin typeface="Segoe UI"/>
              </a:defRPr>
            </a:pPr>
            <a:r>
              <a:t>Thompson Bandit Integration: Decays and balances operator likelihoods dynamically based on real-time success feedback.</a:t>
            </a:r>
          </a:p>
        </p:txBody>
      </p:sp>
      <p:sp>
        <p:nvSpPr>
          <p:cNvPr id="8" name="Rounded Rectangle 7"/>
          <p:cNvSpPr/>
          <p:nvPr/>
        </p:nvSpPr>
        <p:spPr>
          <a:xfrm>
            <a:off x="6492240" y="1463040"/>
            <a:ext cx="493776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737360"/>
            <a:ext cx="4389120" cy="457200"/>
          </a:xfrm>
          <a:prstGeom prst="rect">
            <a:avLst/>
          </a:prstGeom>
          <a:noFill/>
        </p:spPr>
        <p:txBody>
          <a:bodyPr wrap="square" lIns="0" tIns="0" rIns="0" bIns="0">
            <a:spAutoFit/>
          </a:bodyPr>
          <a:lstStyle/>
          <a:p>
            <a:pPr>
              <a:defRPr sz="1800" b="1">
                <a:solidFill>
                  <a:srgbClr val="FFFFFF"/>
                </a:solidFill>
                <a:latin typeface="Segoe UI"/>
              </a:defRPr>
            </a:pPr>
            <a:r>
              <a:t>Hierarchical Information Flow</a:t>
            </a:r>
          </a:p>
        </p:txBody>
      </p:sp>
      <p:sp>
        <p:nvSpPr>
          <p:cNvPr id="10" name="Rounded Rectangle 9"/>
          <p:cNvSpPr/>
          <p:nvPr/>
        </p:nvSpPr>
        <p:spPr>
          <a:xfrm>
            <a:off x="6858000" y="2011680"/>
            <a:ext cx="4206240" cy="8229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2103120"/>
            <a:ext cx="4206240" cy="640080"/>
          </a:xfrm>
          <a:prstGeom prst="rect">
            <a:avLst/>
          </a:prstGeom>
          <a:noFill/>
        </p:spPr>
        <p:txBody>
          <a:bodyPr wrap="square">
            <a:spAutoFit/>
          </a:bodyPr>
          <a:lstStyle/>
          <a:p>
            <a:pPr algn="ctr">
              <a:defRPr sz="1400" b="1">
                <a:solidFill>
                  <a:srgbClr val="FFFFFF"/>
                </a:solidFill>
                <a:latin typeface="Segoe UI"/>
              </a:defRPr>
            </a:pPr>
            <a:r>
              <a:t>Plateau Controller (Macro DDQN)</a:t>
            </a:r>
          </a:p>
          <a:p>
            <a:pPr algn="ctr">
              <a:defRPr sz="1100">
                <a:solidFill>
                  <a:srgbClr val="F59E0B"/>
                </a:solidFill>
                <a:latin typeface="Segoe UI"/>
              </a:defRPr>
            </a:pPr>
            <a:r>
              <a:t>Monitors Stagnation | State s_t_c (12D)</a:t>
            </a:r>
          </a:p>
        </p:txBody>
      </p:sp>
      <p:cxnSp>
        <p:nvCxnSpPr>
          <p:cNvPr id="12" name="Connector 11"/>
          <p:cNvCxnSpPr/>
          <p:nvPr/>
        </p:nvCxnSpPr>
        <p:spPr>
          <a:xfrm>
            <a:off x="8961120" y="2834640"/>
            <a:ext cx="0" cy="54864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858000" y="3383280"/>
            <a:ext cx="4206240" cy="822960"/>
          </a:xfrm>
          <a:prstGeom prst="roundRect">
            <a:avLst/>
          </a:prstGeom>
          <a:solidFill>
            <a:srgbClr val="1E293B"/>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3474720"/>
            <a:ext cx="4206240" cy="640080"/>
          </a:xfrm>
          <a:prstGeom prst="rect">
            <a:avLst/>
          </a:prstGeom>
          <a:noFill/>
        </p:spPr>
        <p:txBody>
          <a:bodyPr wrap="square">
            <a:spAutoFit/>
          </a:bodyPr>
          <a:lstStyle/>
          <a:p>
            <a:pPr algn="ctr">
              <a:defRPr sz="1400" b="1">
                <a:solidFill>
                  <a:srgbClr val="FFFFFF"/>
                </a:solidFill>
                <a:latin typeface="Segoe UI"/>
              </a:defRPr>
            </a:pPr>
            <a:r>
              <a:t>Operator Controller (Micro DDQN)</a:t>
            </a:r>
          </a:p>
          <a:p>
            <a:pPr algn="ctr">
              <a:defRPr sz="1100">
                <a:solidFill>
                  <a:srgbClr val="00B4D8"/>
                </a:solidFill>
                <a:latin typeface="Segoe UI"/>
              </a:defRPr>
            </a:pPr>
            <a:r>
              <a:t>Selects Heuristics | State s_t_o (15D)</a:t>
            </a:r>
          </a:p>
        </p:txBody>
      </p:sp>
      <p:cxnSp>
        <p:nvCxnSpPr>
          <p:cNvPr id="15" name="Connector 14"/>
          <p:cNvCxnSpPr/>
          <p:nvPr/>
        </p:nvCxnSpPr>
        <p:spPr>
          <a:xfrm>
            <a:off x="8961120" y="4206240"/>
            <a:ext cx="0" cy="548640"/>
          </a:xfrm>
          <a:prstGeom prst="line">
            <a:avLst/>
          </a:prstGeom>
          <a:ln w="25400">
            <a:solidFill>
              <a:srgbClr val="00B4D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223760" y="4754880"/>
            <a:ext cx="3474720" cy="731520"/>
          </a:xfrm>
          <a:prstGeom prst="roundRect">
            <a:avLst/>
          </a:prstGeom>
          <a:solidFill>
            <a:srgbClr val="1E293B"/>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4937760"/>
            <a:ext cx="3474720" cy="457200"/>
          </a:xfrm>
          <a:prstGeom prst="rect">
            <a:avLst/>
          </a:prstGeom>
          <a:noFill/>
        </p:spPr>
        <p:txBody>
          <a:bodyPr wrap="none">
            <a:spAutoFit/>
          </a:bodyPr>
          <a:lstStyle/>
          <a:p>
            <a:pPr algn="ctr">
              <a:defRPr sz="1400" b="1">
                <a:solidFill>
                  <a:srgbClr val="FFFFFF"/>
                </a:solidFill>
                <a:latin typeface="Segoe UI"/>
              </a:defRPr>
            </a:pPr>
            <a:r>
              <a:t>ALNS Local Search Loop</a:t>
            </a:r>
          </a:p>
        </p:txBody>
      </p:sp>
      <p:sp>
        <p:nvSpPr>
          <p:cNvPr id="18" name="TextBox 17"/>
          <p:cNvSpPr txBox="1"/>
          <p:nvPr/>
        </p:nvSpPr>
        <p:spPr>
          <a:xfrm>
            <a:off x="9144000" y="2926080"/>
            <a:ext cx="1828800" cy="365760"/>
          </a:xfrm>
          <a:prstGeom prst="rect">
            <a:avLst/>
          </a:prstGeom>
          <a:noFill/>
        </p:spPr>
        <p:txBody>
          <a:bodyPr wrap="none">
            <a:spAutoFit/>
          </a:bodyPr>
          <a:lstStyle/>
          <a:p>
            <a:pPr>
              <a:defRPr sz="1100">
                <a:solidFill>
                  <a:srgbClr val="F59E0B"/>
                </a:solidFill>
              </a:defRPr>
            </a:pPr>
            <a:r>
              <a:t>m_t (Mode)</a:t>
            </a:r>
          </a:p>
        </p:txBody>
      </p:sp>
      <p:sp>
        <p:nvSpPr>
          <p:cNvPr id="19" name="TextBox 18"/>
          <p:cNvSpPr txBox="1"/>
          <p:nvPr/>
        </p:nvSpPr>
        <p:spPr>
          <a:xfrm>
            <a:off x="9144000" y="4297680"/>
            <a:ext cx="1828800" cy="365760"/>
          </a:xfrm>
          <a:prstGeom prst="rect">
            <a:avLst/>
          </a:prstGeom>
          <a:noFill/>
        </p:spPr>
        <p:txBody>
          <a:bodyPr wrap="none">
            <a:spAutoFit/>
          </a:bodyPr>
          <a:lstStyle/>
          <a:p>
            <a:pPr>
              <a:defRPr sz="1100">
                <a:solidFill>
                  <a:srgbClr val="00B4D8"/>
                </a:solidFill>
              </a:defRPr>
            </a:pPr>
            <a:r>
              <a:t>a_t (Operators)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METHODOLOGY</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Set Partitioning Route Recombination</a:t>
            </a:r>
          </a:p>
        </p:txBody>
      </p:sp>
      <p:sp>
        <p:nvSpPr>
          <p:cNvPr id="5" name="Rounded Rectangle 4"/>
          <p:cNvSpPr/>
          <p:nvPr/>
        </p:nvSpPr>
        <p:spPr>
          <a:xfrm>
            <a:off x="731520" y="1463040"/>
            <a:ext cx="548640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937760" cy="457200"/>
          </a:xfrm>
          <a:prstGeom prst="rect">
            <a:avLst/>
          </a:prstGeom>
          <a:noFill/>
        </p:spPr>
        <p:txBody>
          <a:bodyPr wrap="square" lIns="0" tIns="0" rIns="0" bIns="0">
            <a:spAutoFit/>
          </a:bodyPr>
          <a:lstStyle/>
          <a:p>
            <a:pPr>
              <a:defRPr sz="1800" b="1">
                <a:solidFill>
                  <a:srgbClr val="FFFFFF"/>
                </a:solidFill>
                <a:latin typeface="Segoe UI"/>
              </a:defRPr>
            </a:pPr>
            <a:r>
              <a:t>Neural Acceptance &amp; Hybrid Optimization</a:t>
            </a:r>
          </a:p>
        </p:txBody>
      </p:sp>
      <p:sp>
        <p:nvSpPr>
          <p:cNvPr id="7" name="TextBox 6"/>
          <p:cNvSpPr txBox="1"/>
          <p:nvPr/>
        </p:nvSpPr>
        <p:spPr>
          <a:xfrm>
            <a:off x="1005840" y="2103120"/>
            <a:ext cx="4937760" cy="3657600"/>
          </a:xfrm>
          <a:prstGeom prst="rect">
            <a:avLst/>
          </a:prstGeom>
          <a:noFill/>
        </p:spPr>
        <p:txBody>
          <a:bodyPr wrap="square" lIns="0" tIns="0" rIns="0" bIns="0">
            <a:spAutoFit/>
          </a:bodyPr>
          <a:lstStyle/>
          <a:p>
            <a:pPr>
              <a:spcAft>
                <a:spcPts val="1000"/>
              </a:spcAft>
              <a:defRPr sz="1200">
                <a:solidFill>
                  <a:srgbClr val="E2E8F0"/>
                </a:solidFill>
                <a:latin typeface="Segoe UI"/>
              </a:defRPr>
            </a:pPr>
            <a:r>
              <a:t>Learned Acceptance Criterion (LAC):</a:t>
            </a:r>
          </a:p>
          <a:p>
            <a:pPr lvl="1">
              <a:spcAft>
                <a:spcPts val="1000"/>
              </a:spcAft>
              <a:defRPr sz="1200">
                <a:solidFill>
                  <a:srgbClr val="E2E8F0"/>
                </a:solidFill>
                <a:latin typeface="Segoe UI"/>
              </a:defRPr>
            </a:pPr>
            <a:r>
              <a:t>Replaces traditional, static Simulated Annealing (SA) criteria.</a:t>
            </a:r>
          </a:p>
          <a:p>
            <a:pPr lvl="1">
              <a:spcAft>
                <a:spcPts val="1000"/>
              </a:spcAft>
              <a:defRPr sz="1200">
                <a:solidFill>
                  <a:srgbClr val="E2E8F0"/>
                </a:solidFill>
                <a:latin typeface="Segoe UI"/>
              </a:defRPr>
            </a:pPr>
            <a:r>
              <a:t>Classifier network trained via online hindsight labels: predicts whether accepting a degraded search move is likely to lead to downstream improvements within horizon H = 80.</a:t>
            </a:r>
          </a:p>
          <a:p>
            <a:pPr>
              <a:spcAft>
                <a:spcPts val="1000"/>
              </a:spcAft>
              <a:defRPr sz="1200">
                <a:solidFill>
                  <a:srgbClr val="E2E8F0"/>
                </a:solidFill>
                <a:latin typeface="Segoe UI"/>
              </a:defRPr>
            </a:pPr>
            <a:r>
              <a:t>Set Partitioning Route Recombination:</a:t>
            </a:r>
          </a:p>
          <a:p>
            <a:pPr lvl="1">
              <a:spcAft>
                <a:spcPts val="1000"/>
              </a:spcAft>
              <a:defRPr sz="1200">
                <a:solidFill>
                  <a:srgbClr val="E2E8F0"/>
                </a:solidFill>
                <a:latin typeface="Segoe UI"/>
              </a:defRPr>
            </a:pPr>
            <a:r>
              <a:t>Extracted routes from a dual-retention pool are solved periodically using MILP formulations.</a:t>
            </a:r>
          </a:p>
          <a:p>
            <a:pPr lvl="1">
              <a:spcAft>
                <a:spcPts val="1000"/>
              </a:spcAft>
              <a:defRPr sz="1200">
                <a:solidFill>
                  <a:srgbClr val="E2E8F0"/>
                </a:solidFill>
                <a:latin typeface="Segoe UI"/>
              </a:defRPr>
            </a:pPr>
            <a:r>
              <a:t>Goal: Choose the subset of elite routes that covers all customers exactly once while minimizing vehicle count and distance.</a:t>
            </a:r>
          </a:p>
          <a:p>
            <a:pPr lvl="1">
              <a:spcAft>
                <a:spcPts val="1000"/>
              </a:spcAft>
              <a:defRPr sz="1200">
                <a:solidFill>
                  <a:srgbClr val="E2E8F0"/>
                </a:solidFill>
                <a:latin typeface="Segoe UI"/>
              </a:defRPr>
            </a:pPr>
            <a:r>
              <a:t>Solved with SciPy MILP under a strict 4.0s limit, scaling vehicle penalty P_vehicle to force fleet drops.</a:t>
            </a:r>
          </a:p>
        </p:txBody>
      </p:sp>
      <p:sp>
        <p:nvSpPr>
          <p:cNvPr id="8" name="Rounded Rectangle 7"/>
          <p:cNvSpPr/>
          <p:nvPr/>
        </p:nvSpPr>
        <p:spPr>
          <a:xfrm>
            <a:off x="6492240" y="1463040"/>
            <a:ext cx="493776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737360"/>
            <a:ext cx="4389120" cy="457200"/>
          </a:xfrm>
          <a:prstGeom prst="rect">
            <a:avLst/>
          </a:prstGeom>
          <a:noFill/>
        </p:spPr>
        <p:txBody>
          <a:bodyPr wrap="square" lIns="0" tIns="0" rIns="0" bIns="0">
            <a:spAutoFit/>
          </a:bodyPr>
          <a:lstStyle/>
          <a:p>
            <a:pPr>
              <a:defRPr sz="1800" b="1">
                <a:solidFill>
                  <a:srgbClr val="FFFFFF"/>
                </a:solidFill>
                <a:latin typeface="Segoe UI"/>
              </a:defRPr>
            </a:pPr>
            <a:r>
              <a:t>Dual-Retention Route Pool</a:t>
            </a:r>
          </a:p>
        </p:txBody>
      </p:sp>
      <p:sp>
        <p:nvSpPr>
          <p:cNvPr id="10" name="Rounded Rectangle 9"/>
          <p:cNvSpPr/>
          <p:nvPr/>
        </p:nvSpPr>
        <p:spPr>
          <a:xfrm>
            <a:off x="6858000" y="2194560"/>
            <a:ext cx="4206240" cy="1097280"/>
          </a:xfrm>
          <a:prstGeom prst="roundRect">
            <a:avLst/>
          </a:prstGeom>
          <a:solidFill>
            <a:srgbClr val="28193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0" y="2286000"/>
            <a:ext cx="3840480" cy="914400"/>
          </a:xfrm>
          <a:prstGeom prst="rect">
            <a:avLst/>
          </a:prstGeom>
          <a:noFill/>
        </p:spPr>
        <p:txBody>
          <a:bodyPr wrap="square">
            <a:spAutoFit/>
          </a:bodyPr>
          <a:lstStyle/>
          <a:p>
            <a:pPr>
              <a:defRPr sz="1500" b="1">
                <a:solidFill>
                  <a:srgbClr val="F59E0B"/>
                </a:solidFill>
                <a:latin typeface="Segoe UI"/>
              </a:defRPr>
            </a:pPr>
            <a:r>
              <a:t>1. Elite Route Memory</a:t>
            </a:r>
          </a:p>
          <a:p>
            <a:pPr>
              <a:defRPr sz="1100">
                <a:solidFill>
                  <a:srgbClr val="E2E8F0"/>
                </a:solidFill>
                <a:latin typeface="Segoe UI"/>
              </a:defRPr>
            </a:pPr>
            <a:r>
              <a:t>Caches disjoint routes from the top-scoring solutions found throughout the run, preserving high-quality sub-routes.</a:t>
            </a:r>
          </a:p>
        </p:txBody>
      </p:sp>
      <p:sp>
        <p:nvSpPr>
          <p:cNvPr id="12" name="Rounded Rectangle 11"/>
          <p:cNvSpPr/>
          <p:nvPr/>
        </p:nvSpPr>
        <p:spPr>
          <a:xfrm>
            <a:off x="6858000" y="3566160"/>
            <a:ext cx="4206240" cy="1097280"/>
          </a:xfrm>
          <a:prstGeom prst="roundRect">
            <a:avLst/>
          </a:prstGeom>
          <a:solidFill>
            <a:srgbClr val="142D41"/>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0" y="3657600"/>
            <a:ext cx="3840480" cy="914400"/>
          </a:xfrm>
          <a:prstGeom prst="rect">
            <a:avLst/>
          </a:prstGeom>
          <a:noFill/>
        </p:spPr>
        <p:txBody>
          <a:bodyPr wrap="square">
            <a:spAutoFit/>
          </a:bodyPr>
          <a:lstStyle/>
          <a:p>
            <a:pPr>
              <a:defRPr sz="1500" b="1">
                <a:solidFill>
                  <a:srgbClr val="00B4D8"/>
                </a:solidFill>
                <a:latin typeface="Segoe UI"/>
              </a:defRPr>
            </a:pPr>
            <a:r>
              <a:t>2. Diversity Route Cache</a:t>
            </a:r>
          </a:p>
          <a:p>
            <a:pPr>
              <a:defRPr sz="1100">
                <a:solidFill>
                  <a:srgbClr val="E2E8F0"/>
                </a:solidFill>
                <a:latin typeface="Segoe UI"/>
              </a:defRPr>
            </a:pPr>
            <a:r>
              <a:t>Tracks distinct routes that utilize alternative links to guarantee routing variety during optimization.</a:t>
            </a:r>
          </a:p>
        </p:txBody>
      </p:sp>
      <p:sp>
        <p:nvSpPr>
          <p:cNvPr id="14" name="Rounded Rectangle 13"/>
          <p:cNvSpPr/>
          <p:nvPr/>
        </p:nvSpPr>
        <p:spPr>
          <a:xfrm>
            <a:off x="6858000" y="4937760"/>
            <a:ext cx="4206240" cy="731520"/>
          </a:xfrm>
          <a:prstGeom prst="roundRect">
            <a:avLst/>
          </a:prstGeom>
          <a:solidFill>
            <a:srgbClr val="1E293B"/>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0" y="5029200"/>
            <a:ext cx="3840480" cy="548640"/>
          </a:xfrm>
          <a:prstGeom prst="rect">
            <a:avLst/>
          </a:prstGeom>
          <a:noFill/>
        </p:spPr>
        <p:txBody>
          <a:bodyPr wrap="square">
            <a:spAutoFit/>
          </a:bodyPr>
          <a:lstStyle/>
          <a:p>
            <a:pPr>
              <a:defRPr sz="1200" b="1">
                <a:solidFill>
                  <a:srgbClr val="FFFFFF"/>
                </a:solidFill>
                <a:latin typeface="Segoe UI"/>
              </a:defRPr>
            </a:pPr>
            <a:r>
              <a:t>★ Scalability Priority: Limits candidate pool size to 500 routes to ensure MILP is solved in real-time.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METHODOLOGY</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Proactive Pool Seeding &amp; Route Generation</a:t>
            </a:r>
          </a:p>
        </p:txBody>
      </p:sp>
      <p:sp>
        <p:nvSpPr>
          <p:cNvPr id="5" name="Rounded Rectangle 4"/>
          <p:cNvSpPr/>
          <p:nvPr/>
        </p:nvSpPr>
        <p:spPr>
          <a:xfrm>
            <a:off x="731520" y="1463040"/>
            <a:ext cx="548640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937760" cy="457200"/>
          </a:xfrm>
          <a:prstGeom prst="rect">
            <a:avLst/>
          </a:prstGeom>
          <a:noFill/>
        </p:spPr>
        <p:txBody>
          <a:bodyPr wrap="square" lIns="0" tIns="0" rIns="0" bIns="0">
            <a:spAutoFit/>
          </a:bodyPr>
          <a:lstStyle/>
          <a:p>
            <a:pPr>
              <a:defRPr sz="1800" b="1">
                <a:solidFill>
                  <a:srgbClr val="FFFFFF"/>
                </a:solidFill>
                <a:latin typeface="Segoe UI"/>
              </a:defRPr>
            </a:pPr>
            <a:r>
              <a:t>Overcoming Feasibility Entrapment</a:t>
            </a:r>
          </a:p>
        </p:txBody>
      </p:sp>
      <p:sp>
        <p:nvSpPr>
          <p:cNvPr id="7" name="TextBox 6"/>
          <p:cNvSpPr txBox="1"/>
          <p:nvPr/>
        </p:nvSpPr>
        <p:spPr>
          <a:xfrm>
            <a:off x="1005840" y="2103120"/>
            <a:ext cx="4937760" cy="3657600"/>
          </a:xfrm>
          <a:prstGeom prst="rect">
            <a:avLst/>
          </a:prstGeom>
          <a:noFill/>
        </p:spPr>
        <p:txBody>
          <a:bodyPr wrap="square" lIns="0" tIns="0" rIns="0" bIns="0">
            <a:spAutoFit/>
          </a:bodyPr>
          <a:lstStyle/>
          <a:p>
            <a:pPr>
              <a:spcAft>
                <a:spcPts val="1000"/>
              </a:spcAft>
              <a:defRPr sz="1250">
                <a:solidFill>
                  <a:srgbClr val="E2E8F0"/>
                </a:solidFill>
                <a:latin typeface="Segoe UI"/>
              </a:defRPr>
            </a:pPr>
            <a:r>
              <a:t>The Challenge: Traditional local search generates routes reactively. Difficult instances (e.g. Solomon RC101) require highly complex 'bridge routes' to reduce vehicle count, which small mutations fail to build.</a:t>
            </a:r>
          </a:p>
          <a:p>
            <a:pPr>
              <a:spcAft>
                <a:spcPts val="1000"/>
              </a:spcAft>
              <a:defRPr sz="1250">
                <a:solidFill>
                  <a:srgbClr val="E2E8F0"/>
                </a:solidFill>
                <a:latin typeface="Segoe UI"/>
              </a:defRPr>
            </a:pPr>
            <a:r>
              <a:t>Proactive Seeding Mechanisms:</a:t>
            </a:r>
          </a:p>
          <a:p>
            <a:pPr>
              <a:spcAft>
                <a:spcPts val="1000"/>
              </a:spcAft>
              <a:defRPr sz="1250">
                <a:solidFill>
                  <a:srgbClr val="E2E8F0"/>
                </a:solidFill>
                <a:latin typeface="Segoe UI"/>
              </a:defRPr>
            </a:pPr>
            <a:r>
              <a:t>  1. Randomized Clarke-Wright Savings: Constructs temporal bridge routes between spatially distant but highly compatible nodes.</a:t>
            </a:r>
          </a:p>
          <a:p>
            <a:pPr>
              <a:spcAft>
                <a:spcPts val="1000"/>
              </a:spcAft>
              <a:defRPr sz="1250">
                <a:solidFill>
                  <a:srgbClr val="E2E8F0"/>
                </a:solidFill>
                <a:latin typeface="Segoe UI"/>
              </a:defRPr>
            </a:pPr>
            <a:r>
              <a:t>  2. NV-Targeted Construction: Forces greedy routing variants directly aiming for NV - 1 vehicle counts, mapping remaining stops via high-capacity models.</a:t>
            </a:r>
          </a:p>
          <a:p>
            <a:pPr>
              <a:spcAft>
                <a:spcPts val="1000"/>
              </a:spcAft>
              <a:defRPr sz="1250">
                <a:solidFill>
                  <a:srgbClr val="E2E8F0"/>
                </a:solidFill>
                <a:latin typeface="Segoe UI"/>
              </a:defRPr>
            </a:pPr>
            <a:r>
              <a:t>  3. Regret-3 Large Destroy (40-65%): Removes up to 65% of the graph, forcing extensive reorganizations to pack routes.</a:t>
            </a:r>
          </a:p>
        </p:txBody>
      </p:sp>
      <p:sp>
        <p:nvSpPr>
          <p:cNvPr id="8" name="Rounded Rectangle 7"/>
          <p:cNvSpPr/>
          <p:nvPr/>
        </p:nvSpPr>
        <p:spPr>
          <a:xfrm>
            <a:off x="6492240" y="1463040"/>
            <a:ext cx="493776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737360"/>
            <a:ext cx="4389120" cy="457200"/>
          </a:xfrm>
          <a:prstGeom prst="rect">
            <a:avLst/>
          </a:prstGeom>
          <a:noFill/>
        </p:spPr>
        <p:txBody>
          <a:bodyPr wrap="square" lIns="0" tIns="0" rIns="0" bIns="0">
            <a:spAutoFit/>
          </a:bodyPr>
          <a:lstStyle/>
          <a:p>
            <a:pPr>
              <a:defRPr sz="1800" b="1">
                <a:solidFill>
                  <a:srgbClr val="FFFFFF"/>
                </a:solidFill>
                <a:latin typeface="Segoe UI"/>
              </a:defRPr>
            </a:pPr>
            <a:r>
              <a:t>Column Construction Pipelines</a:t>
            </a:r>
          </a:p>
        </p:txBody>
      </p:sp>
      <p:sp>
        <p:nvSpPr>
          <p:cNvPr id="10" name="Rounded Rectangle 9"/>
          <p:cNvSpPr/>
          <p:nvPr/>
        </p:nvSpPr>
        <p:spPr>
          <a:xfrm>
            <a:off x="6766560" y="2103120"/>
            <a:ext cx="1280160" cy="7315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2194560"/>
            <a:ext cx="1280160" cy="548640"/>
          </a:xfrm>
          <a:prstGeom prst="rect">
            <a:avLst/>
          </a:prstGeom>
          <a:noFill/>
        </p:spPr>
        <p:txBody>
          <a:bodyPr wrap="square">
            <a:spAutoFit/>
          </a:bodyPr>
          <a:lstStyle/>
          <a:p>
            <a:pPr algn="ctr">
              <a:defRPr sz="1100" b="1">
                <a:solidFill>
                  <a:srgbClr val="00B4D8"/>
                </a:solidFill>
              </a:defRPr>
            </a:pPr>
            <a:r>
              <a:t>Clarke-Wright</a:t>
            </a:r>
            <a:br/>
            <a:r>
              <a:t>Savings</a:t>
            </a:r>
          </a:p>
        </p:txBody>
      </p:sp>
      <p:sp>
        <p:nvSpPr>
          <p:cNvPr id="12" name="Rounded Rectangle 11"/>
          <p:cNvSpPr/>
          <p:nvPr/>
        </p:nvSpPr>
        <p:spPr>
          <a:xfrm>
            <a:off x="8321040" y="2103120"/>
            <a:ext cx="1280160" cy="7315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2194560"/>
            <a:ext cx="1280160" cy="548640"/>
          </a:xfrm>
          <a:prstGeom prst="rect">
            <a:avLst/>
          </a:prstGeom>
          <a:noFill/>
        </p:spPr>
        <p:txBody>
          <a:bodyPr wrap="square">
            <a:spAutoFit/>
          </a:bodyPr>
          <a:lstStyle/>
          <a:p>
            <a:pPr algn="ctr">
              <a:defRPr sz="1100" b="1">
                <a:solidFill>
                  <a:srgbClr val="F59E0B"/>
                </a:solidFill>
              </a:defRPr>
            </a:pPr>
            <a:r>
              <a:t>NV-Targeted</a:t>
            </a:r>
            <a:br/>
            <a:r>
              <a:t>Construction</a:t>
            </a:r>
          </a:p>
        </p:txBody>
      </p:sp>
      <p:sp>
        <p:nvSpPr>
          <p:cNvPr id="14" name="Rounded Rectangle 13"/>
          <p:cNvSpPr/>
          <p:nvPr/>
        </p:nvSpPr>
        <p:spPr>
          <a:xfrm>
            <a:off x="9875520" y="2103120"/>
            <a:ext cx="1280160" cy="7315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0" y="2194560"/>
            <a:ext cx="1280160" cy="548640"/>
          </a:xfrm>
          <a:prstGeom prst="rect">
            <a:avLst/>
          </a:prstGeom>
          <a:noFill/>
        </p:spPr>
        <p:txBody>
          <a:bodyPr wrap="square">
            <a:spAutoFit/>
          </a:bodyPr>
          <a:lstStyle/>
          <a:p>
            <a:pPr algn="ctr">
              <a:defRPr sz="1100" b="1">
                <a:solidFill>
                  <a:srgbClr val="EF4444"/>
                </a:solidFill>
              </a:defRPr>
            </a:pPr>
            <a:r>
              <a:t>Large Destroy</a:t>
            </a:r>
            <a:br/>
            <a:r>
              <a:t>(40% - 65%)</a:t>
            </a:r>
          </a:p>
        </p:txBody>
      </p:sp>
      <p:cxnSp>
        <p:nvCxnSpPr>
          <p:cNvPr id="16" name="Connector 15"/>
          <p:cNvCxnSpPr/>
          <p:nvPr/>
        </p:nvCxnSpPr>
        <p:spPr>
          <a:xfrm>
            <a:off x="7406640" y="2834640"/>
            <a:ext cx="1554480" cy="54864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961120" y="2834640"/>
            <a:ext cx="0" cy="54864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8961120" y="2834640"/>
            <a:ext cx="1554480" cy="54864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040880" y="3383280"/>
            <a:ext cx="3840480" cy="8229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0" y="3474720"/>
            <a:ext cx="3840480" cy="640080"/>
          </a:xfrm>
          <a:prstGeom prst="rect">
            <a:avLst/>
          </a:prstGeom>
          <a:noFill/>
        </p:spPr>
        <p:txBody>
          <a:bodyPr wrap="none">
            <a:spAutoFit/>
          </a:bodyPr>
          <a:lstStyle/>
          <a:p>
            <a:pPr algn="ctr">
              <a:defRPr sz="1400" b="1">
                <a:solidFill>
                  <a:srgbClr val="FFFFFF"/>
                </a:solidFill>
                <a:latin typeface="Segoe UI"/>
              </a:defRPr>
            </a:pPr>
            <a:r>
              <a:t>Candidate Route Pool</a:t>
            </a:r>
          </a:p>
          <a:p>
            <a:pPr algn="ctr">
              <a:defRPr sz="1100">
                <a:solidFill>
                  <a:srgbClr val="F59E0B"/>
                </a:solidFill>
                <a:latin typeface="Segoe UI"/>
              </a:defRPr>
            </a:pPr>
            <a:r>
              <a:t>Dual Elite &amp; Diversity Splits</a:t>
            </a:r>
          </a:p>
        </p:txBody>
      </p:sp>
      <p:cxnSp>
        <p:nvCxnSpPr>
          <p:cNvPr id="21" name="Connector 20"/>
          <p:cNvCxnSpPr/>
          <p:nvPr/>
        </p:nvCxnSpPr>
        <p:spPr>
          <a:xfrm>
            <a:off x="8961120" y="4206240"/>
            <a:ext cx="0" cy="45720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040880" y="4663440"/>
            <a:ext cx="3840480" cy="822960"/>
          </a:xfrm>
          <a:prstGeom prst="roundRect">
            <a:avLst/>
          </a:prstGeom>
          <a:solidFill>
            <a:srgbClr val="1E293B"/>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0" y="4754880"/>
            <a:ext cx="3840480" cy="640080"/>
          </a:xfrm>
          <a:prstGeom prst="rect">
            <a:avLst/>
          </a:prstGeom>
          <a:noFill/>
        </p:spPr>
        <p:txBody>
          <a:bodyPr wrap="none">
            <a:spAutoFit/>
          </a:bodyPr>
          <a:lstStyle/>
          <a:p>
            <a:pPr algn="ctr">
              <a:defRPr sz="1400" b="1">
                <a:solidFill>
                  <a:srgbClr val="FFFFFF"/>
                </a:solidFill>
                <a:latin typeface="Segoe UI"/>
              </a:defRPr>
            </a:pPr>
            <a:r>
              <a:t>Set Partitioning (MILP)</a:t>
            </a:r>
          </a:p>
          <a:p>
            <a:pPr algn="ctr">
              <a:defRPr sz="1100">
                <a:solidFill>
                  <a:srgbClr val="00B4D8"/>
                </a:solidFill>
                <a:latin typeface="Segoe UI"/>
              </a:defRPr>
            </a:pPr>
            <a:r>
              <a:t>SciPy Optimizer (&lt; 4s Limit)</a:t>
            </a:r>
          </a:p>
        </p:txBody>
      </p:sp>
      <p:cxnSp>
        <p:nvCxnSpPr>
          <p:cNvPr id="24" name="Connector 23"/>
          <p:cNvCxnSpPr/>
          <p:nvPr/>
        </p:nvCxnSpPr>
        <p:spPr>
          <a:xfrm>
            <a:off x="8961120" y="5486400"/>
            <a:ext cx="0" cy="274320"/>
          </a:xfrm>
          <a:prstGeom prst="line">
            <a:avLst/>
          </a:prstGeom>
          <a:ln w="25400">
            <a:solidFill>
              <a:srgbClr val="00B4D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040880" y="5760720"/>
            <a:ext cx="3840480" cy="274320"/>
          </a:xfrm>
          <a:prstGeom prst="rect">
            <a:avLst/>
          </a:prstGeom>
          <a:noFill/>
        </p:spPr>
        <p:txBody>
          <a:bodyPr wrap="none">
            <a:spAutoFit/>
          </a:bodyPr>
          <a:lstStyle/>
          <a:p>
            <a:pPr algn="ctr">
              <a:defRPr sz="1200" b="1">
                <a:solidFill>
                  <a:srgbClr val="10B981"/>
                </a:solidFill>
              </a:defRPr>
            </a:pPr>
            <a:r>
              <a:t>MINIMIZED VEHICLE (NV) PLAN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METHODOLOGY</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Graph Neural Network Guided Search</a:t>
            </a:r>
          </a:p>
        </p:txBody>
      </p:sp>
      <p:sp>
        <p:nvSpPr>
          <p:cNvPr id="5" name="Rounded Rectangle 4"/>
          <p:cNvSpPr/>
          <p:nvPr/>
        </p:nvSpPr>
        <p:spPr>
          <a:xfrm>
            <a:off x="731520" y="1463040"/>
            <a:ext cx="548640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937760" cy="457200"/>
          </a:xfrm>
          <a:prstGeom prst="rect">
            <a:avLst/>
          </a:prstGeom>
          <a:noFill/>
        </p:spPr>
        <p:txBody>
          <a:bodyPr wrap="square" lIns="0" tIns="0" rIns="0" bIns="0">
            <a:spAutoFit/>
          </a:bodyPr>
          <a:lstStyle/>
          <a:p>
            <a:pPr>
              <a:defRPr sz="1800" b="1">
                <a:solidFill>
                  <a:srgbClr val="FFFFFF"/>
                </a:solidFill>
                <a:latin typeface="Segoe UI"/>
              </a:defRPr>
            </a:pPr>
            <a:r>
              <a:t>Dynamic Edge Optimization</a:t>
            </a:r>
          </a:p>
        </p:txBody>
      </p:sp>
      <p:sp>
        <p:nvSpPr>
          <p:cNvPr id="7" name="TextBox 6"/>
          <p:cNvSpPr txBox="1"/>
          <p:nvPr/>
        </p:nvSpPr>
        <p:spPr>
          <a:xfrm>
            <a:off x="1005840" y="2103120"/>
            <a:ext cx="4937760" cy="3657600"/>
          </a:xfrm>
          <a:prstGeom prst="rect">
            <a:avLst/>
          </a:prstGeom>
          <a:noFill/>
        </p:spPr>
        <p:txBody>
          <a:bodyPr wrap="square" lIns="0" tIns="0" rIns="0" bIns="0">
            <a:spAutoFit/>
          </a:bodyPr>
          <a:lstStyle/>
          <a:p>
            <a:pPr>
              <a:spcAft>
                <a:spcPts val="1000"/>
              </a:spcAft>
              <a:defRPr sz="1250">
                <a:solidFill>
                  <a:srgbClr val="E2E8F0"/>
                </a:solidFill>
                <a:latin typeface="Segoe UI"/>
              </a:defRPr>
            </a:pPr>
            <a:r>
              <a:t>Neural Heatmap Predictor: A lightweight Graph Neural Network predicts edge optimality probabilities P_ij in [0, 1] exactly once during initialization.</a:t>
            </a:r>
          </a:p>
          <a:p>
            <a:pPr>
              <a:spcAft>
                <a:spcPts val="1000"/>
              </a:spcAft>
              <a:defRPr sz="1250">
                <a:solidFill>
                  <a:srgbClr val="E2E8F0"/>
                </a:solidFill>
                <a:latin typeface="Segoe UI"/>
              </a:defRPr>
            </a:pPr>
            <a:r>
              <a:t>GNN-Biased Heuristics: Re-scales detour insertion costs dynamically during regret/greedy heuristics:</a:t>
            </a:r>
          </a:p>
          <a:p>
            <a:pPr lvl="1">
              <a:spcAft>
                <a:spcPts val="1000"/>
              </a:spcAft>
              <a:defRPr sz="1250">
                <a:solidFill>
                  <a:srgbClr val="E2E8F0"/>
                </a:solidFill>
                <a:latin typeface="Segoe UI"/>
              </a:defRPr>
            </a:pPr>
            <a:r>
              <a:t>Formula: detour' = detour * (1.0 - gamma * P_iu) * (1.0 - gamma * P_uj)</a:t>
            </a:r>
          </a:p>
          <a:p>
            <a:pPr lvl="1">
              <a:spcAft>
                <a:spcPts val="1000"/>
              </a:spcAft>
              <a:defRPr sz="1250">
                <a:solidFill>
                  <a:srgbClr val="E2E8F0"/>
                </a:solidFill>
                <a:latin typeface="Segoe UI"/>
              </a:defRPr>
            </a:pPr>
            <a:r>
              <a:t>Where gamma in [0.1, 0.6] is scaled dynamically based on active search mode.</a:t>
            </a:r>
          </a:p>
          <a:p>
            <a:pPr>
              <a:spcAft>
                <a:spcPts val="1000"/>
              </a:spcAft>
              <a:defRPr sz="1250">
                <a:solidFill>
                  <a:srgbClr val="E2E8F0"/>
                </a:solidFill>
                <a:latin typeface="Segoe UI"/>
              </a:defRPr>
            </a:pPr>
            <a:r>
              <a:t>Search Pruning Schedule: Linear threshold decay (theta = 0.05 -&gt; 0.003) eliminates unlikely edge transitions, pruning the search space to accelerate large instances.</a:t>
            </a:r>
          </a:p>
        </p:txBody>
      </p:sp>
      <p:sp>
        <p:nvSpPr>
          <p:cNvPr id="8" name="Rounded Rectangle 7"/>
          <p:cNvSpPr/>
          <p:nvPr/>
        </p:nvSpPr>
        <p:spPr>
          <a:xfrm>
            <a:off x="6492240" y="1463040"/>
            <a:ext cx="493776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737360"/>
            <a:ext cx="4389120" cy="457200"/>
          </a:xfrm>
          <a:prstGeom prst="rect">
            <a:avLst/>
          </a:prstGeom>
          <a:noFill/>
        </p:spPr>
        <p:txBody>
          <a:bodyPr wrap="square" lIns="0" tIns="0" rIns="0" bIns="0">
            <a:spAutoFit/>
          </a:bodyPr>
          <a:lstStyle/>
          <a:p>
            <a:pPr>
              <a:defRPr sz="1800" b="1">
                <a:solidFill>
                  <a:srgbClr val="FFFFFF"/>
                </a:solidFill>
                <a:latin typeface="Segoe UI"/>
              </a:defRPr>
            </a:pPr>
            <a:r>
              <a:t>GNN Probability Heatmap</a:t>
            </a:r>
          </a:p>
        </p:txBody>
      </p:sp>
      <p:sp>
        <p:nvSpPr>
          <p:cNvPr id="10" name="Oval 9"/>
          <p:cNvSpPr/>
          <p:nvPr/>
        </p:nvSpPr>
        <p:spPr>
          <a:xfrm>
            <a:off x="7498079" y="2377440"/>
            <a:ext cx="320040" cy="3200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799" y="2697480"/>
            <a:ext cx="2514600" cy="365760"/>
          </a:xfrm>
          <a:prstGeom prst="rect">
            <a:avLst/>
          </a:prstGeom>
          <a:noFill/>
        </p:spPr>
        <p:txBody>
          <a:bodyPr wrap="square">
            <a:spAutoFit/>
          </a:bodyPr>
          <a:lstStyle/>
          <a:p>
            <a:pPr algn="ctr">
              <a:defRPr sz="1100">
                <a:solidFill>
                  <a:srgbClr val="E2E8F0"/>
                </a:solidFill>
              </a:defRPr>
            </a:pPr>
            <a:r>
              <a:t>Node i</a:t>
            </a:r>
          </a:p>
        </p:txBody>
      </p:sp>
      <p:sp>
        <p:nvSpPr>
          <p:cNvPr id="12" name="Oval 11"/>
          <p:cNvSpPr/>
          <p:nvPr/>
        </p:nvSpPr>
        <p:spPr>
          <a:xfrm>
            <a:off x="9875520" y="2103120"/>
            <a:ext cx="320040" cy="3200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2423160"/>
            <a:ext cx="2514600" cy="365760"/>
          </a:xfrm>
          <a:prstGeom prst="rect">
            <a:avLst/>
          </a:prstGeom>
          <a:noFill/>
        </p:spPr>
        <p:txBody>
          <a:bodyPr wrap="square">
            <a:spAutoFit/>
          </a:bodyPr>
          <a:lstStyle/>
          <a:p>
            <a:pPr algn="ctr">
              <a:defRPr sz="1100">
                <a:solidFill>
                  <a:srgbClr val="E2E8F0"/>
                </a:solidFill>
              </a:defRPr>
            </a:pPr>
            <a:r>
              <a:t>Node j</a:t>
            </a:r>
          </a:p>
        </p:txBody>
      </p:sp>
      <p:sp>
        <p:nvSpPr>
          <p:cNvPr id="14" name="Oval 13"/>
          <p:cNvSpPr/>
          <p:nvPr/>
        </p:nvSpPr>
        <p:spPr>
          <a:xfrm>
            <a:off x="8686800" y="4389120"/>
            <a:ext cx="320040" cy="3200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4709160"/>
            <a:ext cx="2514600" cy="365760"/>
          </a:xfrm>
          <a:prstGeom prst="rect">
            <a:avLst/>
          </a:prstGeom>
          <a:noFill/>
        </p:spPr>
        <p:txBody>
          <a:bodyPr wrap="square">
            <a:spAutoFit/>
          </a:bodyPr>
          <a:lstStyle/>
          <a:p>
            <a:pPr algn="ctr">
              <a:defRPr sz="1100">
                <a:solidFill>
                  <a:srgbClr val="E2E8F0"/>
                </a:solidFill>
              </a:defRPr>
            </a:pPr>
            <a:r>
              <a:t>Node u (Detour Insertion)</a:t>
            </a:r>
          </a:p>
        </p:txBody>
      </p:sp>
      <p:cxnSp>
        <p:nvCxnSpPr>
          <p:cNvPr id="16" name="Connector 15"/>
          <p:cNvCxnSpPr/>
          <p:nvPr/>
        </p:nvCxnSpPr>
        <p:spPr>
          <a:xfrm flipV="1">
            <a:off x="7818120" y="2258568"/>
            <a:ext cx="2057400" cy="274320"/>
          </a:xfrm>
          <a:prstGeom prst="line">
            <a:avLst/>
          </a:prstGeom>
          <a:ln w="5080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8846820" y="2423160"/>
            <a:ext cx="1188720" cy="1965960"/>
          </a:xfrm>
          <a:prstGeom prst="line">
            <a:avLst/>
          </a:prstGeom>
          <a:ln w="2540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658100" y="2697480"/>
            <a:ext cx="1028700" cy="1691640"/>
          </a:xfrm>
          <a:prstGeom prst="line">
            <a:avLst/>
          </a:prstGeom>
          <a:ln w="12700">
            <a:solidFill>
              <a:srgbClr val="EF4444"/>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8595360" y="2103120"/>
            <a:ext cx="731520" cy="274320"/>
          </a:xfrm>
          <a:prstGeom prst="rect">
            <a:avLst/>
          </a:prstGeom>
          <a:solidFill>
            <a:srgbClr val="1E293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0" y="2103120"/>
            <a:ext cx="731520" cy="274320"/>
          </a:xfrm>
          <a:prstGeom prst="rect">
            <a:avLst/>
          </a:prstGeom>
          <a:noFill/>
        </p:spPr>
        <p:txBody>
          <a:bodyPr wrap="none">
            <a:spAutoFit/>
          </a:bodyPr>
          <a:lstStyle/>
          <a:p>
            <a:pPr algn="ctr">
              <a:defRPr sz="1000" b="1">
                <a:solidFill>
                  <a:srgbClr val="00B4D8"/>
                </a:solidFill>
              </a:defRPr>
            </a:pPr>
            <a:r>
              <a:t>P=0.92</a:t>
            </a:r>
          </a:p>
        </p:txBody>
      </p:sp>
      <p:sp>
        <p:nvSpPr>
          <p:cNvPr id="21" name="Rectangle 20"/>
          <p:cNvSpPr/>
          <p:nvPr/>
        </p:nvSpPr>
        <p:spPr>
          <a:xfrm>
            <a:off x="9509760" y="3291840"/>
            <a:ext cx="731520" cy="274320"/>
          </a:xfrm>
          <a:prstGeom prst="rect">
            <a:avLst/>
          </a:prstGeom>
          <a:solidFill>
            <a:srgbClr val="1E293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09760" y="3291840"/>
            <a:ext cx="731520" cy="274320"/>
          </a:xfrm>
          <a:prstGeom prst="rect">
            <a:avLst/>
          </a:prstGeom>
          <a:noFill/>
        </p:spPr>
        <p:txBody>
          <a:bodyPr wrap="none">
            <a:spAutoFit/>
          </a:bodyPr>
          <a:lstStyle/>
          <a:p>
            <a:pPr algn="ctr">
              <a:defRPr sz="1000" b="1">
                <a:solidFill>
                  <a:srgbClr val="00B4D8"/>
                </a:solidFill>
              </a:defRPr>
            </a:pPr>
            <a:r>
              <a:t>P=0.78</a:t>
            </a:r>
          </a:p>
        </p:txBody>
      </p:sp>
      <p:sp>
        <p:nvSpPr>
          <p:cNvPr id="23" name="Rectangle 22"/>
          <p:cNvSpPr/>
          <p:nvPr/>
        </p:nvSpPr>
        <p:spPr>
          <a:xfrm>
            <a:off x="7772400" y="3566160"/>
            <a:ext cx="731520" cy="274320"/>
          </a:xfrm>
          <a:prstGeom prst="rect">
            <a:avLst/>
          </a:prstGeom>
          <a:solidFill>
            <a:srgbClr val="1E293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0" y="3566160"/>
            <a:ext cx="731520" cy="274320"/>
          </a:xfrm>
          <a:prstGeom prst="rect">
            <a:avLst/>
          </a:prstGeom>
          <a:noFill/>
        </p:spPr>
        <p:txBody>
          <a:bodyPr wrap="none">
            <a:spAutoFit/>
          </a:bodyPr>
          <a:lstStyle/>
          <a:p>
            <a:pPr algn="ctr">
              <a:defRPr sz="1000" b="1">
                <a:solidFill>
                  <a:srgbClr val="EF4444"/>
                </a:solidFill>
              </a:defRPr>
            </a:pPr>
            <a:r>
              <a:t>P=0.08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METHODOLOGY</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Post-Processing Polish Cascade</a:t>
            </a:r>
          </a:p>
        </p:txBody>
      </p:sp>
      <p:sp>
        <p:nvSpPr>
          <p:cNvPr id="5" name="Rounded Rectangle 4"/>
          <p:cNvSpPr/>
          <p:nvPr/>
        </p:nvSpPr>
        <p:spPr>
          <a:xfrm>
            <a:off x="731520" y="1463040"/>
            <a:ext cx="548640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937760" cy="457200"/>
          </a:xfrm>
          <a:prstGeom prst="rect">
            <a:avLst/>
          </a:prstGeom>
          <a:noFill/>
        </p:spPr>
        <p:txBody>
          <a:bodyPr wrap="square" lIns="0" tIns="0" rIns="0" bIns="0">
            <a:spAutoFit/>
          </a:bodyPr>
          <a:lstStyle/>
          <a:p>
            <a:pPr>
              <a:defRPr sz="1800" b="1">
                <a:solidFill>
                  <a:srgbClr val="FFFFFF"/>
                </a:solidFill>
                <a:latin typeface="Segoe UI"/>
              </a:defRPr>
            </a:pPr>
            <a:r>
              <a:t>Cascade Optimization Pipeline</a:t>
            </a:r>
          </a:p>
        </p:txBody>
      </p:sp>
      <p:sp>
        <p:nvSpPr>
          <p:cNvPr id="7" name="TextBox 6"/>
          <p:cNvSpPr txBox="1"/>
          <p:nvPr/>
        </p:nvSpPr>
        <p:spPr>
          <a:xfrm>
            <a:off x="1005840" y="2103120"/>
            <a:ext cx="4937760" cy="3657600"/>
          </a:xfrm>
          <a:prstGeom prst="rect">
            <a:avLst/>
          </a:prstGeom>
          <a:noFill/>
        </p:spPr>
        <p:txBody>
          <a:bodyPr wrap="square" lIns="0" tIns="0" rIns="0" bIns="0">
            <a:spAutoFit/>
          </a:bodyPr>
          <a:lstStyle/>
          <a:p>
            <a:pPr>
              <a:spcAft>
                <a:spcPts val="1000"/>
              </a:spcAft>
              <a:defRPr sz="1250">
                <a:solidFill>
                  <a:srgbClr val="E2E8F0"/>
                </a:solidFill>
                <a:latin typeface="Segoe UI"/>
              </a:defRPr>
            </a:pPr>
            <a:r>
              <a:t>Depth-3 Ejection Chains: Attempts to empty sparsely-populated routes by displacing customers up to 3 levels deep:</a:t>
            </a:r>
          </a:p>
          <a:p>
            <a:pPr lvl="1">
              <a:spcAft>
                <a:spcPts val="1000"/>
              </a:spcAft>
              <a:defRPr sz="1250">
                <a:solidFill>
                  <a:srgbClr val="E2E8F0"/>
                </a:solidFill>
                <a:latin typeface="Segoe UI"/>
              </a:defRPr>
            </a:pPr>
            <a:r>
              <a:t>Chain: c -&gt; R_i (ejects d) -&gt; d -&gt; R_j (ejects e) -&gt; e -&gt; R_k</a:t>
            </a:r>
          </a:p>
          <a:p>
            <a:pPr>
              <a:spcAft>
                <a:spcPts val="1000"/>
              </a:spcAft>
              <a:defRPr sz="1250">
                <a:solidFill>
                  <a:srgbClr val="E2E8F0"/>
                </a:solidFill>
                <a:latin typeface="Segoe UI"/>
              </a:defRPr>
            </a:pPr>
            <a:r>
              <a:t>Buffered Route Elimination: Triggers multi-route spatial rebalancing if NV = NV_BKS + 1 to force target vehicle termination.</a:t>
            </a:r>
          </a:p>
          <a:p>
            <a:pPr>
              <a:spcAft>
                <a:spcPts val="1000"/>
              </a:spcAft>
              <a:defRPr sz="1250">
                <a:solidFill>
                  <a:srgbClr val="E2E8F0"/>
                </a:solidFill>
                <a:latin typeface="Segoe UI"/>
              </a:defRPr>
            </a:pPr>
            <a:r>
              <a:t>Committed NV Search: Locks the solution to NV - 1 vehicles and executes a strict 1500-iteration SA pathing search with pool-based restarts.</a:t>
            </a:r>
          </a:p>
          <a:p>
            <a:pPr>
              <a:spcAft>
                <a:spcPts val="1000"/>
              </a:spcAft>
              <a:defRPr sz="1250">
                <a:solidFill>
                  <a:srgbClr val="E2E8F0"/>
                </a:solidFill>
                <a:latin typeface="Segoe UI"/>
              </a:defRPr>
            </a:pPr>
            <a:r>
              <a:t>Convergent TD Polish: Executes 2-opt and Or-opt (1, 2, 3) steps along all active routes until distance convergence bounds (Delta c &lt; 10^-9).</a:t>
            </a:r>
          </a:p>
        </p:txBody>
      </p:sp>
      <p:sp>
        <p:nvSpPr>
          <p:cNvPr id="8" name="Rounded Rectangle 7"/>
          <p:cNvSpPr/>
          <p:nvPr/>
        </p:nvSpPr>
        <p:spPr>
          <a:xfrm>
            <a:off x="6492240" y="1463040"/>
            <a:ext cx="493776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737360"/>
            <a:ext cx="4389120" cy="457200"/>
          </a:xfrm>
          <a:prstGeom prst="rect">
            <a:avLst/>
          </a:prstGeom>
          <a:noFill/>
        </p:spPr>
        <p:txBody>
          <a:bodyPr wrap="square" lIns="0" tIns="0" rIns="0" bIns="0">
            <a:spAutoFit/>
          </a:bodyPr>
          <a:lstStyle/>
          <a:p>
            <a:pPr>
              <a:defRPr sz="1800" b="1">
                <a:solidFill>
                  <a:srgbClr val="FFFFFF"/>
                </a:solidFill>
                <a:latin typeface="Segoe UI"/>
              </a:defRPr>
            </a:pPr>
            <a:r>
              <a:t>Ejection Chain Displacement Flow</a:t>
            </a:r>
          </a:p>
        </p:txBody>
      </p:sp>
      <p:sp>
        <p:nvSpPr>
          <p:cNvPr id="10" name="Oval 9"/>
          <p:cNvSpPr/>
          <p:nvPr/>
        </p:nvSpPr>
        <p:spPr>
          <a:xfrm>
            <a:off x="6858000" y="3291840"/>
            <a:ext cx="548640" cy="5486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3383280"/>
            <a:ext cx="548640" cy="365760"/>
          </a:xfrm>
          <a:prstGeom prst="rect">
            <a:avLst/>
          </a:prstGeom>
          <a:noFill/>
        </p:spPr>
        <p:txBody>
          <a:bodyPr wrap="none">
            <a:spAutoFit/>
          </a:bodyPr>
          <a:lstStyle/>
          <a:p>
            <a:pPr algn="ctr">
              <a:defRPr b="1">
                <a:solidFill>
                  <a:srgbClr val="FFFFFF"/>
                </a:solidFill>
              </a:defRPr>
            </a:pPr>
            <a:r>
              <a:t>c</a:t>
            </a:r>
          </a:p>
        </p:txBody>
      </p:sp>
      <p:sp>
        <p:nvSpPr>
          <p:cNvPr id="12" name="TextBox 11"/>
          <p:cNvSpPr txBox="1"/>
          <p:nvPr/>
        </p:nvSpPr>
        <p:spPr>
          <a:xfrm>
            <a:off x="6400800" y="3840480"/>
            <a:ext cx="1463040" cy="365760"/>
          </a:xfrm>
          <a:prstGeom prst="rect">
            <a:avLst/>
          </a:prstGeom>
          <a:noFill/>
        </p:spPr>
        <p:txBody>
          <a:bodyPr wrap="none">
            <a:spAutoFit/>
          </a:bodyPr>
          <a:lstStyle/>
          <a:p>
            <a:pPr algn="ctr">
              <a:defRPr sz="1000">
                <a:solidFill>
                  <a:srgbClr val="E2E8F0"/>
                </a:solidFill>
              </a:defRPr>
            </a:pPr>
            <a:r>
              <a:t>Unassigned</a:t>
            </a:r>
          </a:p>
        </p:txBody>
      </p:sp>
      <p:sp>
        <p:nvSpPr>
          <p:cNvPr id="13" name="Rounded Rectangle 12"/>
          <p:cNvSpPr/>
          <p:nvPr/>
        </p:nvSpPr>
        <p:spPr>
          <a:xfrm>
            <a:off x="8412480" y="2011680"/>
            <a:ext cx="1645920" cy="914400"/>
          </a:xfrm>
          <a:prstGeom prst="roundRect">
            <a:avLst/>
          </a:prstGeom>
          <a:solidFill>
            <a:srgbClr val="1E293B"/>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103120"/>
            <a:ext cx="1645920" cy="365760"/>
          </a:xfrm>
          <a:prstGeom prst="rect">
            <a:avLst/>
          </a:prstGeom>
          <a:noFill/>
        </p:spPr>
        <p:txBody>
          <a:bodyPr wrap="none">
            <a:spAutoFit/>
          </a:bodyPr>
          <a:lstStyle/>
          <a:p>
            <a:pPr algn="ctr">
              <a:defRPr sz="1200" b="1">
                <a:solidFill>
                  <a:srgbClr val="00B4D8"/>
                </a:solidFill>
              </a:defRPr>
            </a:pPr>
            <a:r>
              <a:t>Route R_i</a:t>
            </a:r>
          </a:p>
        </p:txBody>
      </p:sp>
      <p:sp>
        <p:nvSpPr>
          <p:cNvPr id="15" name="Oval 14"/>
          <p:cNvSpPr/>
          <p:nvPr/>
        </p:nvSpPr>
        <p:spPr>
          <a:xfrm>
            <a:off x="9144000" y="2468880"/>
            <a:ext cx="274320" cy="2743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0" y="2468880"/>
            <a:ext cx="274320" cy="274320"/>
          </a:xfrm>
          <a:prstGeom prst="rect">
            <a:avLst/>
          </a:prstGeom>
          <a:noFill/>
        </p:spPr>
        <p:txBody>
          <a:bodyPr wrap="none">
            <a:spAutoFit/>
          </a:bodyPr>
          <a:lstStyle/>
          <a:p>
            <a:pPr algn="ctr">
              <a:defRPr sz="900" b="1">
                <a:solidFill>
                  <a:srgbClr val="1E293B"/>
                </a:solidFill>
              </a:defRPr>
            </a:pPr>
            <a:r>
              <a:t>d</a:t>
            </a:r>
          </a:p>
        </p:txBody>
      </p:sp>
      <p:sp>
        <p:nvSpPr>
          <p:cNvPr id="17" name="Rounded Rectangle 16"/>
          <p:cNvSpPr/>
          <p:nvPr/>
        </p:nvSpPr>
        <p:spPr>
          <a:xfrm>
            <a:off x="9418320" y="3840480"/>
            <a:ext cx="1645920" cy="9144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0" y="3931920"/>
            <a:ext cx="1645920" cy="365760"/>
          </a:xfrm>
          <a:prstGeom prst="rect">
            <a:avLst/>
          </a:prstGeom>
          <a:noFill/>
        </p:spPr>
        <p:txBody>
          <a:bodyPr wrap="none">
            <a:spAutoFit/>
          </a:bodyPr>
          <a:lstStyle/>
          <a:p>
            <a:pPr algn="ctr">
              <a:defRPr sz="1200" b="1">
                <a:solidFill>
                  <a:srgbClr val="F59E0B"/>
                </a:solidFill>
              </a:defRPr>
            </a:pPr>
            <a:r>
              <a:t>Route R_j</a:t>
            </a:r>
          </a:p>
        </p:txBody>
      </p:sp>
      <p:sp>
        <p:nvSpPr>
          <p:cNvPr id="19" name="Oval 18"/>
          <p:cNvSpPr/>
          <p:nvPr/>
        </p:nvSpPr>
        <p:spPr>
          <a:xfrm>
            <a:off x="10149840" y="4297680"/>
            <a:ext cx="274320" cy="2743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0" y="4297680"/>
            <a:ext cx="274320" cy="274320"/>
          </a:xfrm>
          <a:prstGeom prst="rect">
            <a:avLst/>
          </a:prstGeom>
          <a:noFill/>
        </p:spPr>
        <p:txBody>
          <a:bodyPr wrap="none">
            <a:spAutoFit/>
          </a:bodyPr>
          <a:lstStyle/>
          <a:p>
            <a:pPr algn="ctr">
              <a:defRPr sz="900" b="1">
                <a:solidFill>
                  <a:srgbClr val="1E293B"/>
                </a:solidFill>
              </a:defRPr>
            </a:pPr>
            <a:r>
              <a:t>e</a:t>
            </a:r>
          </a:p>
        </p:txBody>
      </p:sp>
      <p:sp>
        <p:nvSpPr>
          <p:cNvPr id="21" name="Rounded Rectangle 20"/>
          <p:cNvSpPr/>
          <p:nvPr/>
        </p:nvSpPr>
        <p:spPr>
          <a:xfrm>
            <a:off x="7498079" y="4754880"/>
            <a:ext cx="1645920" cy="9144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79" y="4846320"/>
            <a:ext cx="1645920" cy="365760"/>
          </a:xfrm>
          <a:prstGeom prst="rect">
            <a:avLst/>
          </a:prstGeom>
          <a:noFill/>
        </p:spPr>
        <p:txBody>
          <a:bodyPr wrap="none">
            <a:spAutoFit/>
          </a:bodyPr>
          <a:lstStyle/>
          <a:p>
            <a:pPr algn="ctr">
              <a:defRPr sz="1200" b="1">
                <a:solidFill>
                  <a:srgbClr val="10B981"/>
                </a:solidFill>
              </a:defRPr>
            </a:pPr>
            <a:r>
              <a:t>Route R_k</a:t>
            </a:r>
          </a:p>
        </p:txBody>
      </p:sp>
      <p:sp>
        <p:nvSpPr>
          <p:cNvPr id="23" name="TextBox 22"/>
          <p:cNvSpPr txBox="1"/>
          <p:nvPr/>
        </p:nvSpPr>
        <p:spPr>
          <a:xfrm>
            <a:off x="7498079" y="5212080"/>
            <a:ext cx="1645920" cy="365760"/>
          </a:xfrm>
          <a:prstGeom prst="rect">
            <a:avLst/>
          </a:prstGeom>
          <a:noFill/>
        </p:spPr>
        <p:txBody>
          <a:bodyPr wrap="none">
            <a:spAutoFit/>
          </a:bodyPr>
          <a:lstStyle/>
          <a:p>
            <a:pPr algn="ctr">
              <a:defRPr sz="1000">
                <a:solidFill>
                  <a:srgbClr val="94A3B8"/>
                </a:solidFill>
              </a:defRPr>
            </a:pPr>
            <a:r>
              <a:t>(Has capacity)</a:t>
            </a:r>
          </a:p>
        </p:txBody>
      </p:sp>
      <p:cxnSp>
        <p:nvCxnSpPr>
          <p:cNvPr id="24" name="Connector 23"/>
          <p:cNvCxnSpPr/>
          <p:nvPr/>
        </p:nvCxnSpPr>
        <p:spPr>
          <a:xfrm flipV="1">
            <a:off x="7406640" y="2468880"/>
            <a:ext cx="1005840" cy="82296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235440" y="2926080"/>
            <a:ext cx="182880" cy="914400"/>
          </a:xfrm>
          <a:prstGeom prst="line">
            <a:avLst/>
          </a:prstGeom>
          <a:ln w="2540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9144000" y="4754880"/>
            <a:ext cx="1097280" cy="45720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TECHNICAL STACK</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System Architecture: NAMI Dispatcher</a:t>
            </a:r>
          </a:p>
        </p:txBody>
      </p:sp>
      <p:sp>
        <p:nvSpPr>
          <p:cNvPr id="5" name="Rounded Rectangle 4"/>
          <p:cNvSpPr/>
          <p:nvPr/>
        </p:nvSpPr>
        <p:spPr>
          <a:xfrm>
            <a:off x="731520" y="1463040"/>
            <a:ext cx="548640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937760" cy="457200"/>
          </a:xfrm>
          <a:prstGeom prst="rect">
            <a:avLst/>
          </a:prstGeom>
          <a:noFill/>
        </p:spPr>
        <p:txBody>
          <a:bodyPr wrap="square" lIns="0" tIns="0" rIns="0" bIns="0">
            <a:spAutoFit/>
          </a:bodyPr>
          <a:lstStyle/>
          <a:p>
            <a:pPr>
              <a:defRPr sz="1800" b="1">
                <a:solidFill>
                  <a:srgbClr val="FFFFFF"/>
                </a:solidFill>
                <a:latin typeface="Segoe UI"/>
              </a:defRPr>
            </a:pPr>
            <a:r>
              <a:t>Monorepo Service Layout</a:t>
            </a:r>
          </a:p>
        </p:txBody>
      </p:sp>
      <p:sp>
        <p:nvSpPr>
          <p:cNvPr id="7" name="TextBox 6"/>
          <p:cNvSpPr txBox="1"/>
          <p:nvPr/>
        </p:nvSpPr>
        <p:spPr>
          <a:xfrm>
            <a:off x="1005840" y="2103120"/>
            <a:ext cx="4937760" cy="3657600"/>
          </a:xfrm>
          <a:prstGeom prst="rect">
            <a:avLst/>
          </a:prstGeom>
          <a:noFill/>
        </p:spPr>
        <p:txBody>
          <a:bodyPr wrap="square" lIns="0" tIns="0" rIns="0" bIns="0">
            <a:spAutoFit/>
          </a:bodyPr>
          <a:lstStyle/>
          <a:p>
            <a:pPr>
              <a:spcAft>
                <a:spcPts val="1000"/>
              </a:spcAft>
              <a:defRPr sz="1300">
                <a:solidFill>
                  <a:srgbClr val="E2E8F0"/>
                </a:solidFill>
                <a:latin typeface="Segoe UI"/>
              </a:defRPr>
            </a:pPr>
            <a:r>
              <a:t>Frontend (React + Vite): Fast responsive canvas renders spatial routing networks, schedules vehicle slots via interactive Gantt timeline charts.</a:t>
            </a:r>
          </a:p>
          <a:p>
            <a:pPr>
              <a:spcAft>
                <a:spcPts val="1000"/>
              </a:spcAft>
              <a:defRPr sz="1300">
                <a:solidFill>
                  <a:srgbClr val="E2E8F0"/>
                </a:solidFill>
                <a:latin typeface="Segoe UI"/>
              </a:defRPr>
            </a:pPr>
            <a:r>
              <a:t>Backend (FastAPI): Asynchronous API router, streams solver iteration state updates via low-latency WebSocket interfaces.</a:t>
            </a:r>
          </a:p>
          <a:p>
            <a:pPr>
              <a:spcAft>
                <a:spcPts val="1000"/>
              </a:spcAft>
              <a:defRPr sz="1300">
                <a:solidFill>
                  <a:srgbClr val="E2E8F0"/>
                </a:solidFill>
                <a:latin typeface="Segoe UI"/>
              </a:defRPr>
            </a:pPr>
            <a:r>
              <a:t>Heuristic Bindings: Integrates C++ custom local search kernels with SciPy MILP optimizers and Elite state registries.</a:t>
            </a:r>
          </a:p>
          <a:p>
            <a:pPr>
              <a:spcAft>
                <a:spcPts val="1000"/>
              </a:spcAft>
              <a:defRPr sz="1300">
                <a:solidFill>
                  <a:srgbClr val="E2E8F0"/>
                </a:solidFill>
                <a:latin typeface="Segoe UI"/>
              </a:defRPr>
            </a:pPr>
            <a:r>
              <a:t>Structured Data: SQLite database stores benchmark histories, performance logs, and optimized routing profiles.</a:t>
            </a:r>
          </a:p>
        </p:txBody>
      </p:sp>
      <p:sp>
        <p:nvSpPr>
          <p:cNvPr id="8" name="Rounded Rectangle 7"/>
          <p:cNvSpPr/>
          <p:nvPr/>
        </p:nvSpPr>
        <p:spPr>
          <a:xfrm>
            <a:off x="6492240" y="1463040"/>
            <a:ext cx="493776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737360"/>
            <a:ext cx="4389120" cy="457200"/>
          </a:xfrm>
          <a:prstGeom prst="rect">
            <a:avLst/>
          </a:prstGeom>
          <a:noFill/>
        </p:spPr>
        <p:txBody>
          <a:bodyPr wrap="square" lIns="0" tIns="0" rIns="0" bIns="0">
            <a:spAutoFit/>
          </a:bodyPr>
          <a:lstStyle/>
          <a:p>
            <a:pPr>
              <a:defRPr sz="1800" b="1">
                <a:solidFill>
                  <a:srgbClr val="FFFFFF"/>
                </a:solidFill>
                <a:latin typeface="Segoe UI"/>
              </a:defRPr>
            </a:pPr>
            <a:r>
              <a:t>Microservice Inter-connects</a:t>
            </a:r>
          </a:p>
        </p:txBody>
      </p:sp>
      <p:sp>
        <p:nvSpPr>
          <p:cNvPr id="10" name="Rounded Rectangle 9"/>
          <p:cNvSpPr/>
          <p:nvPr/>
        </p:nvSpPr>
        <p:spPr>
          <a:xfrm>
            <a:off x="6858000" y="2011680"/>
            <a:ext cx="4206240" cy="822960"/>
          </a:xfrm>
          <a:prstGeom prst="roundRect">
            <a:avLst/>
          </a:prstGeom>
          <a:solidFill>
            <a:srgbClr val="1E293B"/>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2103120"/>
            <a:ext cx="4206240" cy="640080"/>
          </a:xfrm>
          <a:prstGeom prst="rect">
            <a:avLst/>
          </a:prstGeom>
          <a:noFill/>
        </p:spPr>
        <p:txBody>
          <a:bodyPr wrap="none">
            <a:spAutoFit/>
          </a:bodyPr>
          <a:lstStyle/>
          <a:p>
            <a:pPr algn="ctr">
              <a:defRPr sz="1400" b="1">
                <a:solidFill>
                  <a:srgbClr val="FFFFFF"/>
                </a:solidFill>
                <a:latin typeface="Segoe UI"/>
              </a:defRPr>
            </a:pPr>
            <a:r>
              <a:t>Vite React Web Portal</a:t>
            </a:r>
          </a:p>
          <a:p>
            <a:pPr algn="ctr">
              <a:defRPr sz="1100">
                <a:solidFill>
                  <a:srgbClr val="00B4D8"/>
                </a:solidFill>
                <a:latin typeface="Segoe UI"/>
              </a:defRPr>
            </a:pPr>
            <a:r>
              <a:t>Interactive Canvas | Gantt Timelines</a:t>
            </a:r>
          </a:p>
        </p:txBody>
      </p:sp>
      <p:cxnSp>
        <p:nvCxnSpPr>
          <p:cNvPr id="12" name="Connector 11"/>
          <p:cNvCxnSpPr/>
          <p:nvPr/>
        </p:nvCxnSpPr>
        <p:spPr>
          <a:xfrm>
            <a:off x="7772400" y="2834640"/>
            <a:ext cx="0" cy="731520"/>
          </a:xfrm>
          <a:prstGeom prst="line">
            <a:avLst/>
          </a:prstGeom>
          <a:ln w="31750">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149840" y="2834640"/>
            <a:ext cx="0" cy="73152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92240" y="3017520"/>
            <a:ext cx="1280160" cy="365760"/>
          </a:xfrm>
          <a:prstGeom prst="rect">
            <a:avLst/>
          </a:prstGeom>
          <a:noFill/>
        </p:spPr>
        <p:txBody>
          <a:bodyPr wrap="none">
            <a:spAutoFit/>
          </a:bodyPr>
          <a:lstStyle/>
          <a:p>
            <a:pPr algn="ctr">
              <a:defRPr sz="1000" b="1">
                <a:solidFill>
                  <a:srgbClr val="10B981"/>
                </a:solidFill>
              </a:defRPr>
            </a:pPr>
            <a:r>
              <a:t>WS</a:t>
            </a:r>
          </a:p>
        </p:txBody>
      </p:sp>
      <p:sp>
        <p:nvSpPr>
          <p:cNvPr id="15" name="TextBox 14"/>
          <p:cNvSpPr txBox="1"/>
          <p:nvPr/>
        </p:nvSpPr>
        <p:spPr>
          <a:xfrm>
            <a:off x="10149840" y="3017520"/>
            <a:ext cx="1280160" cy="365760"/>
          </a:xfrm>
          <a:prstGeom prst="rect">
            <a:avLst/>
          </a:prstGeom>
          <a:noFill/>
        </p:spPr>
        <p:txBody>
          <a:bodyPr wrap="none">
            <a:spAutoFit/>
          </a:bodyPr>
          <a:lstStyle/>
          <a:p>
            <a:pPr algn="ctr">
              <a:defRPr sz="1000" b="1">
                <a:solidFill>
                  <a:srgbClr val="F59E0B"/>
                </a:solidFill>
              </a:defRPr>
            </a:pPr>
            <a:r>
              <a:t>HTTP</a:t>
            </a:r>
          </a:p>
        </p:txBody>
      </p:sp>
      <p:sp>
        <p:nvSpPr>
          <p:cNvPr id="16" name="Rounded Rectangle 15"/>
          <p:cNvSpPr/>
          <p:nvPr/>
        </p:nvSpPr>
        <p:spPr>
          <a:xfrm>
            <a:off x="6858000" y="3566160"/>
            <a:ext cx="4206240" cy="8229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0" y="3657600"/>
            <a:ext cx="4206240" cy="640080"/>
          </a:xfrm>
          <a:prstGeom prst="rect">
            <a:avLst/>
          </a:prstGeom>
          <a:noFill/>
        </p:spPr>
        <p:txBody>
          <a:bodyPr wrap="none">
            <a:spAutoFit/>
          </a:bodyPr>
          <a:lstStyle/>
          <a:p>
            <a:pPr algn="ctr">
              <a:defRPr sz="1400" b="1">
                <a:solidFill>
                  <a:srgbClr val="FFFFFF"/>
                </a:solidFill>
                <a:latin typeface="Segoe UI"/>
              </a:defRPr>
            </a:pPr>
            <a:r>
              <a:t>FastAPI Web Server</a:t>
            </a:r>
          </a:p>
          <a:p>
            <a:pPr algn="ctr">
              <a:defRPr sz="1100">
                <a:solidFill>
                  <a:srgbClr val="F59E0B"/>
                </a:solidFill>
                <a:latin typeface="Segoe UI"/>
              </a:defRPr>
            </a:pPr>
            <a:r>
              <a:t>Route Handlers | Socket Broadcasters</a:t>
            </a:r>
          </a:p>
        </p:txBody>
      </p:sp>
      <p:cxnSp>
        <p:nvCxnSpPr>
          <p:cNvPr id="18" name="Connector 17"/>
          <p:cNvCxnSpPr/>
          <p:nvPr/>
        </p:nvCxnSpPr>
        <p:spPr>
          <a:xfrm>
            <a:off x="8961120" y="4389120"/>
            <a:ext cx="0" cy="54864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858000" y="4937760"/>
            <a:ext cx="4206240" cy="822960"/>
          </a:xfrm>
          <a:prstGeom prst="roundRect">
            <a:avLst/>
          </a:prstGeom>
          <a:solidFill>
            <a:srgbClr val="1E293B"/>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5029200"/>
            <a:ext cx="4206240" cy="640080"/>
          </a:xfrm>
          <a:prstGeom prst="rect">
            <a:avLst/>
          </a:prstGeom>
          <a:noFill/>
        </p:spPr>
        <p:txBody>
          <a:bodyPr wrap="none">
            <a:spAutoFit/>
          </a:bodyPr>
          <a:lstStyle/>
          <a:p>
            <a:pPr algn="ctr">
              <a:defRPr sz="1400" b="1">
                <a:solidFill>
                  <a:srgbClr val="FFFFFF"/>
                </a:solidFill>
                <a:latin typeface="Segoe UI"/>
              </a:defRPr>
            </a:pPr>
            <a:r>
              <a:t>Heuristic Solver Core (Python/C++)</a:t>
            </a:r>
          </a:p>
          <a:p>
            <a:pPr algn="ctr">
              <a:defRPr sz="1100">
                <a:solidFill>
                  <a:srgbClr val="00B4D8"/>
                </a:solidFill>
                <a:latin typeface="Segoe UI"/>
              </a:defRPr>
            </a:pPr>
            <a:r>
              <a:t>Hierarchical DDQN | SciPy MILP | ALNS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EVALUATION</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Experimental Setup &amp; Integrity Protocols</a:t>
            </a:r>
          </a:p>
        </p:txBody>
      </p:sp>
      <p:sp>
        <p:nvSpPr>
          <p:cNvPr id="5" name="Rounded Rectangle 4"/>
          <p:cNvSpPr/>
          <p:nvPr/>
        </p:nvSpPr>
        <p:spPr>
          <a:xfrm>
            <a:off x="731520" y="1463040"/>
            <a:ext cx="548640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937760" cy="457200"/>
          </a:xfrm>
          <a:prstGeom prst="rect">
            <a:avLst/>
          </a:prstGeom>
          <a:noFill/>
        </p:spPr>
        <p:txBody>
          <a:bodyPr wrap="square" lIns="0" tIns="0" rIns="0" bIns="0">
            <a:spAutoFit/>
          </a:bodyPr>
          <a:lstStyle/>
          <a:p>
            <a:pPr>
              <a:defRPr sz="1800" b="1">
                <a:solidFill>
                  <a:srgbClr val="FFFFFF"/>
                </a:solidFill>
                <a:latin typeface="Segoe UI"/>
              </a:defRPr>
            </a:pPr>
            <a:r>
              <a:t>Methodological Control</a:t>
            </a:r>
          </a:p>
        </p:txBody>
      </p:sp>
      <p:sp>
        <p:nvSpPr>
          <p:cNvPr id="7" name="TextBox 6"/>
          <p:cNvSpPr txBox="1"/>
          <p:nvPr/>
        </p:nvSpPr>
        <p:spPr>
          <a:xfrm>
            <a:off x="1005840" y="2103120"/>
            <a:ext cx="4937760" cy="3657600"/>
          </a:xfrm>
          <a:prstGeom prst="rect">
            <a:avLst/>
          </a:prstGeom>
          <a:noFill/>
        </p:spPr>
        <p:txBody>
          <a:bodyPr wrap="square" lIns="0" tIns="0" rIns="0" bIns="0">
            <a:spAutoFit/>
          </a:bodyPr>
          <a:lstStyle/>
          <a:p>
            <a:pPr>
              <a:spcAft>
                <a:spcPts val="1000"/>
              </a:spcAft>
              <a:defRPr sz="1250">
                <a:solidFill>
                  <a:srgbClr val="E2E8F0"/>
                </a:solidFill>
                <a:latin typeface="Segoe UI"/>
              </a:defRPr>
            </a:pPr>
            <a:r>
              <a:t>Benchmark Target Datasets:</a:t>
            </a:r>
          </a:p>
          <a:p>
            <a:pPr lvl="1">
              <a:spcAft>
                <a:spcPts val="1000"/>
              </a:spcAft>
              <a:defRPr sz="1250">
                <a:solidFill>
                  <a:srgbClr val="E2E8F0"/>
                </a:solidFill>
                <a:latin typeface="Segoe UI"/>
              </a:defRPr>
            </a:pPr>
            <a:r>
              <a:t>Full Solomon 100-customer suite (56 instances).</a:t>
            </a:r>
          </a:p>
          <a:p>
            <a:pPr lvl="1">
              <a:spcAft>
                <a:spcPts val="1000"/>
              </a:spcAft>
              <a:defRPr sz="1250">
                <a:solidFill>
                  <a:srgbClr val="E2E8F0"/>
                </a:solidFill>
                <a:latin typeface="Segoe UI"/>
              </a:defRPr>
            </a:pPr>
            <a:r>
              <a:t>Gehring-Homberger 200 &amp; 400 scaling benchmarks.</a:t>
            </a:r>
          </a:p>
          <a:p>
            <a:pPr>
              <a:spcAft>
                <a:spcPts val="1000"/>
              </a:spcAft>
              <a:defRPr sz="1250">
                <a:solidFill>
                  <a:srgbClr val="E2E8F0"/>
                </a:solidFill>
                <a:latin typeface="Segoe UI"/>
              </a:defRPr>
            </a:pPr>
            <a:r>
              <a:t>Strict Independent Cold-Starts:</a:t>
            </a:r>
          </a:p>
          <a:p>
            <a:pPr lvl="1">
              <a:spcAft>
                <a:spcPts val="1000"/>
              </a:spcAft>
              <a:defRPr sz="1250">
                <a:solidFill>
                  <a:srgbClr val="E2E8F0"/>
                </a:solidFill>
                <a:latin typeface="Segoe UI"/>
              </a:defRPr>
            </a:pPr>
            <a:r>
              <a:t>Every run begins from a freshly cleared directory.</a:t>
            </a:r>
          </a:p>
          <a:p>
            <a:pPr lvl="1">
              <a:spcAft>
                <a:spcPts val="1000"/>
              </a:spcAft>
              <a:defRPr sz="1250">
                <a:solidFill>
                  <a:srgbClr val="E2E8F0"/>
                </a:solidFill>
                <a:latin typeface="Segoe UI"/>
              </a:defRPr>
            </a:pPr>
            <a:r>
              <a:t>Prevents cross-contamination from shared archives (warm-starting from elite routes generated in prior runs), ensuring reproducible evaluations.</a:t>
            </a:r>
          </a:p>
          <a:p>
            <a:pPr>
              <a:spcAft>
                <a:spcPts val="1000"/>
              </a:spcAft>
              <a:defRPr sz="1250">
                <a:solidFill>
                  <a:srgbClr val="E2E8F0"/>
                </a:solidFill>
                <a:latin typeface="Segoe UI"/>
              </a:defRPr>
            </a:pPr>
            <a:r>
              <a:t>Execution Consistency: Worker processes receive identical search boundaries and max iterations via matching CLI parameter overrides to avoid silent defaults.</a:t>
            </a:r>
          </a:p>
        </p:txBody>
      </p:sp>
      <p:sp>
        <p:nvSpPr>
          <p:cNvPr id="8" name="Rounded Rectangle 7"/>
          <p:cNvSpPr/>
          <p:nvPr/>
        </p:nvSpPr>
        <p:spPr>
          <a:xfrm>
            <a:off x="6492240" y="1463040"/>
            <a:ext cx="493776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737360"/>
            <a:ext cx="4389120" cy="457200"/>
          </a:xfrm>
          <a:prstGeom prst="rect">
            <a:avLst/>
          </a:prstGeom>
          <a:noFill/>
        </p:spPr>
        <p:txBody>
          <a:bodyPr wrap="square" lIns="0" tIns="0" rIns="0" bIns="0">
            <a:spAutoFit/>
          </a:bodyPr>
          <a:lstStyle/>
          <a:p>
            <a:pPr>
              <a:defRPr sz="1800" b="1">
                <a:solidFill>
                  <a:srgbClr val="FFFFFF"/>
                </a:solidFill>
                <a:latin typeface="Segoe UI"/>
              </a:defRPr>
            </a:pPr>
            <a:r>
              <a:t>Integrity &amp; Hardware Settings</a:t>
            </a:r>
          </a:p>
        </p:txBody>
      </p:sp>
      <p:sp>
        <p:nvSpPr>
          <p:cNvPr id="10" name="Rounded Rectangle 9"/>
          <p:cNvSpPr/>
          <p:nvPr/>
        </p:nvSpPr>
        <p:spPr>
          <a:xfrm>
            <a:off x="6858000" y="2011680"/>
            <a:ext cx="4206240" cy="201168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0" y="2103120"/>
            <a:ext cx="3840480" cy="1828800"/>
          </a:xfrm>
          <a:prstGeom prst="rect">
            <a:avLst/>
          </a:prstGeom>
          <a:noFill/>
        </p:spPr>
        <p:txBody>
          <a:bodyPr wrap="square" lIns="0" tIns="0" rIns="0" bIns="0">
            <a:spAutoFit/>
          </a:bodyPr>
          <a:lstStyle/>
          <a:p>
            <a:pPr>
              <a:spcAft>
                <a:spcPts val="1000"/>
              </a:spcAft>
              <a:defRPr sz="1500" b="1">
                <a:solidFill>
                  <a:srgbClr val="EF4444"/>
                </a:solidFill>
                <a:latin typeface="Segoe UI"/>
              </a:defRPr>
            </a:pPr>
            <a:r>
              <a:t>⚠ Warning on Academic Integrity</a:t>
            </a:r>
          </a:p>
          <a:p>
            <a:pPr>
              <a:defRPr sz="1100">
                <a:solidFill>
                  <a:srgbClr val="E2E8F0"/>
                </a:solidFill>
                <a:latin typeface="Segoe UI"/>
              </a:defRPr>
            </a:pPr>
            <a:r>
              <a:t>Several publications report high-performance bounds by running instances sequentially without clearing historical pools. Under independent cold-starts, these benchmarks drop to baseline ranges (e.g. Solomon RC101 drops to 15 vehicles unless proactive seeding is active).</a:t>
            </a:r>
          </a:p>
        </p:txBody>
      </p:sp>
      <p:sp>
        <p:nvSpPr>
          <p:cNvPr id="12" name="Rounded Rectangle 11"/>
          <p:cNvSpPr/>
          <p:nvPr/>
        </p:nvSpPr>
        <p:spPr>
          <a:xfrm>
            <a:off x="6858000" y="4297680"/>
            <a:ext cx="4206240" cy="1371600"/>
          </a:xfrm>
          <a:prstGeom prst="roundRect">
            <a:avLst/>
          </a:prstGeom>
          <a:solidFill>
            <a:srgbClr val="1E293B"/>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0" y="4389120"/>
            <a:ext cx="3840480" cy="1188720"/>
          </a:xfrm>
          <a:prstGeom prst="rect">
            <a:avLst/>
          </a:prstGeom>
          <a:noFill/>
        </p:spPr>
        <p:txBody>
          <a:bodyPr wrap="square" lIns="0" tIns="0" rIns="0" bIns="0">
            <a:spAutoFit/>
          </a:bodyPr>
          <a:lstStyle/>
          <a:p>
            <a:pPr>
              <a:spcAft>
                <a:spcPts val="600"/>
              </a:spcAft>
              <a:defRPr sz="1500" b="1">
                <a:solidFill>
                  <a:srgbClr val="FFFFFF"/>
                </a:solidFill>
                <a:latin typeface="Segoe UI"/>
              </a:defRPr>
            </a:pPr>
            <a:r>
              <a:t>Hardware &amp; Tooling Specs</a:t>
            </a:r>
          </a:p>
          <a:p>
            <a:pPr>
              <a:defRPr sz="1100">
                <a:solidFill>
                  <a:srgbClr val="E2E8F0"/>
                </a:solidFill>
                <a:latin typeface="Segoe UI"/>
              </a:defRPr>
            </a:pPr>
            <a:r>
              <a:t>• CPU: Apple M-Series / Intel Xeon Core-isolated servers.</a:t>
            </a:r>
            <a:br/>
            <a:r>
              <a:t>• Math Solver: SciPy MILP / Gurobi Engine.</a:t>
            </a:r>
            <a:br/>
            <a:r>
              <a:t>• Deep Learning: PyTorch (safe-tensors format).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RESULTS</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Solomon Benchmark: Vehicle Minimization</a:t>
            </a:r>
          </a:p>
        </p:txBody>
      </p:sp>
      <p:sp>
        <p:nvSpPr>
          <p:cNvPr id="5" name="Rounded Rectangle 4"/>
          <p:cNvSpPr/>
          <p:nvPr/>
        </p:nvSpPr>
        <p:spPr>
          <a:xfrm>
            <a:off x="731520" y="1463040"/>
            <a:ext cx="1069848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10149840" cy="457200"/>
          </a:xfrm>
          <a:prstGeom prst="rect">
            <a:avLst/>
          </a:prstGeom>
          <a:noFill/>
        </p:spPr>
        <p:txBody>
          <a:bodyPr wrap="square" lIns="0" tIns="0" rIns="0" bIns="0">
            <a:spAutoFit/>
          </a:bodyPr>
          <a:lstStyle/>
          <a:p>
            <a:pPr>
              <a:defRPr sz="1800" b="1">
                <a:solidFill>
                  <a:srgbClr val="FFFFFF"/>
                </a:solidFill>
                <a:latin typeface="Segoe UI"/>
              </a:defRPr>
            </a:pPr>
            <a:r>
              <a:t>Average Fleet Size Comparison (Mean NV)</a:t>
            </a:r>
          </a:p>
        </p:txBody>
      </p:sp>
      <p:graphicFrame>
        <p:nvGraphicFramePr>
          <p:cNvPr id="7" name="Table 6"/>
          <p:cNvGraphicFramePr>
            <a:graphicFrameLocks noGrp="1"/>
          </p:cNvGraphicFramePr>
          <p:nvPr/>
        </p:nvGraphicFramePr>
        <p:xfrm>
          <a:off x="1005840" y="2011680"/>
          <a:ext cx="10149840" cy="3474720"/>
        </p:xfrm>
        <a:graphic>
          <a:graphicData uri="http://schemas.openxmlformats.org/drawingml/2006/table">
            <a:tbl>
              <a:tblPr firstRow="1" bandRow="1">
                <a:tableStyleId>{5C22544A-7EE6-4342-B048-85BDC9FD1C3A}</a:tableStyleId>
              </a:tblPr>
              <a:tblGrid>
                <a:gridCol w="1691640"/>
                <a:gridCol w="1691640"/>
                <a:gridCol w="1691640"/>
                <a:gridCol w="1691640"/>
                <a:gridCol w="1691640"/>
                <a:gridCol w="1691640"/>
              </a:tblGrid>
              <a:tr h="496388">
                <a:tc>
                  <a:txBody>
                    <a:bodyPr/>
                    <a:lstStyle/>
                    <a:p>
                      <a:pPr algn="ctr">
                        <a:defRPr sz="1200" b="1">
                          <a:solidFill>
                            <a:srgbClr val="FFFFFF"/>
                          </a:solidFill>
                          <a:latin typeface="Segoe UI"/>
                        </a:defRPr>
                      </a:pPr>
                      <a:r>
                        <a:t>Instance Class</a:t>
                      </a:r>
                    </a:p>
                  </a:txBody>
                  <a:tcPr>
                    <a:solidFill>
                      <a:srgbClr val="0F172A"/>
                    </a:solidFill>
                  </a:tcPr>
                </a:tc>
                <a:tc>
                  <a:txBody>
                    <a:bodyPr/>
                    <a:lstStyle/>
                    <a:p>
                      <a:pPr algn="ctr">
                        <a:defRPr sz="1200" b="1">
                          <a:solidFill>
                            <a:srgbClr val="FFFFFF"/>
                          </a:solidFill>
                          <a:latin typeface="Segoe UI"/>
                        </a:defRPr>
                      </a:pPr>
                      <a:r>
                        <a:t>BKS Value</a:t>
                      </a:r>
                    </a:p>
                  </a:txBody>
                  <a:tcPr>
                    <a:solidFill>
                      <a:srgbClr val="0F172A"/>
                    </a:solidFill>
                  </a:tcPr>
                </a:tc>
                <a:tc>
                  <a:txBody>
                    <a:bodyPr/>
                    <a:lstStyle/>
                    <a:p>
                      <a:pPr algn="ctr">
                        <a:defRPr sz="1200" b="1">
                          <a:solidFill>
                            <a:srgbClr val="FFFFFF"/>
                          </a:solidFill>
                          <a:latin typeface="Segoe UI"/>
                        </a:defRPr>
                      </a:pPr>
                      <a:r>
                        <a:t>Google OR-Tools</a:t>
                      </a:r>
                    </a:p>
                  </a:txBody>
                  <a:tcPr>
                    <a:solidFill>
                      <a:srgbClr val="0F172A"/>
                    </a:solidFill>
                  </a:tcPr>
                </a:tc>
                <a:tc>
                  <a:txBody>
                    <a:bodyPr/>
                    <a:lstStyle/>
                    <a:p>
                      <a:pPr algn="ctr">
                        <a:defRPr sz="1200" b="1">
                          <a:solidFill>
                            <a:srgbClr val="FFFFFF"/>
                          </a:solidFill>
                          <a:latin typeface="Segoe UI"/>
                        </a:defRPr>
                      </a:pPr>
                      <a:r>
                        <a:t>ALNS-Base Heuristic</a:t>
                      </a:r>
                    </a:p>
                  </a:txBody>
                  <a:tcPr>
                    <a:solidFill>
                      <a:srgbClr val="0F172A"/>
                    </a:solidFill>
                  </a:tcPr>
                </a:tc>
                <a:tc>
                  <a:txBody>
                    <a:bodyPr/>
                    <a:lstStyle/>
                    <a:p>
                      <a:pPr algn="ctr">
                        <a:defRPr sz="1200" b="1">
                          <a:solidFill>
                            <a:srgbClr val="FFFFFF"/>
                          </a:solidFill>
                          <a:latin typeface="Segoe UI"/>
                        </a:defRPr>
                      </a:pPr>
                      <a:r>
                        <a:t>Hybrid DDQN-ALNS (Ours)</a:t>
                      </a:r>
                    </a:p>
                  </a:txBody>
                  <a:tcPr>
                    <a:solidFill>
                      <a:srgbClr val="0F172A"/>
                    </a:solidFill>
                  </a:tcPr>
                </a:tc>
                <a:tc>
                  <a:txBody>
                    <a:bodyPr/>
                    <a:lstStyle/>
                    <a:p>
                      <a:pPr algn="ctr">
                        <a:defRPr sz="1200" b="1">
                          <a:solidFill>
                            <a:srgbClr val="FFFFFF"/>
                          </a:solidFill>
                          <a:latin typeface="Segoe UI"/>
                        </a:defRPr>
                      </a:pPr>
                      <a:r>
                        <a:t>Improvement vs OR-Tools</a:t>
                      </a:r>
                    </a:p>
                  </a:txBody>
                  <a:tcPr>
                    <a:solidFill>
                      <a:srgbClr val="0F172A"/>
                    </a:solidFill>
                  </a:tcPr>
                </a:tc>
              </a:tr>
              <a:tr h="496388">
                <a:tc>
                  <a:txBody>
                    <a:bodyPr/>
                    <a:lstStyle/>
                    <a:p>
                      <a:pPr algn="ctr">
                        <a:defRPr sz="1100">
                          <a:solidFill>
                            <a:srgbClr val="E2E8F0"/>
                          </a:solidFill>
                          <a:latin typeface="Segoe UI"/>
                        </a:defRPr>
                      </a:pPr>
                      <a:r>
                        <a:t>Solomon C1</a:t>
                      </a:r>
                    </a:p>
                  </a:txBody>
                  <a:tcPr>
                    <a:solidFill>
                      <a:srgbClr val="1E293B"/>
                    </a:solidFill>
                  </a:tcPr>
                </a:tc>
                <a:tc>
                  <a:txBody>
                    <a:bodyPr/>
                    <a:lstStyle/>
                    <a:p>
                      <a:pPr algn="ctr">
                        <a:defRPr sz="1100">
                          <a:solidFill>
                            <a:srgbClr val="E2E8F0"/>
                          </a:solidFill>
                          <a:latin typeface="Segoe UI"/>
                        </a:defRPr>
                      </a:pPr>
                      <a:r>
                        <a:t>10.00</a:t>
                      </a:r>
                    </a:p>
                  </a:txBody>
                  <a:tcPr>
                    <a:solidFill>
                      <a:srgbClr val="1E293B"/>
                    </a:solidFill>
                  </a:tcPr>
                </a:tc>
                <a:tc>
                  <a:txBody>
                    <a:bodyPr/>
                    <a:lstStyle/>
                    <a:p>
                      <a:pPr algn="ctr">
                        <a:defRPr sz="1100">
                          <a:solidFill>
                            <a:srgbClr val="E2E8F0"/>
                          </a:solidFill>
                          <a:latin typeface="Segoe UI"/>
                        </a:defRPr>
                      </a:pPr>
                      <a:r>
                        <a:t>10.00</a:t>
                      </a:r>
                    </a:p>
                  </a:txBody>
                  <a:tcPr>
                    <a:solidFill>
                      <a:srgbClr val="1E293B"/>
                    </a:solidFill>
                  </a:tcPr>
                </a:tc>
                <a:tc>
                  <a:txBody>
                    <a:bodyPr/>
                    <a:lstStyle/>
                    <a:p>
                      <a:pPr algn="ctr">
                        <a:defRPr sz="1100">
                          <a:solidFill>
                            <a:srgbClr val="E2E8F0"/>
                          </a:solidFill>
                          <a:latin typeface="Segoe UI"/>
                        </a:defRPr>
                      </a:pPr>
                      <a:r>
                        <a:t>10.00</a:t>
                      </a:r>
                    </a:p>
                  </a:txBody>
                  <a:tcPr>
                    <a:solidFill>
                      <a:srgbClr val="1E293B"/>
                    </a:solidFill>
                  </a:tcPr>
                </a:tc>
                <a:tc>
                  <a:txBody>
                    <a:bodyPr/>
                    <a:lstStyle/>
                    <a:p>
                      <a:pPr algn="ctr">
                        <a:defRPr sz="1100" b="1">
                          <a:solidFill>
                            <a:srgbClr val="10B981"/>
                          </a:solidFill>
                          <a:latin typeface="Segoe UI"/>
                        </a:defRPr>
                      </a:pPr>
                      <a:r>
                        <a:t>10.00</a:t>
                      </a:r>
                    </a:p>
                  </a:txBody>
                  <a:tcPr>
                    <a:solidFill>
                      <a:srgbClr val="1E293B"/>
                    </a:solidFill>
                  </a:tcPr>
                </a:tc>
                <a:tc>
                  <a:txBody>
                    <a:bodyPr/>
                    <a:lstStyle/>
                    <a:p>
                      <a:pPr algn="ctr">
                        <a:defRPr sz="1100">
                          <a:solidFill>
                            <a:srgbClr val="E2E8F0"/>
                          </a:solidFill>
                          <a:latin typeface="Segoe UI"/>
                        </a:defRPr>
                      </a:pPr>
                      <a:r>
                        <a:t>Matched</a:t>
                      </a:r>
                    </a:p>
                  </a:txBody>
                  <a:tcPr>
                    <a:solidFill>
                      <a:srgbClr val="1E293B"/>
                    </a:solidFill>
                  </a:tcPr>
                </a:tc>
              </a:tr>
              <a:tr h="496388">
                <a:tc>
                  <a:txBody>
                    <a:bodyPr/>
                    <a:lstStyle/>
                    <a:p>
                      <a:pPr algn="ctr">
                        <a:defRPr sz="1100">
                          <a:solidFill>
                            <a:srgbClr val="E2E8F0"/>
                          </a:solidFill>
                          <a:latin typeface="Segoe UI"/>
                        </a:defRPr>
                      </a:pPr>
                      <a:r>
                        <a:t>Solomon R1</a:t>
                      </a:r>
                    </a:p>
                  </a:txBody>
                  <a:tcPr>
                    <a:solidFill>
                      <a:srgbClr val="1E293B"/>
                    </a:solidFill>
                  </a:tcPr>
                </a:tc>
                <a:tc>
                  <a:txBody>
                    <a:bodyPr/>
                    <a:lstStyle/>
                    <a:p>
                      <a:pPr algn="ctr">
                        <a:defRPr sz="1100">
                          <a:solidFill>
                            <a:srgbClr val="E2E8F0"/>
                          </a:solidFill>
                          <a:latin typeface="Segoe UI"/>
                        </a:defRPr>
                      </a:pPr>
                      <a:r>
                        <a:t>11.92</a:t>
                      </a:r>
                    </a:p>
                  </a:txBody>
                  <a:tcPr>
                    <a:solidFill>
                      <a:srgbClr val="1E293B"/>
                    </a:solidFill>
                  </a:tcPr>
                </a:tc>
                <a:tc>
                  <a:txBody>
                    <a:bodyPr/>
                    <a:lstStyle/>
                    <a:p>
                      <a:pPr algn="ctr">
                        <a:defRPr sz="1100">
                          <a:solidFill>
                            <a:srgbClr val="E2E8F0"/>
                          </a:solidFill>
                          <a:latin typeface="Segoe UI"/>
                        </a:defRPr>
                      </a:pPr>
                      <a:r>
                        <a:t>12.08</a:t>
                      </a:r>
                    </a:p>
                  </a:txBody>
                  <a:tcPr>
                    <a:solidFill>
                      <a:srgbClr val="1E293B"/>
                    </a:solidFill>
                  </a:tcPr>
                </a:tc>
                <a:tc>
                  <a:txBody>
                    <a:bodyPr/>
                    <a:lstStyle/>
                    <a:p>
                      <a:pPr algn="ctr">
                        <a:defRPr sz="1100">
                          <a:solidFill>
                            <a:srgbClr val="E2E8F0"/>
                          </a:solidFill>
                          <a:latin typeface="Segoe UI"/>
                        </a:defRPr>
                      </a:pPr>
                      <a:r>
                        <a:t>12.00</a:t>
                      </a:r>
                    </a:p>
                  </a:txBody>
                  <a:tcPr>
                    <a:solidFill>
                      <a:srgbClr val="1E293B"/>
                    </a:solidFill>
                  </a:tcPr>
                </a:tc>
                <a:tc>
                  <a:txBody>
                    <a:bodyPr/>
                    <a:lstStyle/>
                    <a:p>
                      <a:pPr algn="ctr">
                        <a:defRPr sz="1100" b="1">
                          <a:solidFill>
                            <a:srgbClr val="10B981"/>
                          </a:solidFill>
                          <a:latin typeface="Segoe UI"/>
                        </a:defRPr>
                      </a:pPr>
                      <a:r>
                        <a:t>11.96</a:t>
                      </a:r>
                    </a:p>
                  </a:txBody>
                  <a:tcPr>
                    <a:solidFill>
                      <a:srgbClr val="1E293B"/>
                    </a:solidFill>
                  </a:tcPr>
                </a:tc>
                <a:tc>
                  <a:txBody>
                    <a:bodyPr/>
                    <a:lstStyle/>
                    <a:p>
                      <a:pPr algn="ctr">
                        <a:defRPr sz="1100" b="1">
                          <a:solidFill>
                            <a:srgbClr val="00B4D8"/>
                          </a:solidFill>
                          <a:latin typeface="Segoe UI"/>
                        </a:defRPr>
                      </a:pPr>
                      <a:r>
                        <a:t>-0.99%</a:t>
                      </a:r>
                    </a:p>
                  </a:txBody>
                  <a:tcPr>
                    <a:solidFill>
                      <a:srgbClr val="1E293B"/>
                    </a:solidFill>
                  </a:tcPr>
                </a:tc>
              </a:tr>
              <a:tr h="496388">
                <a:tc>
                  <a:txBody>
                    <a:bodyPr/>
                    <a:lstStyle/>
                    <a:p>
                      <a:pPr algn="ctr">
                        <a:defRPr sz="1100">
                          <a:solidFill>
                            <a:srgbClr val="E2E8F0"/>
                          </a:solidFill>
                          <a:latin typeface="Segoe UI"/>
                        </a:defRPr>
                      </a:pPr>
                      <a:r>
                        <a:t>Solomon RC1</a:t>
                      </a:r>
                    </a:p>
                  </a:txBody>
                  <a:tcPr>
                    <a:solidFill>
                      <a:srgbClr val="1E293B"/>
                    </a:solidFill>
                  </a:tcPr>
                </a:tc>
                <a:tc>
                  <a:txBody>
                    <a:bodyPr/>
                    <a:lstStyle/>
                    <a:p>
                      <a:pPr algn="ctr">
                        <a:defRPr sz="1100">
                          <a:solidFill>
                            <a:srgbClr val="E2E8F0"/>
                          </a:solidFill>
                          <a:latin typeface="Segoe UI"/>
                        </a:defRPr>
                      </a:pPr>
                      <a:r>
                        <a:t>11.50</a:t>
                      </a:r>
                    </a:p>
                  </a:txBody>
                  <a:tcPr>
                    <a:solidFill>
                      <a:srgbClr val="1E293B"/>
                    </a:solidFill>
                  </a:tcPr>
                </a:tc>
                <a:tc>
                  <a:txBody>
                    <a:bodyPr/>
                    <a:lstStyle/>
                    <a:p>
                      <a:pPr algn="ctr">
                        <a:defRPr sz="1100">
                          <a:solidFill>
                            <a:srgbClr val="E2E8F0"/>
                          </a:solidFill>
                          <a:latin typeface="Segoe UI"/>
                        </a:defRPr>
                      </a:pPr>
                      <a:r>
                        <a:t>11.88</a:t>
                      </a:r>
                    </a:p>
                  </a:txBody>
                  <a:tcPr>
                    <a:solidFill>
                      <a:srgbClr val="1E293B"/>
                    </a:solidFill>
                  </a:tcPr>
                </a:tc>
                <a:tc>
                  <a:txBody>
                    <a:bodyPr/>
                    <a:lstStyle/>
                    <a:p>
                      <a:pPr algn="ctr">
                        <a:defRPr sz="1100">
                          <a:solidFill>
                            <a:srgbClr val="E2E8F0"/>
                          </a:solidFill>
                          <a:latin typeface="Segoe UI"/>
                        </a:defRPr>
                      </a:pPr>
                      <a:r>
                        <a:t>11.63</a:t>
                      </a:r>
                    </a:p>
                  </a:txBody>
                  <a:tcPr>
                    <a:solidFill>
                      <a:srgbClr val="1E293B"/>
                    </a:solidFill>
                  </a:tcPr>
                </a:tc>
                <a:tc>
                  <a:txBody>
                    <a:bodyPr/>
                    <a:lstStyle/>
                    <a:p>
                      <a:pPr algn="ctr">
                        <a:defRPr sz="1100" b="1">
                          <a:solidFill>
                            <a:srgbClr val="10B981"/>
                          </a:solidFill>
                          <a:latin typeface="Segoe UI"/>
                        </a:defRPr>
                      </a:pPr>
                      <a:r>
                        <a:t>11.46*</a:t>
                      </a:r>
                    </a:p>
                  </a:txBody>
                  <a:tcPr>
                    <a:solidFill>
                      <a:srgbClr val="1E293B"/>
                    </a:solidFill>
                  </a:tcPr>
                </a:tc>
                <a:tc>
                  <a:txBody>
                    <a:bodyPr/>
                    <a:lstStyle/>
                    <a:p>
                      <a:pPr algn="ctr">
                        <a:defRPr sz="1100" b="1">
                          <a:solidFill>
                            <a:srgbClr val="00B4D8"/>
                          </a:solidFill>
                          <a:latin typeface="Segoe UI"/>
                        </a:defRPr>
                      </a:pPr>
                      <a:r>
                        <a:t>-3.53%</a:t>
                      </a:r>
                    </a:p>
                  </a:txBody>
                  <a:tcPr>
                    <a:solidFill>
                      <a:srgbClr val="1E293B"/>
                    </a:solidFill>
                  </a:tcPr>
                </a:tc>
              </a:tr>
              <a:tr h="496388">
                <a:tc>
                  <a:txBody>
                    <a:bodyPr/>
                    <a:lstStyle/>
                    <a:p>
                      <a:pPr algn="ctr">
                        <a:defRPr sz="1100">
                          <a:solidFill>
                            <a:srgbClr val="E2E8F0"/>
                          </a:solidFill>
                          <a:latin typeface="Segoe UI"/>
                        </a:defRPr>
                      </a:pPr>
                      <a:r>
                        <a:t>Solomon C2</a:t>
                      </a:r>
                    </a:p>
                  </a:txBody>
                  <a:tcPr>
                    <a:solidFill>
                      <a:srgbClr val="1E293B"/>
                    </a:solidFill>
                  </a:tcPr>
                </a:tc>
                <a:tc>
                  <a:txBody>
                    <a:bodyPr/>
                    <a:lstStyle/>
                    <a:p>
                      <a:pPr algn="ctr">
                        <a:defRPr sz="1100">
                          <a:solidFill>
                            <a:srgbClr val="E2E8F0"/>
                          </a:solidFill>
                          <a:latin typeface="Segoe UI"/>
                        </a:defRPr>
                      </a:pPr>
                      <a:r>
                        <a:t>3.00</a:t>
                      </a:r>
                    </a:p>
                  </a:txBody>
                  <a:tcPr>
                    <a:solidFill>
                      <a:srgbClr val="1E293B"/>
                    </a:solidFill>
                  </a:tcPr>
                </a:tc>
                <a:tc>
                  <a:txBody>
                    <a:bodyPr/>
                    <a:lstStyle/>
                    <a:p>
                      <a:pPr algn="ctr">
                        <a:defRPr sz="1100">
                          <a:solidFill>
                            <a:srgbClr val="E2E8F0"/>
                          </a:solidFill>
                          <a:latin typeface="Segoe UI"/>
                        </a:defRPr>
                      </a:pPr>
                      <a:r>
                        <a:t>3.00</a:t>
                      </a:r>
                    </a:p>
                  </a:txBody>
                  <a:tcPr>
                    <a:solidFill>
                      <a:srgbClr val="1E293B"/>
                    </a:solidFill>
                  </a:tcPr>
                </a:tc>
                <a:tc>
                  <a:txBody>
                    <a:bodyPr/>
                    <a:lstStyle/>
                    <a:p>
                      <a:pPr algn="ctr">
                        <a:defRPr sz="1100">
                          <a:solidFill>
                            <a:srgbClr val="E2E8F0"/>
                          </a:solidFill>
                          <a:latin typeface="Segoe UI"/>
                        </a:defRPr>
                      </a:pPr>
                      <a:r>
                        <a:t>3.00</a:t>
                      </a:r>
                    </a:p>
                  </a:txBody>
                  <a:tcPr>
                    <a:solidFill>
                      <a:srgbClr val="1E293B"/>
                    </a:solidFill>
                  </a:tcPr>
                </a:tc>
                <a:tc>
                  <a:txBody>
                    <a:bodyPr/>
                    <a:lstStyle/>
                    <a:p>
                      <a:pPr algn="ctr">
                        <a:defRPr sz="1100" b="1">
                          <a:solidFill>
                            <a:srgbClr val="10B981"/>
                          </a:solidFill>
                          <a:latin typeface="Segoe UI"/>
                        </a:defRPr>
                      </a:pPr>
                      <a:r>
                        <a:t>3.00</a:t>
                      </a:r>
                    </a:p>
                  </a:txBody>
                  <a:tcPr>
                    <a:solidFill>
                      <a:srgbClr val="1E293B"/>
                    </a:solidFill>
                  </a:tcPr>
                </a:tc>
                <a:tc>
                  <a:txBody>
                    <a:bodyPr/>
                    <a:lstStyle/>
                    <a:p>
                      <a:pPr algn="ctr">
                        <a:defRPr sz="1100">
                          <a:solidFill>
                            <a:srgbClr val="E2E8F0"/>
                          </a:solidFill>
                          <a:latin typeface="Segoe UI"/>
                        </a:defRPr>
                      </a:pPr>
                      <a:r>
                        <a:t>Matched</a:t>
                      </a:r>
                    </a:p>
                  </a:txBody>
                  <a:tcPr>
                    <a:solidFill>
                      <a:srgbClr val="1E293B"/>
                    </a:solidFill>
                  </a:tcPr>
                </a:tc>
              </a:tr>
              <a:tr h="496388">
                <a:tc>
                  <a:txBody>
                    <a:bodyPr/>
                    <a:lstStyle/>
                    <a:p>
                      <a:pPr algn="ctr">
                        <a:defRPr sz="1100">
                          <a:solidFill>
                            <a:srgbClr val="E2E8F0"/>
                          </a:solidFill>
                          <a:latin typeface="Segoe UI"/>
                        </a:defRPr>
                      </a:pPr>
                      <a:r>
                        <a:t>Solomon R2</a:t>
                      </a:r>
                    </a:p>
                  </a:txBody>
                  <a:tcPr>
                    <a:solidFill>
                      <a:srgbClr val="1E293B"/>
                    </a:solidFill>
                  </a:tcPr>
                </a:tc>
                <a:tc>
                  <a:txBody>
                    <a:bodyPr/>
                    <a:lstStyle/>
                    <a:p>
                      <a:pPr algn="ctr">
                        <a:defRPr sz="1100">
                          <a:solidFill>
                            <a:srgbClr val="E2E8F0"/>
                          </a:solidFill>
                          <a:latin typeface="Segoe UI"/>
                        </a:defRPr>
                      </a:pPr>
                      <a:r>
                        <a:t>2.73</a:t>
                      </a:r>
                    </a:p>
                  </a:txBody>
                  <a:tcPr>
                    <a:solidFill>
                      <a:srgbClr val="1E293B"/>
                    </a:solidFill>
                  </a:tcPr>
                </a:tc>
                <a:tc>
                  <a:txBody>
                    <a:bodyPr/>
                    <a:lstStyle/>
                    <a:p>
                      <a:pPr algn="ctr">
                        <a:defRPr sz="1100">
                          <a:solidFill>
                            <a:srgbClr val="E2E8F0"/>
                          </a:solidFill>
                          <a:latin typeface="Segoe UI"/>
                        </a:defRPr>
                      </a:pPr>
                      <a:r>
                        <a:t>3.18</a:t>
                      </a:r>
                    </a:p>
                  </a:txBody>
                  <a:tcPr>
                    <a:solidFill>
                      <a:srgbClr val="1E293B"/>
                    </a:solidFill>
                  </a:tcPr>
                </a:tc>
                <a:tc>
                  <a:txBody>
                    <a:bodyPr/>
                    <a:lstStyle/>
                    <a:p>
                      <a:pPr algn="ctr">
                        <a:defRPr sz="1100">
                          <a:solidFill>
                            <a:srgbClr val="E2E8F0"/>
                          </a:solidFill>
                          <a:latin typeface="Segoe UI"/>
                        </a:defRPr>
                      </a:pPr>
                      <a:r>
                        <a:t>2.82</a:t>
                      </a:r>
                    </a:p>
                  </a:txBody>
                  <a:tcPr>
                    <a:solidFill>
                      <a:srgbClr val="1E293B"/>
                    </a:solidFill>
                  </a:tcPr>
                </a:tc>
                <a:tc>
                  <a:txBody>
                    <a:bodyPr/>
                    <a:lstStyle/>
                    <a:p>
                      <a:pPr algn="ctr">
                        <a:defRPr sz="1100" b="1">
                          <a:solidFill>
                            <a:srgbClr val="10B981"/>
                          </a:solidFill>
                          <a:latin typeface="Segoe UI"/>
                        </a:defRPr>
                      </a:pPr>
                      <a:r>
                        <a:t>2.73</a:t>
                      </a:r>
                    </a:p>
                  </a:txBody>
                  <a:tcPr>
                    <a:solidFill>
                      <a:srgbClr val="1E293B"/>
                    </a:solidFill>
                  </a:tcPr>
                </a:tc>
                <a:tc>
                  <a:txBody>
                    <a:bodyPr/>
                    <a:lstStyle/>
                    <a:p>
                      <a:pPr algn="ctr">
                        <a:defRPr sz="1100" b="1">
                          <a:solidFill>
                            <a:srgbClr val="00B4D8"/>
                          </a:solidFill>
                          <a:latin typeface="Segoe UI"/>
                        </a:defRPr>
                      </a:pPr>
                      <a:r>
                        <a:t>-14.15%</a:t>
                      </a:r>
                    </a:p>
                  </a:txBody>
                  <a:tcPr>
                    <a:solidFill>
                      <a:srgbClr val="1E293B"/>
                    </a:solidFill>
                  </a:tcPr>
                </a:tc>
              </a:tr>
              <a:tr h="496392">
                <a:tc>
                  <a:txBody>
                    <a:bodyPr/>
                    <a:lstStyle/>
                    <a:p>
                      <a:pPr algn="ctr">
                        <a:defRPr sz="1100">
                          <a:solidFill>
                            <a:srgbClr val="E2E8F0"/>
                          </a:solidFill>
                          <a:latin typeface="Segoe UI"/>
                        </a:defRPr>
                      </a:pPr>
                      <a:r>
                        <a:t>Solomon RC2</a:t>
                      </a:r>
                    </a:p>
                  </a:txBody>
                  <a:tcPr>
                    <a:solidFill>
                      <a:srgbClr val="1E293B"/>
                    </a:solidFill>
                  </a:tcPr>
                </a:tc>
                <a:tc>
                  <a:txBody>
                    <a:bodyPr/>
                    <a:lstStyle/>
                    <a:p>
                      <a:pPr algn="ctr">
                        <a:defRPr sz="1100">
                          <a:solidFill>
                            <a:srgbClr val="E2E8F0"/>
                          </a:solidFill>
                          <a:latin typeface="Segoe UI"/>
                        </a:defRPr>
                      </a:pPr>
                      <a:r>
                        <a:t>3.25</a:t>
                      </a:r>
                    </a:p>
                  </a:txBody>
                  <a:tcPr>
                    <a:solidFill>
                      <a:srgbClr val="1E293B"/>
                    </a:solidFill>
                  </a:tcPr>
                </a:tc>
                <a:tc>
                  <a:txBody>
                    <a:bodyPr/>
                    <a:lstStyle/>
                    <a:p>
                      <a:pPr algn="ctr">
                        <a:defRPr sz="1100" b="1">
                          <a:solidFill>
                            <a:srgbClr val="EF4444"/>
                          </a:solidFill>
                          <a:latin typeface="Segoe UI"/>
                        </a:defRPr>
                      </a:pPr>
                      <a:r>
                        <a:t>6.25 †</a:t>
                      </a:r>
                    </a:p>
                  </a:txBody>
                  <a:tcPr>
                    <a:solidFill>
                      <a:srgbClr val="1E293B"/>
                    </a:solidFill>
                  </a:tcPr>
                </a:tc>
                <a:tc>
                  <a:txBody>
                    <a:bodyPr/>
                    <a:lstStyle/>
                    <a:p>
                      <a:pPr algn="ctr">
                        <a:defRPr sz="1100">
                          <a:solidFill>
                            <a:srgbClr val="E2E8F0"/>
                          </a:solidFill>
                          <a:latin typeface="Segoe UI"/>
                        </a:defRPr>
                      </a:pPr>
                      <a:r>
                        <a:t>3.50</a:t>
                      </a:r>
                    </a:p>
                  </a:txBody>
                  <a:tcPr>
                    <a:solidFill>
                      <a:srgbClr val="1E293B"/>
                    </a:solidFill>
                  </a:tcPr>
                </a:tc>
                <a:tc>
                  <a:txBody>
                    <a:bodyPr/>
                    <a:lstStyle/>
                    <a:p>
                      <a:pPr algn="ctr">
                        <a:defRPr sz="1100" b="1">
                          <a:solidFill>
                            <a:srgbClr val="10B981"/>
                          </a:solidFill>
                          <a:latin typeface="Segoe UI"/>
                        </a:defRPr>
                      </a:pPr>
                      <a:r>
                        <a:t>3.47</a:t>
                      </a:r>
                    </a:p>
                  </a:txBody>
                  <a:tcPr>
                    <a:solidFill>
                      <a:srgbClr val="1E293B"/>
                    </a:solidFill>
                  </a:tcPr>
                </a:tc>
                <a:tc>
                  <a:txBody>
                    <a:bodyPr/>
                    <a:lstStyle/>
                    <a:p>
                      <a:pPr algn="ctr">
                        <a:defRPr sz="1100" b="1">
                          <a:solidFill>
                            <a:srgbClr val="00B4D8"/>
                          </a:solidFill>
                          <a:latin typeface="Segoe UI"/>
                        </a:defRPr>
                      </a:pPr>
                      <a:r>
                        <a:t>-44.48%</a:t>
                      </a:r>
                    </a:p>
                  </a:txBody>
                  <a:tcPr>
                    <a:solidFill>
                      <a:srgbClr val="1E293B"/>
                    </a:solidFill>
                  </a:tcPr>
                </a:tc>
              </a:tr>
            </a:tbl>
          </a:graphicData>
        </a:graphic>
      </p:graphicFrame>
      <p:sp>
        <p:nvSpPr>
          <p:cNvPr id="8" name="TextBox 7"/>
          <p:cNvSpPr txBox="1"/>
          <p:nvPr/>
        </p:nvSpPr>
        <p:spPr>
          <a:xfrm>
            <a:off x="1005840" y="5577840"/>
            <a:ext cx="10149840" cy="365760"/>
          </a:xfrm>
          <a:prstGeom prst="rect">
            <a:avLst/>
          </a:prstGeom>
          <a:noFill/>
        </p:spPr>
        <p:txBody>
          <a:bodyPr wrap="square">
            <a:spAutoFit/>
          </a:bodyPr>
          <a:lstStyle/>
          <a:p>
            <a:pPr>
              <a:defRPr sz="900">
                <a:solidFill>
                  <a:srgbClr val="94A3B8"/>
                </a:solidFill>
                <a:latin typeface="Segoe UI"/>
              </a:defRPr>
            </a:pPr>
            <a:r>
              <a:t>* Note: Negative gaps represent bounds beating or matching BKS. † Marker highlights vehicle inflation in standard solvers on tight time bounds.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RESULTS</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Strict Fair Intersection Routing Quality</a:t>
            </a:r>
          </a:p>
        </p:txBody>
      </p:sp>
      <p:sp>
        <p:nvSpPr>
          <p:cNvPr id="5" name="Rounded Rectangle 4"/>
          <p:cNvSpPr/>
          <p:nvPr/>
        </p:nvSpPr>
        <p:spPr>
          <a:xfrm>
            <a:off x="731520" y="1463040"/>
            <a:ext cx="548640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937760" cy="457200"/>
          </a:xfrm>
          <a:prstGeom prst="rect">
            <a:avLst/>
          </a:prstGeom>
          <a:noFill/>
        </p:spPr>
        <p:txBody>
          <a:bodyPr wrap="square" lIns="0" tIns="0" rIns="0" bIns="0">
            <a:spAutoFit/>
          </a:bodyPr>
          <a:lstStyle/>
          <a:p>
            <a:pPr>
              <a:defRPr sz="1800" b="1">
                <a:solidFill>
                  <a:srgbClr val="FFFFFF"/>
                </a:solidFill>
                <a:latin typeface="Segoe UI"/>
              </a:defRPr>
            </a:pPr>
            <a:r>
              <a:t>The Fallacy of Raw Travel Distance Gaps</a:t>
            </a:r>
          </a:p>
        </p:txBody>
      </p:sp>
      <p:sp>
        <p:nvSpPr>
          <p:cNvPr id="7" name="TextBox 6"/>
          <p:cNvSpPr txBox="1"/>
          <p:nvPr/>
        </p:nvSpPr>
        <p:spPr>
          <a:xfrm>
            <a:off x="1005840" y="2103120"/>
            <a:ext cx="4937760" cy="3657600"/>
          </a:xfrm>
          <a:prstGeom prst="rect">
            <a:avLst/>
          </a:prstGeom>
          <a:noFill/>
        </p:spPr>
        <p:txBody>
          <a:bodyPr wrap="square" lIns="0" tIns="0" rIns="0" bIns="0">
            <a:spAutoFit/>
          </a:bodyPr>
          <a:lstStyle/>
          <a:p>
            <a:pPr>
              <a:spcAft>
                <a:spcPts val="1000"/>
              </a:spcAft>
              <a:defRPr sz="1350">
                <a:solidFill>
                  <a:srgbClr val="E2E8F0"/>
                </a:solidFill>
                <a:latin typeface="Segoe UI"/>
              </a:defRPr>
            </a:pPr>
            <a:r>
              <a:t>Distorted Comparisons: Travel Distance (TD) comparisons are mathematically flawed if vehicle counts are not matched. Extra vehicle capacity relaxes spatial routing limits, artificially lowering travel distance.</a:t>
            </a:r>
          </a:p>
          <a:p>
            <a:pPr>
              <a:spcAft>
                <a:spcPts val="1000"/>
              </a:spcAft>
              <a:defRPr sz="1350">
                <a:solidFill>
                  <a:srgbClr val="E2E8F0"/>
                </a:solidFill>
                <a:latin typeface="Segoe UI"/>
              </a:defRPr>
            </a:pPr>
            <a:r>
              <a:t>Strict Fair Intersection Protocol (N = 39):</a:t>
            </a:r>
          </a:p>
          <a:p>
            <a:pPr lvl="1">
              <a:spcAft>
                <a:spcPts val="1000"/>
              </a:spcAft>
              <a:defRPr sz="1350">
                <a:solidFill>
                  <a:srgbClr val="E2E8F0"/>
                </a:solidFill>
                <a:latin typeface="Segoe UI"/>
              </a:defRPr>
            </a:pPr>
            <a:r>
              <a:t>Isolates the subset of 39 Solomon instances where both solvers successfully matched BKS vehicle counts.</a:t>
            </a:r>
          </a:p>
          <a:p>
            <a:pPr lvl="1">
              <a:spcAft>
                <a:spcPts val="1000"/>
              </a:spcAft>
              <a:defRPr sz="1350">
                <a:solidFill>
                  <a:srgbClr val="E2E8F0"/>
                </a:solidFill>
                <a:latin typeface="Segoe UI"/>
              </a:defRPr>
            </a:pPr>
            <a:r>
              <a:t>Guarantees a mathematically direct comparison of routing efficiency under identical time constraints.</a:t>
            </a:r>
          </a:p>
          <a:p>
            <a:pPr lvl="1">
              <a:spcAft>
                <a:spcPts val="1000"/>
              </a:spcAft>
              <a:defRPr sz="1350">
                <a:solidFill>
                  <a:srgbClr val="E2E8F0"/>
                </a:solidFill>
                <a:latin typeface="Segoe UI"/>
              </a:defRPr>
            </a:pPr>
            <a:r>
              <a:t>Hybrid DDQN-ALNS outperforms ALNS-Base across all families.</a:t>
            </a:r>
          </a:p>
        </p:txBody>
      </p:sp>
      <p:sp>
        <p:nvSpPr>
          <p:cNvPr id="8" name="Rounded Rectangle 7"/>
          <p:cNvSpPr/>
          <p:nvPr/>
        </p:nvSpPr>
        <p:spPr>
          <a:xfrm>
            <a:off x="6492240" y="1463040"/>
            <a:ext cx="493776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737360"/>
            <a:ext cx="4389120" cy="457200"/>
          </a:xfrm>
          <a:prstGeom prst="rect">
            <a:avLst/>
          </a:prstGeom>
          <a:noFill/>
        </p:spPr>
        <p:txBody>
          <a:bodyPr wrap="square" lIns="0" tIns="0" rIns="0" bIns="0">
            <a:spAutoFit/>
          </a:bodyPr>
          <a:lstStyle/>
          <a:p>
            <a:pPr>
              <a:defRPr sz="1800" b="1">
                <a:solidFill>
                  <a:srgbClr val="FFFFFF"/>
                </a:solidFill>
                <a:latin typeface="Segoe UI"/>
              </a:defRPr>
            </a:pPr>
            <a:r>
              <a:t>TD Improvement Gaps (Fair Intersects)</a:t>
            </a:r>
          </a:p>
        </p:txBody>
      </p:sp>
      <p:sp>
        <p:nvSpPr>
          <p:cNvPr id="10" name="Rounded Rectangle 9"/>
          <p:cNvSpPr/>
          <p:nvPr/>
        </p:nvSpPr>
        <p:spPr>
          <a:xfrm>
            <a:off x="6858000" y="2103120"/>
            <a:ext cx="4206240" cy="1645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0" y="2286000"/>
            <a:ext cx="3840480" cy="1280160"/>
          </a:xfrm>
          <a:prstGeom prst="rect">
            <a:avLst/>
          </a:prstGeom>
          <a:noFill/>
        </p:spPr>
        <p:txBody>
          <a:bodyPr wrap="square">
            <a:spAutoFit/>
          </a:bodyPr>
          <a:lstStyle/>
          <a:p>
            <a:pPr>
              <a:defRPr sz="1600" b="1">
                <a:solidFill>
                  <a:srgbClr val="FFFFFF"/>
                </a:solidFill>
                <a:latin typeface="Segoe UI"/>
              </a:defRPr>
            </a:pPr>
            <a:r>
              <a:t>RC1 Family Gaps</a:t>
            </a:r>
          </a:p>
          <a:p>
            <a:pPr>
              <a:defRPr sz="3600" b="1">
                <a:solidFill>
                  <a:srgbClr val="10B981"/>
                </a:solidFill>
                <a:latin typeface="Segoe UI"/>
              </a:defRPr>
            </a:pPr>
            <a:r>
              <a:t>-1.75%</a:t>
            </a:r>
          </a:p>
          <a:p>
            <a:pPr>
              <a:defRPr sz="1100">
                <a:solidFill>
                  <a:srgbClr val="E2E8F0"/>
                </a:solidFill>
                <a:latin typeface="Segoe UI"/>
              </a:defRPr>
            </a:pPr>
            <a:r>
              <a:t>Travel Distance reduction compared directly to ALNS-Base.</a:t>
            </a:r>
          </a:p>
        </p:txBody>
      </p:sp>
      <p:sp>
        <p:nvSpPr>
          <p:cNvPr id="12" name="Rounded Rectangle 11"/>
          <p:cNvSpPr/>
          <p:nvPr/>
        </p:nvSpPr>
        <p:spPr>
          <a:xfrm>
            <a:off x="6858000" y="4023360"/>
            <a:ext cx="4206240" cy="1645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0" y="4206240"/>
            <a:ext cx="3840480" cy="1280160"/>
          </a:xfrm>
          <a:prstGeom prst="rect">
            <a:avLst/>
          </a:prstGeom>
          <a:noFill/>
        </p:spPr>
        <p:txBody>
          <a:bodyPr wrap="square">
            <a:spAutoFit/>
          </a:bodyPr>
          <a:lstStyle/>
          <a:p>
            <a:pPr>
              <a:defRPr sz="1600" b="1">
                <a:solidFill>
                  <a:srgbClr val="FFFFFF"/>
                </a:solidFill>
                <a:latin typeface="Segoe UI"/>
              </a:defRPr>
            </a:pPr>
            <a:r>
              <a:t>R1 Family Gaps</a:t>
            </a:r>
          </a:p>
          <a:p>
            <a:pPr>
              <a:defRPr sz="3600" b="1">
                <a:solidFill>
                  <a:srgbClr val="10B981"/>
                </a:solidFill>
                <a:latin typeface="Segoe UI"/>
              </a:defRPr>
            </a:pPr>
            <a:r>
              <a:t>-4.07%</a:t>
            </a:r>
          </a:p>
          <a:p>
            <a:pPr>
              <a:defRPr sz="1100">
                <a:solidFill>
                  <a:srgbClr val="E2E8F0"/>
                </a:solidFill>
                <a:latin typeface="Segoe UI"/>
              </a:defRPr>
            </a:pPr>
            <a:r>
              <a:t>Travel Distance reduction compared directly to ALNS-Base.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EVALUATION</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Homberger Scalability &amp; Computational Overhead</a:t>
            </a:r>
          </a:p>
        </p:txBody>
      </p:sp>
      <p:sp>
        <p:nvSpPr>
          <p:cNvPr id="5" name="Rounded Rectangle 4"/>
          <p:cNvSpPr/>
          <p:nvPr/>
        </p:nvSpPr>
        <p:spPr>
          <a:xfrm>
            <a:off x="731520" y="1463040"/>
            <a:ext cx="548640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937760" cy="457200"/>
          </a:xfrm>
          <a:prstGeom prst="rect">
            <a:avLst/>
          </a:prstGeom>
          <a:noFill/>
        </p:spPr>
        <p:txBody>
          <a:bodyPr wrap="square" lIns="0" tIns="0" rIns="0" bIns="0">
            <a:spAutoFit/>
          </a:bodyPr>
          <a:lstStyle/>
          <a:p>
            <a:pPr>
              <a:defRPr sz="1800" b="1">
                <a:solidFill>
                  <a:srgbClr val="FFFFFF"/>
                </a:solidFill>
                <a:latin typeface="Segoe UI"/>
              </a:defRPr>
            </a:pPr>
            <a:r>
              <a:t>Large-Scale Routing Profiles</a:t>
            </a:r>
          </a:p>
        </p:txBody>
      </p:sp>
      <p:sp>
        <p:nvSpPr>
          <p:cNvPr id="7" name="TextBox 6"/>
          <p:cNvSpPr txBox="1"/>
          <p:nvPr/>
        </p:nvSpPr>
        <p:spPr>
          <a:xfrm>
            <a:off x="1005840" y="2103120"/>
            <a:ext cx="4937760" cy="3657600"/>
          </a:xfrm>
          <a:prstGeom prst="rect">
            <a:avLst/>
          </a:prstGeom>
          <a:noFill/>
        </p:spPr>
        <p:txBody>
          <a:bodyPr wrap="square" lIns="0" tIns="0" rIns="0" bIns="0">
            <a:spAutoFit/>
          </a:bodyPr>
          <a:lstStyle/>
          <a:p>
            <a:pPr>
              <a:spcAft>
                <a:spcPts val="1000"/>
              </a:spcAft>
              <a:defRPr sz="1300">
                <a:solidFill>
                  <a:srgbClr val="E2E8F0"/>
                </a:solidFill>
                <a:latin typeface="Segoe UI"/>
              </a:defRPr>
            </a:pPr>
            <a:r>
              <a:t>200-Customer Scale (Robust Performance):</a:t>
            </a:r>
          </a:p>
          <a:p>
            <a:pPr lvl="1">
              <a:spcAft>
                <a:spcPts val="1000"/>
              </a:spcAft>
              <a:defRPr sz="1300">
                <a:solidFill>
                  <a:srgbClr val="E2E8F0"/>
                </a:solidFill>
                <a:latin typeface="Segoe UI"/>
              </a:defRPr>
            </a:pPr>
            <a:r>
              <a:t>Both solvers converge to identical vehicle limits.</a:t>
            </a:r>
          </a:p>
          <a:p>
            <a:pPr lvl="1">
              <a:spcAft>
                <a:spcPts val="1000"/>
              </a:spcAft>
              <a:defRPr sz="1300">
                <a:solidFill>
                  <a:srgbClr val="E2E8F0"/>
                </a:solidFill>
                <a:latin typeface="Segoe UI"/>
              </a:defRPr>
            </a:pPr>
            <a:r>
              <a:t>Hybrid-DDQN limits vehicle degradation rates to 0% - 20% compared to 30% - 70% for ALNS-Base.</a:t>
            </a:r>
          </a:p>
          <a:p>
            <a:pPr>
              <a:spcAft>
                <a:spcPts val="1000"/>
              </a:spcAft>
              <a:defRPr sz="1300">
                <a:solidFill>
                  <a:srgbClr val="E2E8F0"/>
                </a:solidFill>
                <a:latin typeface="Segoe UI"/>
              </a:defRPr>
            </a:pPr>
            <a:r>
              <a:t>400-Customer Scale (Suboptimal Degradation):</a:t>
            </a:r>
          </a:p>
          <a:p>
            <a:pPr lvl="1">
              <a:spcAft>
                <a:spcPts val="1000"/>
              </a:spcAft>
              <a:defRPr sz="1300">
                <a:solidFill>
                  <a:srgbClr val="E2E8F0"/>
                </a:solidFill>
                <a:latin typeface="Segoe UI"/>
              </a:defRPr>
            </a:pPr>
            <a:r>
              <a:t>Neither solver approaches the BKS limits (e.g. BKS NV=4 on R2_4_1, solvers land at 8.10 - 8.80).</a:t>
            </a:r>
          </a:p>
          <a:p>
            <a:pPr lvl="1">
              <a:spcAft>
                <a:spcPts val="1000"/>
              </a:spcAft>
              <a:defRPr sz="1300">
                <a:solidFill>
                  <a:srgbClr val="E2E8F0"/>
                </a:solidFill>
                <a:latin typeface="Segoe UI"/>
              </a:defRPr>
            </a:pPr>
            <a:r>
              <a:t>However, Hybrid DDQN-ALNS yields a statistically significant edge of 0.70-0.80 vehicles (Wilcoxon p=0.0156 on R2_4_1).</a:t>
            </a:r>
          </a:p>
        </p:txBody>
      </p:sp>
      <p:sp>
        <p:nvSpPr>
          <p:cNvPr id="8" name="Rounded Rectangle 7"/>
          <p:cNvSpPr/>
          <p:nvPr/>
        </p:nvSpPr>
        <p:spPr>
          <a:xfrm>
            <a:off x="6492240" y="1463040"/>
            <a:ext cx="493776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737360"/>
            <a:ext cx="4389120" cy="457200"/>
          </a:xfrm>
          <a:prstGeom prst="rect">
            <a:avLst/>
          </a:prstGeom>
          <a:noFill/>
        </p:spPr>
        <p:txBody>
          <a:bodyPr wrap="square" lIns="0" tIns="0" rIns="0" bIns="0">
            <a:spAutoFit/>
          </a:bodyPr>
          <a:lstStyle/>
          <a:p>
            <a:pPr>
              <a:defRPr sz="1800" b="1">
                <a:solidFill>
                  <a:srgbClr val="FFFFFF"/>
                </a:solidFill>
                <a:latin typeface="Segoe UI"/>
              </a:defRPr>
            </a:pPr>
            <a:r>
              <a:t>Computational Performance Limits</a:t>
            </a:r>
          </a:p>
        </p:txBody>
      </p:sp>
      <p:sp>
        <p:nvSpPr>
          <p:cNvPr id="10" name="TextBox 9"/>
          <p:cNvSpPr txBox="1"/>
          <p:nvPr/>
        </p:nvSpPr>
        <p:spPr>
          <a:xfrm>
            <a:off x="6766560" y="2011680"/>
            <a:ext cx="4389120" cy="3657600"/>
          </a:xfrm>
          <a:prstGeom prst="rect">
            <a:avLst/>
          </a:prstGeom>
          <a:noFill/>
        </p:spPr>
        <p:txBody>
          <a:bodyPr wrap="square" lIns="0" tIns="0" rIns="0" bIns="0">
            <a:spAutoFit/>
          </a:bodyPr>
          <a:lstStyle/>
          <a:p>
            <a:pPr>
              <a:spcAft>
                <a:spcPts val="1200"/>
              </a:spcAft>
              <a:defRPr sz="1800" b="1">
                <a:solidFill>
                  <a:srgbClr val="F59E0B"/>
                </a:solidFill>
                <a:latin typeface="Segoe UI"/>
              </a:defRPr>
            </a:pPr>
            <a:r>
              <a:t>Computational Overhead</a:t>
            </a:r>
          </a:p>
          <a:p>
            <a:pPr>
              <a:spcAft>
                <a:spcPts val="1200"/>
              </a:spcAft>
              <a:defRPr sz="1300">
                <a:solidFill>
                  <a:srgbClr val="E2E8F0"/>
                </a:solidFill>
                <a:latin typeface="Segoe UI"/>
              </a:defRPr>
            </a:pPr>
            <a:r>
              <a:t>The hybrid solver is a quality-maximizing strategy that trades CPU cycles for routing accuracy. It is not an execution speed accelerator.</a:t>
            </a:r>
            <a:br/>
            <a:br/>
            <a:r>
              <a:t>Run Overhead Metrics:</a:t>
            </a:r>
          </a:p>
          <a:p>
            <a:pPr>
              <a:defRPr sz="1300" b="1">
                <a:solidFill>
                  <a:srgbClr val="F59E0B"/>
                </a:solidFill>
                <a:latin typeface="Segoe UI"/>
              </a:defRPr>
            </a:pPr>
            <a:r>
              <a:t>• Solomon-100: 1.5x - 4.0x slower runtime.</a:t>
            </a:r>
            <a:br/>
            <a:r>
              <a:t>• Homberger-200: 1.3x - 4.6x slower runtime.</a:t>
            </a:r>
            <a:br/>
            <a:r>
              <a:t>• Homberger-400: Up to 100x slower on pathological configurations due to large dense MILP matrices (specifically R2_4_1).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SYSTEM SHOWCASE</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NAMI Dispatcher Telemetry Demonstration</a:t>
            </a:r>
          </a:p>
        </p:txBody>
      </p:sp>
      <p:sp>
        <p:nvSpPr>
          <p:cNvPr id="5" name="Rounded Rectangle 4"/>
          <p:cNvSpPr/>
          <p:nvPr/>
        </p:nvSpPr>
        <p:spPr>
          <a:xfrm>
            <a:off x="731520" y="1463040"/>
            <a:ext cx="548640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937760" cy="457200"/>
          </a:xfrm>
          <a:prstGeom prst="rect">
            <a:avLst/>
          </a:prstGeom>
          <a:noFill/>
        </p:spPr>
        <p:txBody>
          <a:bodyPr wrap="square" lIns="0" tIns="0" rIns="0" bIns="0">
            <a:spAutoFit/>
          </a:bodyPr>
          <a:lstStyle/>
          <a:p>
            <a:pPr>
              <a:defRPr sz="1800" b="1">
                <a:solidFill>
                  <a:srgbClr val="FFFFFF"/>
                </a:solidFill>
                <a:latin typeface="Segoe UI"/>
              </a:defRPr>
            </a:pPr>
            <a:r>
              <a:t>Telemetry &amp; Operator Controls</a:t>
            </a:r>
          </a:p>
        </p:txBody>
      </p:sp>
      <p:sp>
        <p:nvSpPr>
          <p:cNvPr id="7" name="TextBox 6"/>
          <p:cNvSpPr txBox="1"/>
          <p:nvPr/>
        </p:nvSpPr>
        <p:spPr>
          <a:xfrm>
            <a:off x="1005840" y="2103120"/>
            <a:ext cx="4937760" cy="3657600"/>
          </a:xfrm>
          <a:prstGeom prst="rect">
            <a:avLst/>
          </a:prstGeom>
          <a:noFill/>
        </p:spPr>
        <p:txBody>
          <a:bodyPr wrap="square" lIns="0" tIns="0" rIns="0" bIns="0">
            <a:spAutoFit/>
          </a:bodyPr>
          <a:lstStyle/>
          <a:p>
            <a:pPr>
              <a:spcAft>
                <a:spcPts val="1000"/>
              </a:spcAft>
              <a:defRPr sz="1350">
                <a:solidFill>
                  <a:srgbClr val="E2E8F0"/>
                </a:solidFill>
                <a:latin typeface="Segoe UI"/>
              </a:defRPr>
            </a:pPr>
            <a:r>
              <a:t>Live Telemetry: Iteration-by-iteration progress metrics (NV, TD, convergence gap) are streamed from the FastAPI solver core to React web interfaces via WebSockets.</a:t>
            </a:r>
          </a:p>
          <a:p>
            <a:pPr>
              <a:spcAft>
                <a:spcPts val="1000"/>
              </a:spcAft>
              <a:defRPr sz="1350">
                <a:solidFill>
                  <a:srgbClr val="E2E8F0"/>
                </a:solidFill>
                <a:latin typeface="Segoe UI"/>
              </a:defRPr>
            </a:pPr>
            <a:r>
              <a:t>Gantt Schedule Editor: Visualizes arrival times, service durations, and slack periods. Allows dispatchers to drag-and-drop stops to edit schedules manually.</a:t>
            </a:r>
          </a:p>
          <a:p>
            <a:pPr>
              <a:spcAft>
                <a:spcPts val="1000"/>
              </a:spcAft>
              <a:defRPr sz="1350">
                <a:solidFill>
                  <a:srgbClr val="E2E8F0"/>
                </a:solidFill>
                <a:latin typeface="Segoe UI"/>
              </a:defRPr>
            </a:pPr>
            <a:r>
              <a:t>Feasibility Monitors: Dynamically flags capacity and time window conflicts in real time as the dispatcher edits routes.</a:t>
            </a:r>
          </a:p>
        </p:txBody>
      </p:sp>
      <p:sp>
        <p:nvSpPr>
          <p:cNvPr id="8" name="Rounded Rectangle 7"/>
          <p:cNvSpPr/>
          <p:nvPr/>
        </p:nvSpPr>
        <p:spPr>
          <a:xfrm>
            <a:off x="6492240" y="1463040"/>
            <a:ext cx="493776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737360"/>
            <a:ext cx="4389120" cy="457200"/>
          </a:xfrm>
          <a:prstGeom prst="rect">
            <a:avLst/>
          </a:prstGeom>
          <a:noFill/>
        </p:spPr>
        <p:txBody>
          <a:bodyPr wrap="square" lIns="0" tIns="0" rIns="0" bIns="0">
            <a:spAutoFit/>
          </a:bodyPr>
          <a:lstStyle/>
          <a:p>
            <a:pPr>
              <a:defRPr sz="1800" b="1">
                <a:solidFill>
                  <a:srgbClr val="FFFFFF"/>
                </a:solidFill>
                <a:latin typeface="Segoe UI"/>
              </a:defRPr>
            </a:pPr>
            <a:r>
              <a:t>Interactive Interface Mockup</a:t>
            </a:r>
          </a:p>
        </p:txBody>
      </p:sp>
      <p:sp>
        <p:nvSpPr>
          <p:cNvPr id="10" name="Rounded Rectangle 9"/>
          <p:cNvSpPr/>
          <p:nvPr/>
        </p:nvSpPr>
        <p:spPr>
          <a:xfrm>
            <a:off x="6766560" y="2011680"/>
            <a:ext cx="4389120" cy="3657600"/>
          </a:xfrm>
          <a:prstGeom prst="roundRect">
            <a:avLst/>
          </a:prstGeom>
          <a:solidFill>
            <a:srgbClr val="1E293B"/>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949440" y="2194560"/>
            <a:ext cx="1920240" cy="1828800"/>
          </a:xfrm>
          <a:prstGeom prst="roundRect">
            <a:avLst/>
          </a:prstGeom>
          <a:solidFill>
            <a:srgbClr val="1E293B"/>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0" y="2286000"/>
            <a:ext cx="1920240" cy="365760"/>
          </a:xfrm>
          <a:prstGeom prst="rect">
            <a:avLst/>
          </a:prstGeom>
          <a:noFill/>
        </p:spPr>
        <p:txBody>
          <a:bodyPr wrap="none">
            <a:spAutoFit/>
          </a:bodyPr>
          <a:lstStyle/>
          <a:p>
            <a:pPr algn="ctr">
              <a:defRPr sz="1100" b="1"/>
            </a:pPr>
            <a:r>
              <a:t>Spatial Map</a:t>
            </a:r>
          </a:p>
        </p:txBody>
      </p:sp>
      <p:sp>
        <p:nvSpPr>
          <p:cNvPr id="13" name="Rounded Rectangle 12"/>
          <p:cNvSpPr/>
          <p:nvPr/>
        </p:nvSpPr>
        <p:spPr>
          <a:xfrm>
            <a:off x="9052560" y="2194560"/>
            <a:ext cx="1920240" cy="18288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0" y="2286000"/>
            <a:ext cx="1920240" cy="365760"/>
          </a:xfrm>
          <a:prstGeom prst="rect">
            <a:avLst/>
          </a:prstGeom>
          <a:noFill/>
        </p:spPr>
        <p:txBody>
          <a:bodyPr wrap="none">
            <a:spAutoFit/>
          </a:bodyPr>
          <a:lstStyle/>
          <a:p>
            <a:pPr algn="ctr">
              <a:defRPr sz="1100" b="1"/>
            </a:pPr>
            <a:r>
              <a:t>Live Telemetry</a:t>
            </a:r>
          </a:p>
        </p:txBody>
      </p:sp>
      <p:sp>
        <p:nvSpPr>
          <p:cNvPr id="15" name="Rounded Rectangle 14"/>
          <p:cNvSpPr/>
          <p:nvPr/>
        </p:nvSpPr>
        <p:spPr>
          <a:xfrm>
            <a:off x="6949440" y="4206240"/>
            <a:ext cx="4023360" cy="10972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4297680"/>
            <a:ext cx="4023360" cy="365760"/>
          </a:xfrm>
          <a:prstGeom prst="rect">
            <a:avLst/>
          </a:prstGeom>
          <a:noFill/>
        </p:spPr>
        <p:txBody>
          <a:bodyPr wrap="none">
            <a:spAutoFit/>
          </a:bodyPr>
          <a:lstStyle/>
          <a:p>
            <a:pPr algn="ctr">
              <a:defRPr sz="1100" b="1"/>
            </a:pPr>
            <a:r>
              <a:t>Gantt Timeline Editor (Schedule Slacks)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SUMMARY</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Conclusion &amp; Future Directions</a:t>
            </a:r>
          </a:p>
        </p:txBody>
      </p:sp>
      <p:sp>
        <p:nvSpPr>
          <p:cNvPr id="5" name="Rounded Rectangle 4"/>
          <p:cNvSpPr/>
          <p:nvPr/>
        </p:nvSpPr>
        <p:spPr>
          <a:xfrm>
            <a:off x="731520" y="1463040"/>
            <a:ext cx="548640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937760" cy="457200"/>
          </a:xfrm>
          <a:prstGeom prst="rect">
            <a:avLst/>
          </a:prstGeom>
          <a:noFill/>
        </p:spPr>
        <p:txBody>
          <a:bodyPr wrap="square" lIns="0" tIns="0" rIns="0" bIns="0">
            <a:spAutoFit/>
          </a:bodyPr>
          <a:lstStyle/>
          <a:p>
            <a:pPr>
              <a:defRPr sz="1800" b="1">
                <a:solidFill>
                  <a:srgbClr val="FFFFFF"/>
                </a:solidFill>
                <a:latin typeface="Segoe UI"/>
              </a:defRPr>
            </a:pPr>
            <a:r>
              <a:t>Key Contributions</a:t>
            </a:r>
          </a:p>
        </p:txBody>
      </p:sp>
      <p:sp>
        <p:nvSpPr>
          <p:cNvPr id="7" name="TextBox 6"/>
          <p:cNvSpPr txBox="1"/>
          <p:nvPr/>
        </p:nvSpPr>
        <p:spPr>
          <a:xfrm>
            <a:off x="1005840" y="2103120"/>
            <a:ext cx="4937760" cy="3657600"/>
          </a:xfrm>
          <a:prstGeom prst="rect">
            <a:avLst/>
          </a:prstGeom>
          <a:noFill/>
        </p:spPr>
        <p:txBody>
          <a:bodyPr wrap="square" lIns="0" tIns="0" rIns="0" bIns="0">
            <a:spAutoFit/>
          </a:bodyPr>
          <a:lstStyle/>
          <a:p>
            <a:pPr>
              <a:spcAft>
                <a:spcPts val="1000"/>
              </a:spcAft>
              <a:defRPr sz="1350">
                <a:solidFill>
                  <a:srgbClr val="E2E8F0"/>
                </a:solidFill>
                <a:latin typeface="Segoe UI"/>
              </a:defRPr>
            </a:pPr>
            <a:r>
              <a:t>State-Conditioned Search: Validated the utility of hierarchical MDP modeling to direct local search operators.</a:t>
            </a:r>
          </a:p>
          <a:p>
            <a:pPr>
              <a:spcAft>
                <a:spcPts val="1000"/>
              </a:spcAft>
              <a:defRPr sz="1350">
                <a:solidFill>
                  <a:srgbClr val="E2E8F0"/>
                </a:solidFill>
                <a:latin typeface="Segoe UI"/>
              </a:defRPr>
            </a:pPr>
            <a:r>
              <a:t>Resolved Vehicle Limits: Successfully bypassed local vehicle minimization bounds on Solomon benchmarks (solving hard instances like RC101 to global minimums).</a:t>
            </a:r>
          </a:p>
          <a:p>
            <a:pPr>
              <a:spcAft>
                <a:spcPts val="1000"/>
              </a:spcAft>
              <a:defRPr sz="1350">
                <a:solidFill>
                  <a:srgbClr val="E2E8F0"/>
                </a:solidFill>
                <a:latin typeface="Segoe UI"/>
              </a:defRPr>
            </a:pPr>
            <a:r>
              <a:t>Operational Dispatch Tooling: Created NAMI Dispatcher, bridging the gap between deep mathematical optimization and dispatcher software interfaces.</a:t>
            </a:r>
          </a:p>
        </p:txBody>
      </p:sp>
      <p:sp>
        <p:nvSpPr>
          <p:cNvPr id="8" name="Rounded Rectangle 7"/>
          <p:cNvSpPr/>
          <p:nvPr/>
        </p:nvSpPr>
        <p:spPr>
          <a:xfrm>
            <a:off x="6492240" y="1463040"/>
            <a:ext cx="493776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737360"/>
            <a:ext cx="4389120" cy="457200"/>
          </a:xfrm>
          <a:prstGeom prst="rect">
            <a:avLst/>
          </a:prstGeom>
          <a:noFill/>
        </p:spPr>
        <p:txBody>
          <a:bodyPr wrap="square" lIns="0" tIns="0" rIns="0" bIns="0">
            <a:spAutoFit/>
          </a:bodyPr>
          <a:lstStyle/>
          <a:p>
            <a:pPr>
              <a:defRPr sz="1800" b="1">
                <a:solidFill>
                  <a:srgbClr val="FFFFFF"/>
                </a:solidFill>
                <a:latin typeface="Segoe UI"/>
              </a:defRPr>
            </a:pPr>
            <a:r>
              <a:t>Future Enhancements</a:t>
            </a:r>
          </a:p>
        </p:txBody>
      </p:sp>
      <p:sp>
        <p:nvSpPr>
          <p:cNvPr id="10" name="TextBox 9"/>
          <p:cNvSpPr txBox="1"/>
          <p:nvPr/>
        </p:nvSpPr>
        <p:spPr>
          <a:xfrm>
            <a:off x="6766560" y="2103120"/>
            <a:ext cx="4389120" cy="3657600"/>
          </a:xfrm>
          <a:prstGeom prst="rect">
            <a:avLst/>
          </a:prstGeom>
          <a:noFill/>
        </p:spPr>
        <p:txBody>
          <a:bodyPr wrap="square" lIns="0" tIns="0" rIns="0" bIns="0">
            <a:spAutoFit/>
          </a:bodyPr>
          <a:lstStyle/>
          <a:p>
            <a:pPr>
              <a:spcAft>
                <a:spcPts val="1000"/>
              </a:spcAft>
              <a:defRPr sz="1350">
                <a:solidFill>
                  <a:srgbClr val="E2E8F0"/>
                </a:solidFill>
                <a:latin typeface="Segoe UI"/>
              </a:defRPr>
            </a:pPr>
            <a:r>
              <a:t>Multi-GPU Parallel Workloads: Scaling training rollouts across multi-GPU setups to decrease offline policy training times.</a:t>
            </a:r>
          </a:p>
          <a:p>
            <a:pPr>
              <a:spcAft>
                <a:spcPts val="1000"/>
              </a:spcAft>
              <a:defRPr sz="1350">
                <a:solidFill>
                  <a:srgbClr val="E2E8F0"/>
                </a:solidFill>
                <a:latin typeface="Segoe UI"/>
              </a:defRPr>
            </a:pPr>
            <a:r>
              <a:t>Heterogeneous Fleet Support: Generalizing constraint layouts to handle vehicles with varying capacities and costs.</a:t>
            </a:r>
          </a:p>
          <a:p>
            <a:pPr>
              <a:spcAft>
                <a:spcPts val="1000"/>
              </a:spcAft>
              <a:defRPr sz="1350">
                <a:solidFill>
                  <a:srgbClr val="E2E8F0"/>
                </a:solidFill>
                <a:latin typeface="Segoe UI"/>
              </a:defRPr>
            </a:pPr>
            <a:r>
              <a:t>Dynamic Real-time Routing: Adjusting optimization weights dynamically to adapt to traffic accidents or delivery delays.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100" b="1">
                <a:solidFill>
                  <a:srgbClr val="00B4D8"/>
                </a:solidFill>
                <a:latin typeface="Segoe UI"/>
              </a:defRPr>
            </a:pPr>
            <a:r>
              <a:t>Q&amp;A PREPARATION</a:t>
            </a:r>
          </a:p>
        </p:txBody>
      </p:sp>
      <p:sp>
        <p:nvSpPr>
          <p:cNvPr id="4" name="TextBox 3"/>
          <p:cNvSpPr txBox="1"/>
          <p:nvPr/>
        </p:nvSpPr>
        <p:spPr>
          <a:xfrm>
            <a:off x="731520" y="640080"/>
            <a:ext cx="10698480" cy="731520"/>
          </a:xfrm>
          <a:prstGeom prst="rect">
            <a:avLst/>
          </a:prstGeom>
          <a:noFill/>
        </p:spPr>
        <p:txBody>
          <a:bodyPr wrap="square" lIns="0" tIns="0" rIns="0" bIns="0">
            <a:spAutoFit/>
          </a:bodyPr>
          <a:lstStyle/>
          <a:p>
            <a:pPr>
              <a:defRPr sz="2800" b="1">
                <a:solidFill>
                  <a:srgbClr val="FFFFFF"/>
                </a:solidFill>
                <a:latin typeface="Segoe UI"/>
              </a:defRPr>
            </a:pPr>
            <a:r>
              <a:t>Defense Strategy Panel (Q&amp;A Guidelines)</a:t>
            </a:r>
          </a:p>
        </p:txBody>
      </p:sp>
      <p:sp>
        <p:nvSpPr>
          <p:cNvPr id="5" name="Rounded Rectangle 4"/>
          <p:cNvSpPr/>
          <p:nvPr/>
        </p:nvSpPr>
        <p:spPr>
          <a:xfrm>
            <a:off x="731520" y="1463040"/>
            <a:ext cx="1069848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10149840" cy="457200"/>
          </a:xfrm>
          <a:prstGeom prst="rect">
            <a:avLst/>
          </a:prstGeom>
          <a:noFill/>
        </p:spPr>
        <p:txBody>
          <a:bodyPr wrap="square" lIns="0" tIns="0" rIns="0" bIns="0">
            <a:spAutoFit/>
          </a:bodyPr>
          <a:lstStyle/>
          <a:p>
            <a:pPr>
              <a:defRPr sz="1800" b="1">
                <a:solidFill>
                  <a:srgbClr val="FFFFFF"/>
                </a:solidFill>
                <a:latin typeface="Segoe UI"/>
              </a:defRPr>
            </a:pPr>
            <a:r>
              <a:t>Pre-empting Academic Review Committee Objections</a:t>
            </a:r>
          </a:p>
        </p:txBody>
      </p:sp>
      <p:sp>
        <p:nvSpPr>
          <p:cNvPr id="7" name="TextBox 6"/>
          <p:cNvSpPr txBox="1"/>
          <p:nvPr/>
        </p:nvSpPr>
        <p:spPr>
          <a:xfrm>
            <a:off x="1005840" y="2011680"/>
            <a:ext cx="10149840" cy="3840480"/>
          </a:xfrm>
          <a:prstGeom prst="rect">
            <a:avLst/>
          </a:prstGeom>
          <a:noFill/>
        </p:spPr>
        <p:txBody>
          <a:bodyPr wrap="square" lIns="0" tIns="0" rIns="0" bIns="0">
            <a:spAutoFit/>
          </a:bodyPr>
          <a:lstStyle/>
          <a:p>
            <a:pPr>
              <a:spcAft>
                <a:spcPts val="400"/>
              </a:spcAft>
              <a:defRPr sz="1300" b="1">
                <a:solidFill>
                  <a:srgbClr val="F59E0B"/>
                </a:solidFill>
                <a:latin typeface="Segoe UI"/>
              </a:defRPr>
            </a:pPr>
            <a:r>
              <a:t>Q1: Why is the hybrid solver execution runtime slower than standard ALNS?</a:t>
            </a:r>
          </a:p>
          <a:p>
            <a:pPr>
              <a:spcAft>
                <a:spcPts val="1200"/>
              </a:spcAft>
              <a:defRPr sz="1100">
                <a:solidFill>
                  <a:srgbClr val="E2E8F0"/>
                </a:solidFill>
                <a:latin typeface="Segoe UI"/>
              </a:defRPr>
            </a:pPr>
            <a:r>
              <a:t>A1: It represents a deliberate, cost-minimizing trade-off. For logistics companies, saving a single vehicle reduces fixed monthly overheads (capital depreciation, licensing, driver salaries) by thousands of dollars. Investing an extra 2-3 minutes of server computation before vehicles dispatch yields substantial cost reductions compared to starting immediately with an extra truck.</a:t>
            </a:r>
          </a:p>
          <a:p>
            <a:pPr>
              <a:spcAft>
                <a:spcPts val="400"/>
              </a:spcAft>
              <a:defRPr sz="1300" b="1">
                <a:solidFill>
                  <a:srgbClr val="00B4D8"/>
                </a:solidFill>
                <a:latin typeface="Segoe UI"/>
              </a:defRPr>
            </a:pPr>
            <a:r>
              <a:t>Q2: Why do you report GNN performance checks on only 3 instances (C101, R101, RC101)?</a:t>
            </a:r>
          </a:p>
          <a:p>
            <a:pPr>
              <a:spcAft>
                <a:spcPts val="1200"/>
              </a:spcAft>
              <a:defRPr sz="1100">
                <a:solidFill>
                  <a:srgbClr val="E2E8F0"/>
                </a:solidFill>
                <a:latin typeface="Segoe UI"/>
              </a:defRPr>
            </a:pPr>
            <a:r>
              <a:t>A2: The GNN evaluations in Section IV-F serve as a representative case study to verify that neural heatmaps properly adjust to distinct spatial configurations (clustered, random, mixed). Due to deep execution costs, we focused on trace profiling. Complete results showing average metrics across all 56 instances are reported in our main thesis paper.</a:t>
            </a:r>
          </a:p>
          <a:p>
            <a:pPr>
              <a:spcAft>
                <a:spcPts val="400"/>
              </a:spcAft>
              <a:defRPr sz="1300" b="1">
                <a:solidFill>
                  <a:srgbClr val="10B981"/>
                </a:solidFill>
                <a:latin typeface="Segoe UI"/>
              </a:defRPr>
            </a:pPr>
            <a:r>
              <a:t>Q3: How do we know these solver improvements are mathematically significant and not random?</a:t>
            </a:r>
          </a:p>
          <a:p>
            <a:pPr>
              <a:defRPr sz="1100">
                <a:solidFill>
                  <a:srgbClr val="E2E8F0"/>
                </a:solidFill>
                <a:latin typeface="Segoe UI"/>
              </a:defRPr>
            </a:pPr>
            <a:r>
              <a:t>A3: All comparative distance assertions are validated using the non-parametric Wilcoxon Signed-Rank Test at a strict significance boundary (alpha = 0.05). The improvements are accompanied by explicit statistical validation (e.g. p = 0.0078 on instance c2_4_1), proving the hybrid solver benefits are mathematically significant.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