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21374100" cy="302768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itchFamily="2" charset="77"/>
      <p:regular r:id="rId8"/>
      <p:bold r:id="rId9"/>
      <p:italic r:id="rId10"/>
      <p:boldItalic r:id="rId11"/>
    </p:embeddedFont>
    <p:embeddedFont>
      <p:font typeface="Montserrat Light" panose="020F0302020204030204" pitchFamily="34" charset="0"/>
      <p:regular r:id="rId12"/>
      <p:bold r:id="rId13"/>
      <p:italic r:id="rId14"/>
      <p:boldItalic r:id="rId15"/>
    </p:embeddedFont>
    <p:embeddedFont>
      <p:font typeface="Montserrat SemiBold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79OljXeFdIvBKvLHKQHG3djUW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4567CD-824D-4FBB-9696-82BEE4D623AA}">
  <a:tblStyle styleId="{E84567CD-824D-4FBB-9696-82BEE4D623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>
        <p:scale>
          <a:sx n="45" d="100"/>
          <a:sy n="45" d="100"/>
        </p:scale>
        <p:origin x="2296" y="144"/>
      </p:cViewPr>
      <p:guideLst>
        <p:guide orient="horz" pos="21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font" Target="fonts/font15.fntdata"/><Relationship Id="rId19" Type="http://schemas.openxmlformats.org/officeDocument/2006/relationships/font" Target="fonts/font16.fntdata"/><Relationship Id="rId20" Type="http://customschemas.google.com/relationships/presentationmetadata" Target="meta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39975" y="1143000"/>
            <a:ext cx="2178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36916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374100" cy="25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20000"/>
            <a:ext cx="21374100" cy="5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216000"/>
            <a:ext cx="195741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0B4D8"/>
                </a:solidFill>
                <a:latin typeface="Montserrat"/>
              </a:defRPr>
              <a:lnSpc>
                <a:spcPct val="120000"/>
              </a:lnSpc>
            </a:pPr>
            <a:r>
              <a:t>NGHIÊN CỨU KHOA HỌC SINH VIÊN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648000"/>
            <a:ext cx="188541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 i="0">
                <a:solidFill>
                  <a:srgbClr val="FFFFFF"/>
                </a:solidFill>
                <a:latin typeface="Montserrat"/>
              </a:rPr>
              <a:t>NGHIÊN CỨU VÀ TỐI ƯU HÓA BÀI TOÁN ĐỊNH TUYẾN PHƯƠNG TIỆN
CÓ KHUNG THỜI GIAN (VRPTW) BẰNG THUẬT TOÁN </a:t>
            </a:r>
            <a:r>
              <a:rPr sz="2800" b="1" i="0">
                <a:solidFill>
                  <a:srgbClr val="F59E0B"/>
                </a:solidFill>
                <a:latin typeface="Montserrat"/>
              </a:rPr>
              <a:t>DDQN-ALNS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655999"/>
            <a:ext cx="195741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0E0EF"/>
                </a:solidFill>
                <a:latin typeface="Montserrat Light"/>
              </a:defRPr>
              <a:lnSpc>
                <a:spcPct val="120000"/>
              </a:lnSpc>
            </a:pPr>
            <a:r>
              <a:t>Vehicle Routing Problem with Time Windows — Hybrid Deep Reinforcement Learning &amp; Adaptive Large Neighbourhood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15999"/>
            <a:ext cx="195741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SVTH: </a:t>
            </a:r>
            <a:r>
              <a:rPr sz="1400" b="0" i="0">
                <a:solidFill>
                  <a:srgbClr val="FFFFFF"/>
                </a:solidFill>
                <a:latin typeface="Montserrat Light"/>
              </a:rPr>
              <a:t>Nguyễn Văn A</a:t>
            </a:r>
            <a:r>
              <a:rPr sz="1400" b="0" i="0">
                <a:solidFill>
                  <a:srgbClr val="94A3B8"/>
                </a:solidFill>
                <a:latin typeface="Montserrat Light"/>
              </a:rPr>
              <a:t>   |   </a:t>
            </a:r>
            <a:r>
              <a:rPr sz="1400" b="1" i="0">
                <a:solidFill>
                  <a:srgbClr val="FFFFFF"/>
                </a:solidFill>
                <a:latin typeface="Montserrat"/>
              </a:rPr>
              <a:t>Lớp: </a:t>
            </a:r>
            <a:r>
              <a:rPr sz="1400" b="0" i="0">
                <a:solidFill>
                  <a:srgbClr val="FFFFFF"/>
                </a:solidFill>
                <a:latin typeface="Montserrat Light"/>
              </a:rPr>
              <a:t>10020130</a:t>
            </a:r>
            <a:r>
              <a:rPr sz="1400" b="0" i="0">
                <a:solidFill>
                  <a:srgbClr val="94A3B8"/>
                </a:solidFill>
                <a:latin typeface="Montserrat Light"/>
              </a:rPr>
              <a:t>   |   </a:t>
            </a:r>
            <a:r>
              <a:rPr sz="1400" b="1" i="0">
                <a:solidFill>
                  <a:srgbClr val="FFFFFF"/>
                </a:solidFill>
                <a:latin typeface="Montserrat"/>
              </a:rPr>
              <a:t>Khoa: </a:t>
            </a:r>
            <a:r>
              <a:rPr sz="1400" b="0" i="0">
                <a:solidFill>
                  <a:srgbClr val="FFFFFF"/>
                </a:solidFill>
                <a:latin typeface="Montserrat Light"/>
              </a:rPr>
              <a:t>Điện – Điện tử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GVHD: </a:t>
            </a:r>
            <a:r>
              <a:rPr sz="1400" b="0" i="0">
                <a:solidFill>
                  <a:srgbClr val="FFFFFF"/>
                </a:solidFill>
                <a:latin typeface="Montserrat Light"/>
              </a:rPr>
              <a:t>TS. Nguyễn Văn 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700000"/>
            <a:ext cx="21374100" cy="1260000"/>
          </a:xfrm>
          <a:prstGeom prst="rect">
            <a:avLst/>
          </a:prstGeom>
          <a:solidFill>
            <a:srgbClr val="15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0000" y="2844000"/>
            <a:ext cx="4677525" cy="972000"/>
          </a:xfrm>
          <a:prstGeom prst="roundRect">
            <a:avLst/>
          </a:prstGeom>
          <a:solidFill>
            <a:srgbClr val="1A3A68"/>
          </a:solidFill>
          <a:ln w="12700">
            <a:solidFill>
              <a:srgbClr val="2D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916000"/>
            <a:ext cx="467752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00B4D8"/>
                </a:solidFill>
                <a:latin typeface="Montserrat"/>
              </a:defRPr>
              <a:lnSpc>
                <a:spcPct val="120000"/>
              </a:lnSpc>
            </a:pPr>
            <a:r>
              <a:t>0.16%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3420000"/>
            <a:ext cx="446152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CAF0F8"/>
                </a:solidFill>
                <a:latin typeface="Montserrat Light"/>
              </a:defRPr>
              <a:lnSpc>
                <a:spcPct val="120000"/>
              </a:lnSpc>
            </a:pPr>
            <a:r>
              <a:t>Gap% so với BKS (RC1+RC2)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65525" y="2844000"/>
            <a:ext cx="4677525" cy="972000"/>
          </a:xfrm>
          <a:prstGeom prst="roundRect">
            <a:avLst/>
          </a:prstGeom>
          <a:solidFill>
            <a:srgbClr val="1A3A68"/>
          </a:solidFill>
          <a:ln w="12700">
            <a:solidFill>
              <a:srgbClr val="2D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5525" y="2916000"/>
            <a:ext cx="467752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F59E0B"/>
                </a:solidFill>
                <a:latin typeface="Montserrat"/>
              </a:defRPr>
              <a:lnSpc>
                <a:spcPct val="120000"/>
              </a:lnSpc>
            </a:pPr>
            <a:r>
              <a:t>7.61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3525" y="3420000"/>
            <a:ext cx="446152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CAF0F8"/>
                </a:solidFill>
                <a:latin typeface="Montserrat Light"/>
              </a:defRPr>
              <a:lnSpc>
                <a:spcPct val="120000"/>
              </a:lnSpc>
            </a:pPr>
            <a:r>
              <a:t>Xe trung bình (vs 8.84 OR-Tools)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1050" y="2844000"/>
            <a:ext cx="4677525" cy="972000"/>
          </a:xfrm>
          <a:prstGeom prst="roundRect">
            <a:avLst/>
          </a:prstGeom>
          <a:solidFill>
            <a:srgbClr val="1A3A68"/>
          </a:solidFill>
          <a:ln w="12700">
            <a:solidFill>
              <a:srgbClr val="2D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31050" y="2916000"/>
            <a:ext cx="467752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10B981"/>
                </a:solidFill>
                <a:latin typeface="Montserrat"/>
              </a:defRPr>
              <a:lnSpc>
                <a:spcPct val="120000"/>
              </a:lnSpc>
            </a:pPr>
            <a:r>
              <a:t>1.62%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39050" y="3420000"/>
            <a:ext cx="446152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CAF0F8"/>
                </a:solidFill>
                <a:latin typeface="Montserrat Light"/>
              </a:defRPr>
              <a:lnSpc>
                <a:spcPct val="120000"/>
              </a:lnSpc>
            </a:pPr>
            <a:r>
              <a:t>Gap% Domain Randomization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96575" y="2844000"/>
            <a:ext cx="4677525" cy="972000"/>
          </a:xfrm>
          <a:prstGeom prst="roundRect">
            <a:avLst/>
          </a:prstGeom>
          <a:solidFill>
            <a:srgbClr val="1A3A68"/>
          </a:solidFill>
          <a:ln w="12700">
            <a:solidFill>
              <a:srgbClr val="2D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96575" y="2916000"/>
            <a:ext cx="467752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A78BFA"/>
                </a:solidFill>
                <a:latin typeface="Montserrat"/>
              </a:defRPr>
              <a:lnSpc>
                <a:spcPct val="120000"/>
              </a:lnSpc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04575" y="3420000"/>
            <a:ext cx="446152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CAF0F8"/>
                </a:solidFill>
                <a:latin typeface="Montserrat Light"/>
              </a:defRPr>
              <a:lnSpc>
                <a:spcPct val="120000"/>
              </a:lnSpc>
            </a:pPr>
            <a:r>
              <a:t>Tỷ lệ giao hàng đúng giờ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4788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4320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GIỚI THIỆU &amp; ĐỘNG LỰC NGHIÊN CỨU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4968000"/>
            <a:ext cx="951705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Bài toán </a:t>
            </a:r>
            <a:r>
              <a:rPr sz="1200" b="1" i="0">
                <a:solidFill>
                  <a:srgbClr val="1E293B"/>
                </a:solidFill>
                <a:latin typeface="Montserrat"/>
              </a:rPr>
              <a:t>VRPTW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(Vehicle Routing Problem with Time Windows) thuộc lớp </a:t>
            </a:r>
            <a:r>
              <a:rPr sz="1200" b="1" i="0">
                <a:solidFill>
                  <a:srgbClr val="1E293B"/>
                </a:solidFill>
                <a:latin typeface="Montserrat"/>
              </a:rPr>
              <a:t>NP-khó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, là bài toán cốt lõi trong logistics đô thị. Yêu cầu tối thiểu hóa đồng thời </a:t>
            </a:r>
            <a:r>
              <a:rPr sz="1200" b="1" i="0">
                <a:solidFill>
                  <a:srgbClr val="00B4D8"/>
                </a:solidFill>
                <a:latin typeface="Montserrat"/>
              </a:rPr>
              <a:t>số lượng phương tiện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và </a:t>
            </a:r>
            <a:r>
              <a:rPr sz="1200" b="1" i="0">
                <a:solidFill>
                  <a:srgbClr val="00B4D8"/>
                </a:solidFill>
                <a:latin typeface="Montserrat"/>
              </a:rPr>
              <a:t>tổng quãng đường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trong khi tuân thủ nghiêm ngặt ràng buộc sức tải và khung thời gian.</a:t>
            </a:r>
          </a:p>
          <a:p>
            <a:pPr algn="l">
              <a:spcAft>
                <a:spcPts val="800"/>
              </a:spcAft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Nghiên cứu đề xuất </a:t>
            </a:r>
            <a:r>
              <a:rPr sz="1200" b="1" i="0">
                <a:solidFill>
                  <a:srgbClr val="F59E0B"/>
                </a:solidFill>
                <a:latin typeface="Montserrat"/>
              </a:rPr>
              <a:t>DDQN-ALNS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 — tích hợp Double Deep Q-Network vào Adaptive Large Neighbourhood Search để điều khiển chiến lược tìm kiếm tự động, thay thế các luật cứng truyền thống.</a:t>
            </a:r>
          </a:p>
          <a:p>
            <a:pPr algn="l">
              <a:spcAft>
                <a:spcPts val="200"/>
              </a:spcAft>
              <a:lnSpc>
                <a:spcPct val="120000"/>
              </a:lnSpc>
            </a:pPr>
            <a:r>
              <a:rPr sz="1200" b="1" i="0">
                <a:solidFill>
                  <a:srgbClr val="1E293B"/>
                </a:solidFill>
                <a:latin typeface="Montserrat"/>
              </a:rPr>
              <a:t>Mục tiêu: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Điều khiển thông minh 6 chế độ tìm kiếm bằng DDQN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Lựa chọn tối ưu trong 40 tổ hợp toán tử destroy/repair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Chứng minh khả năng tổng quát hóa qua Domain Randomization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" y="8496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8028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MÔ HÌNH TOÁN HỌC VRPTW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" y="8676000"/>
            <a:ext cx="951705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Đồ thị định hướng </a:t>
            </a:r>
            <a:r>
              <a:rPr sz="1200" b="1" i="1">
                <a:solidFill>
                  <a:srgbClr val="1E293B"/>
                </a:solidFill>
                <a:latin typeface="Montserrat"/>
              </a:rPr>
              <a:t>G = (V, A)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, đội xe đồng nhất K phương tiện sức tải Q.</a:t>
            </a:r>
          </a:p>
          <a:p>
            <a:pPr algn="l">
              <a:spcAft>
                <a:spcPts val="200"/>
              </a:spcAft>
              <a:lnSpc>
                <a:spcPct val="114999"/>
              </a:lnSpc>
            </a:pPr>
            <a:r>
              <a:rPr sz="1200" b="1" i="0">
                <a:solidFill>
                  <a:srgbClr val="1E293B"/>
                </a:solidFill>
                <a:latin typeface="Montserrat"/>
              </a:rPr>
              <a:t>Hàm mục tiêu phân cấp:</a:t>
            </a:r>
          </a:p>
          <a:p>
            <a:pPr algn="ctr">
              <a:spcAft>
                <a:spcPts val="600"/>
              </a:spcAft>
              <a:lnSpc>
                <a:spcPct val="130000"/>
              </a:lnSpc>
            </a:pPr>
            <a:r>
              <a:rPr sz="1300" b="1" i="1">
                <a:solidFill>
                  <a:srgbClr val="152E54"/>
                </a:solidFill>
                <a:latin typeface="Montserrat"/>
              </a:rPr>
              <a:t>min f(x) = M·ΣₖΣⱼ x₀ⱼₖ  +  ΣₖΣ₍ᵢ,ⱼ₎ dᵢⱼ·xᵢⱼₖ</a:t>
            </a:r>
          </a:p>
          <a:p>
            <a:pPr algn="l">
              <a:spcAft>
                <a:spcPts val="300"/>
              </a:spcAft>
              <a:lnSpc>
                <a:spcPct val="120000"/>
              </a:lnSpc>
            </a:pPr>
            <a:r>
              <a:rPr sz="1200" b="1" i="0">
                <a:solidFill>
                  <a:srgbClr val="1E293B"/>
                </a:solidFill>
                <a:latin typeface="Montserrat"/>
              </a:rPr>
              <a:t>Hệ ràng buộc: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phục vụ đúng 1 lần, bảo toàn luồng, sức tải, tính tuần tự thời gian, khung thời gian [Eᵢ, Lᵢ].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Hằng số M ≫ tổng khoảng cách → Ưu tiên: </a:t>
            </a:r>
            <a:r>
              <a:rPr sz="1200" b="1" i="0">
                <a:solidFill>
                  <a:srgbClr val="00B4D8"/>
                </a:solidFill>
                <a:latin typeface="Montserrat"/>
              </a:rPr>
              <a:t>ít xe trước, ngắn đường sau.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" y="11484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" y="11016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KIẾN TRÚC HYBRID DDQN-ALNS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000" y="11664000"/>
            <a:ext cx="951705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lnSpc>
                <a:spcPct val="120000"/>
              </a:lnSpc>
            </a:pPr>
            <a:r>
              <a:rPr sz="1200" b="1" i="0">
                <a:solidFill>
                  <a:srgbClr val="1E293B"/>
                </a:solidFill>
                <a:latin typeface="Montserrat"/>
              </a:rPr>
              <a:t>Hệ thống gồm 3 thành phần chính:</a:t>
            </a:r>
          </a:p>
          <a:p>
            <a:pPr algn="l" marL="288000" indent="-144000">
              <a:spcAft>
                <a:spcPts val="400"/>
              </a:spcAft>
              <a:buChar char="•"/>
              <a:lnSpc>
                <a:spcPct val="120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Plateau Controller (DDQN):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Quyết định 1 trong 6 chế độ tìm kiếm (default, intensify, diversify, tw_rescue, pool_recombine, route_reduce) dựa trên vector trạng thái 12 chiều. Kiến trúc Dueling DQN: Trunk 2×128 → Value Head V(s) + Advantage Head A(s,a).</a:t>
            </a:r>
          </a:p>
          <a:p>
            <a:pPr algn="l" marL="288000" indent="-144000">
              <a:spcAft>
                <a:spcPts val="400"/>
              </a:spcAft>
              <a:buChar char="•"/>
              <a:lnSpc>
                <a:spcPct val="120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Operator Controller (DDQN):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Lựa chọn cặp toán tử tối ưu trong 40 tổ hợp (8 Destroy × 5 Repair). Kết hợp UCB Action Augmenter + Thompson Bandit để cân bằng exploration–exploitation.</a:t>
            </a:r>
          </a:p>
          <a:p>
            <a:pPr algn="l" marL="288000" indent="-144000">
              <a:spcAft>
                <a:spcPts val="600"/>
              </a:spcAft>
              <a:buChar char="•"/>
              <a:lnSpc>
                <a:spcPct val="120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Learned Acceptance Criterion (LAC):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Mạng phân loại nhị phân 3 lớp thay thế Simulated Annealing. Dự đoán xác suất lời giải ứng viên dẫn đến cải thiện trong H=80 bước, huấn luyện online bằng delayed labeling.</a:t>
            </a:r>
          </a:p>
          <a:p>
            <a:pPr algn="l">
              <a:spcAft>
                <a:spcPts val="200"/>
              </a:spcAft>
              <a:lnSpc>
                <a:spcPct val="120000"/>
              </a:lnSpc>
            </a:pPr>
            <a:r>
              <a:rPr sz="1200" b="1" i="0">
                <a:solidFill>
                  <a:srgbClr val="1E293B"/>
                </a:solidFill>
                <a:latin typeface="Montserrat"/>
              </a:rPr>
              <a:t>Hàm phần thưởng thế năng thích ứng:</a:t>
            </a:r>
          </a:p>
          <a:p>
            <a:pPr algn="ctr">
              <a:spcAft>
                <a:spcPts val="200"/>
              </a:spcAft>
              <a:lnSpc>
                <a:spcPct val="114999"/>
              </a:lnSpc>
            </a:pPr>
            <a:r>
              <a:rPr sz="1200" b="1" i="1">
                <a:solidFill>
                  <a:srgbClr val="152E54"/>
                </a:solidFill>
                <a:latin typeface="Montserrat"/>
              </a:rPr>
              <a:t>R = 0.30·Base + (γ·Pot(s') − Pot(s))</a:t>
            </a:r>
          </a:p>
          <a:p>
            <a:pPr algn="l">
              <a:lnSpc>
                <a:spcPct val="114999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γₙᵥ=15.0, γ_cost=0.18 → ưu tiên giảm xe trước khi tối ưu khoảng cách.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000" y="16020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15552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HỆ THỐNG TOÁN TỬ &amp; SET PARTITIONING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" y="16200000"/>
            <a:ext cx="4578525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lnSpc>
                <a:spcPct val="114999"/>
              </a:lnSpc>
            </a:pPr>
            <a:r>
              <a:rPr sz="1100" b="1" i="0">
                <a:solidFill>
                  <a:srgbClr val="152E54"/>
                </a:solidFill>
                <a:latin typeface="Montserrat"/>
              </a:rPr>
              <a:t>8 Toán tử Phá hủy: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Random Removal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Worst Removal (power-law)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Shaw Relatedness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Route Portion Removal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TW-Urgent Removal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Route Eliminate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Dispersion Eliminate</a:t>
            </a:r>
          </a:p>
          <a:p>
            <a:pPr algn="l" marL="288000" indent="-144000"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Cross-Route Shaw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525" y="16200000"/>
            <a:ext cx="4578525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lnSpc>
                <a:spcPct val="114999"/>
              </a:lnSpc>
            </a:pPr>
            <a:r>
              <a:rPr sz="1100" b="1" i="0">
                <a:solidFill>
                  <a:srgbClr val="152E54"/>
                </a:solidFill>
                <a:latin typeface="Montserrat"/>
              </a:rPr>
              <a:t>5 Toán tử Sửa chữa: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Greedy Insertion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Regret-2 Insertion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Regret-3 Insertion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TW-Greedy Insertion</a:t>
            </a:r>
          </a:p>
          <a:p>
            <a:pPr algn="l" marL="288000" indent="-144000">
              <a:spcAft>
                <a:spcPts val="300"/>
              </a:spcAft>
              <a:buChar char="•"/>
              <a:lnSpc>
                <a:spcPct val="114999"/>
              </a:lnSpc>
            </a:pPr>
            <a:r>
              <a:rPr sz="1000" b="1" i="0">
                <a:solidFill>
                  <a:srgbClr val="00B4D8"/>
                </a:solidFill>
                <a:latin typeface="Montserrat"/>
              </a:rPr>
              <a:t>FTS-Greedy (Forward Time Slack)</a:t>
            </a:r>
          </a:p>
          <a:p>
            <a:pPr algn="l">
              <a:spcAft>
                <a:spcPts val="200"/>
              </a:spcAft>
              <a:lnSpc>
                <a:spcPct val="114999"/>
              </a:lnSpc>
            </a:pPr>
            <a:r>
              <a:rPr sz="1100" b="1" i="0">
                <a:solidFill>
                  <a:srgbClr val="152E54"/>
                </a:solidFill>
                <a:latin typeface="Montserrat"/>
              </a:rPr>
              <a:t>Set Partitioning (MILP):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Montserrat Light"/>
              </a:rPr>
              <a:t>Tái tổ hợp tuyến đường tối ưu từ Route Pool bằng SciPy MILP solver. Phạt phương tiện P = 100·dₘₐₓ·n.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57050" y="4788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7050" y="4320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TẬP DỮ LIỆU &amp; THIẾT LẬP THỰC NGHIỆM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7050" y="4968000"/>
            <a:ext cx="951705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lnSpc>
                <a:spcPct val="114999"/>
              </a:lnSpc>
            </a:pPr>
            <a:r>
              <a:rPr sz="1200" b="1" i="0">
                <a:solidFill>
                  <a:srgbClr val="1E293B"/>
                </a:solidFill>
                <a:latin typeface="Montserrat"/>
              </a:rPr>
              <a:t>Tập dữ liệu chuẩn Solomon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(100 khách hàng):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RC1: Khung thời gian chặt, phân bố khách hàng hỗn hợp (8 instances)</a:t>
            </a:r>
          </a:p>
          <a:p>
            <a:pPr algn="l" marL="288000" indent="-144000">
              <a:spcAft>
                <a:spcPts val="400"/>
              </a:spcAft>
              <a:buChar char="•"/>
              <a:lnSpc>
                <a:spcPct val="114999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RC2: Khung thời gian mở rộng, sức tải xe lớn (8 instances)</a:t>
            </a:r>
          </a:p>
          <a:p>
            <a:pPr algn="l">
              <a:spcAft>
                <a:spcPts val="200"/>
              </a:spcAft>
              <a:lnSpc>
                <a:spcPct val="114999"/>
              </a:lnSpc>
            </a:pPr>
            <a:r>
              <a:rPr sz="1200" b="1" i="0">
                <a:solidFill>
                  <a:srgbClr val="1E293B"/>
                </a:solidFill>
                <a:latin typeface="Montserrat"/>
              </a:rPr>
              <a:t>Cấu hình: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CPU: Intel i7-14700KF (28 nhân, 5.6 GHz) | RAM: 32 GB DDR5</a:t>
            </a:r>
          </a:p>
          <a:p>
            <a:pPr algn="l" marL="288000" indent="-144000">
              <a:spcAft>
                <a:spcPts val="100"/>
              </a:spcAft>
              <a:buChar char="•"/>
              <a:lnSpc>
                <a:spcPct val="114999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ALNS/Hybrid iterations: 1200 | Patience: 250 | Runs: 5</a:t>
            </a:r>
          </a:p>
          <a:p>
            <a:pPr algn="l" marL="288000" indent="-144000">
              <a:buChar char="•"/>
              <a:lnSpc>
                <a:spcPct val="114999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SA: T₀ = 0.05, decay = 0.99975 | Segment: 100 iters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57050" y="7776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57050" y="7308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KẾT QUẢ THỰC NGHIỆM TRÊN SOLOMON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0957050" y="7956000"/>
          <a:ext cx="8172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700000"/>
                <a:gridCol w="1080000"/>
                <a:gridCol w="1260000"/>
                <a:gridCol w="1260000"/>
                <a:gridCol w="1080000"/>
              </a:tblGrid>
              <a:tr h="327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Lớp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Thuật Toán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NV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TD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Gap%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Time(s)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RC1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ALNS-Base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12.58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1327.9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+1.91%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19.2</a:t>
                      </a:r>
                    </a:p>
                  </a:txBody>
                  <a:tcPr anchor="ctr"/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Hybrid-Fixed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12.30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1302.5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-0.06%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36.7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Hybrid-Rule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12.25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1298.4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-0.37%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36.6</a:t>
                      </a:r>
                    </a:p>
                  </a:txBody>
                  <a:tcPr anchor="ctr"/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★ DDQN (Đề xuất)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12.35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1298.5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-0.36%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40.3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F4444"/>
                          </a:solidFill>
                          <a:latin typeface="Montserrat"/>
                        </a:defRPr>
                      </a:pPr>
                      <a:r>
                        <a:t>OR-Tools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F4444"/>
                          </a:solidFill>
                          <a:latin typeface="Montserrat"/>
                        </a:defRPr>
                      </a:pPr>
                      <a:r>
                        <a:t>13.63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1343.4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F4444"/>
                          </a:solidFill>
                          <a:latin typeface="Montserrat"/>
                        </a:defRPr>
                      </a:pPr>
                      <a:r>
                        <a:t>+3.09%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60.1</a:t>
                      </a:r>
                    </a:p>
                  </a:txBody>
                  <a:tcPr anchor="ctr"/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RC2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ALNS-Base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3.50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1146.5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+2.77%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19.2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Hybrid-Fixed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1131.4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+1.43%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36.7</a:t>
                      </a:r>
                    </a:p>
                  </a:txBody>
                  <a:tcPr anchor="ctr"/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Hybrid-Rule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3.40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1128.2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+1.13%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36.6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7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★ DDQN (Đề xuất)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3.48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1125.6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+0.90%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40.3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</a:tr>
              <a:tr h="3273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F4444"/>
                          </a:solidFill>
                          <a:latin typeface="Montserrat"/>
                        </a:defRPr>
                      </a:pPr>
                      <a:r>
                        <a:t>OR-Tools ⚠NV↑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F4444"/>
                          </a:solidFill>
                          <a:latin typeface="Montserrat"/>
                        </a:defRPr>
                      </a:pPr>
                      <a:r>
                        <a:t>6.25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1034.0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EF4444"/>
                          </a:solidFill>
                          <a:latin typeface="Montserrat"/>
                        </a:defRPr>
                      </a:pPr>
                      <a:r>
                        <a:t>-7.35%*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60.1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0957050" y="10584000"/>
            <a:ext cx="951705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i="1">
                <a:solidFill>
                  <a:srgbClr val="94A3B8"/>
                </a:solidFill>
                <a:latin typeface="Montserrat Light"/>
              </a:rPr>
              <a:t>* OR-Tools RC2: Gap% âm do sử dụng gấp đôi số xe (6.25 vs 3.47), không kinh tế.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57050" y="11700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57050" y="11232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DOMAIN RANDOMIZATION &amp; CHUYỂN GIAO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7050" y="11880000"/>
            <a:ext cx="951705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Mô hình huấn luyện trên dữ liệu nhân tạo ngẫu nhiên (25–100 KH), </a:t>
            </a:r>
            <a:r>
              <a:rPr sz="1200" b="1" i="0">
                <a:solidFill>
                  <a:srgbClr val="00B4D8"/>
                </a:solidFill>
                <a:latin typeface="Montserrat"/>
              </a:rPr>
              <a:t>đóng băng trọng số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, test trên toàn bộ 56 thực thể Solomon: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0957050" y="12672000"/>
          <a:ext cx="720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980000"/>
                <a:gridCol w="1980000"/>
                <a:gridCol w="1980000"/>
              </a:tblGrid>
              <a:tr h="45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Lớp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NV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TD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Gap%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45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831.92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+0.36%</a:t>
                      </a:r>
                    </a:p>
                  </a:txBody>
                  <a:tcPr anchor="ctr"/>
                </a:tc>
              </a:tr>
              <a:tr h="45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12.867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1210.82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−0.17%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RC1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12.725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1318.23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+1.17%</a:t>
                      </a:r>
                    </a:p>
                  </a:txBody>
                  <a:tcPr anchor="ctr"/>
                </a:tc>
              </a:tr>
              <a:tr h="45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C2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3.000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620.43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+4.88%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3.091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933.24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+1.12%</a:t>
                      </a:r>
                    </a:p>
                  </a:txBody>
                  <a:tcPr anchor="ctr"/>
                </a:tc>
              </a:tr>
              <a:tr h="45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RC2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3.575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1156.02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+3.63%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AVG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7.729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ontserrat"/>
                        </a:defRPr>
                      </a:pPr>
                      <a:r>
                        <a:t>1011.78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ontserrat"/>
                        </a:defRPr>
                      </a:pPr>
                      <a:r>
                        <a:t>+1.62%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10957050" y="14652000"/>
            <a:ext cx="951705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Montserrat Light"/>
              </a:rPr>
              <a:t>→ Mô hình </a:t>
            </a:r>
            <a:r>
              <a:rPr sz="1200" b="1" i="0">
                <a:solidFill>
                  <a:srgbClr val="00B4D8"/>
                </a:solidFill>
                <a:latin typeface="Montserrat"/>
              </a:rPr>
              <a:t>không cần fine-tune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trên dữ liệu mới. Triển khai dạng plug-and-play.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57050" y="159120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57050" y="154440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🕮 ĐÓNG GÓP CHÍNH &amp; KẾT LUẬN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7050" y="16092000"/>
            <a:ext cx="951705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25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❶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Tích hợp </a:t>
            </a:r>
            <a:r>
              <a:rPr sz="1200" b="1" i="0">
                <a:solidFill>
                  <a:srgbClr val="1E293B"/>
                </a:solidFill>
                <a:latin typeface="Montserrat"/>
              </a:rPr>
              <a:t>Double DQN hai lớp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(Plateau + Operator Controller) điều khiển tự động chiến lược tìm kiếm ALNS.</a:t>
            </a:r>
          </a:p>
          <a:p>
            <a:pPr algn="l">
              <a:spcAft>
                <a:spcPts val="500"/>
              </a:spcAft>
              <a:lnSpc>
                <a:spcPct val="125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❷ </a:t>
            </a:r>
            <a:r>
              <a:rPr sz="1200" b="1" i="0">
                <a:solidFill>
                  <a:srgbClr val="1E293B"/>
                </a:solidFill>
                <a:latin typeface="Montserrat"/>
              </a:rPr>
              <a:t>Learned Acceptance Criterion (LAC)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thay thế Simulated Annealing — quyết định chấp nhận dựa trên học máy.</a:t>
            </a:r>
          </a:p>
          <a:p>
            <a:pPr algn="l">
              <a:spcAft>
                <a:spcPts val="500"/>
              </a:spcAft>
              <a:lnSpc>
                <a:spcPct val="125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❸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Toán tử </a:t>
            </a:r>
            <a:r>
              <a:rPr sz="1200" b="1" i="0">
                <a:solidFill>
                  <a:srgbClr val="1E293B"/>
                </a:solidFill>
                <a:latin typeface="Montserrat"/>
              </a:rPr>
              <a:t>FTS-Greedy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+ Set Partitioning MILP giải quyết triệt để ràng buộc khung thời gian chặt.</a:t>
            </a:r>
          </a:p>
          <a:p>
            <a:pPr algn="l">
              <a:spcAft>
                <a:spcPts val="500"/>
              </a:spcAft>
              <a:lnSpc>
                <a:spcPct val="125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❹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Gap% chỉ </a:t>
            </a:r>
            <a:r>
              <a:rPr sz="1400" b="1" i="0">
                <a:solidFill>
                  <a:srgbClr val="10B981"/>
                </a:solidFill>
                <a:latin typeface="Montserrat"/>
              </a:rPr>
              <a:t>0.16%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so với BKS, vượt trội OR-Tools về đội xe (</a:t>
            </a:r>
            <a:r>
              <a:rPr sz="1200" b="1" i="0">
                <a:solidFill>
                  <a:srgbClr val="1E293B"/>
                </a:solidFill>
                <a:latin typeface="Montserrat"/>
              </a:rPr>
              <a:t>7.61 vs 8.84 xe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).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0B4D8"/>
                </a:solidFill>
                <a:latin typeface="Montserrat"/>
              </a:rPr>
              <a:t>❺ </a:t>
            </a:r>
            <a:r>
              <a:rPr sz="1200" b="1" i="0">
                <a:solidFill>
                  <a:srgbClr val="1E293B"/>
                </a:solidFill>
                <a:latin typeface="Montserrat"/>
              </a:rPr>
              <a:t>Domain Randomization </a:t>
            </a:r>
            <a:r>
              <a:rPr sz="1200" b="0" i="0">
                <a:solidFill>
                  <a:srgbClr val="475569"/>
                </a:solidFill>
                <a:latin typeface="Montserrat Light"/>
              </a:rPr>
              <a:t>đạt Gap% 1.62% trên 56 instances khi đóng băng trọng số — chứng minh khả năng </a:t>
            </a:r>
            <a:r>
              <a:rPr sz="1200" b="1" i="0">
                <a:solidFill>
                  <a:srgbClr val="00B4D8"/>
                </a:solidFill>
                <a:latin typeface="Montserrat"/>
              </a:rPr>
              <a:t>tổng quát hóa vượt trội.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29556800"/>
            <a:ext cx="21374100" cy="7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29556800"/>
            <a:ext cx="21374100" cy="3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000" y="29664800"/>
            <a:ext cx="195741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Montserrat Light"/>
              </a:rPr>
              <a:t>🏫 Hội Nghị NCKHSV 2025 — Khoa Điện – Điện tử</a:t>
            </a:r>
            <a:r>
              <a:rPr sz="1000" b="0" i="0">
                <a:solidFill>
                  <a:srgbClr val="3A4A5C"/>
                </a:solidFill>
                <a:latin typeface="Montserrat Light"/>
              </a:rPr>
              <a:t>     |     </a:t>
            </a:r>
            <a:r>
              <a:rPr sz="1000" b="0" i="0">
                <a:solidFill>
                  <a:srgbClr val="00B4D8"/>
                </a:solidFill>
                <a:latin typeface="Montserrat Light"/>
              </a:rPr>
              <a:t>Python 3.12 · PyTorch · NumPy · Numba · FastAPI</a:t>
            </a:r>
            <a:r>
              <a:rPr sz="1000" b="0" i="0">
                <a:solidFill>
                  <a:srgbClr val="3A4A5C"/>
                </a:solidFill>
                <a:latin typeface="Montserrat Light"/>
              </a:rPr>
              <a:t>     |     </a:t>
            </a:r>
            <a:r>
              <a:rPr sz="1000" b="0" i="0">
                <a:solidFill>
                  <a:srgbClr val="F59E0B"/>
                </a:solidFill>
                <a:latin typeface="Montserrat Light"/>
              </a:rPr>
              <a:t>github.com/Thundercok/VRPTW-Research-Optimization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000" y="28404800"/>
            <a:ext cx="9517050" cy="288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000" y="27936800"/>
            <a:ext cx="951705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432FF"/>
                </a:solidFill>
                <a:latin typeface="Montserrat"/>
              </a:defRPr>
              <a:lnSpc>
                <a:spcPct val="120000"/>
              </a:lnSpc>
            </a:pPr>
            <a:r>
              <a:t>📚 TÀI LIỆU THAM KHẢO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000" y="28584800"/>
            <a:ext cx="951705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Montserrat Light"/>
              </a:rPr>
              <a:t>[1] Ropke &amp; Pisinger (2006). An adaptive large neighborhood search heuristic. Transportation Science, 40(4).</a:t>
            </a:r>
          </a:p>
          <a:p>
            <a:pPr algn="l">
              <a:spcAft>
                <a:spcPts val="200"/>
              </a:spcAft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Montserrat Light"/>
              </a:rPr>
              <a:t>[2] Solomon (1987). Algorithms for the vehicle routing and scheduling problems with TW. Operations Research, 35(2).</a:t>
            </a:r>
          </a:p>
          <a:p>
            <a:pPr algn="l">
              <a:spcAft>
                <a:spcPts val="200"/>
              </a:spcAft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Montserrat Light"/>
              </a:rPr>
              <a:t>[3] Schaul et al. (2016). Prioritized experience replay. ICLR.</a:t>
            </a:r>
          </a:p>
          <a:p>
            <a:pPr algn="l">
              <a:spcAft>
                <a:spcPts val="200"/>
              </a:spcAft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Montserrat Light"/>
              </a:rPr>
              <a:t>[4] Wang et al. (2016). Dueling network architectures for deep RL. ICML.</a:t>
            </a:r>
          </a:p>
          <a:p>
            <a:pPr algn="l">
              <a:spcAft>
                <a:spcPts val="200"/>
              </a:spcAft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Montserrat Light"/>
              </a:rPr>
              <a:t>[5] Kool et al. (2018). Attention, learn to solve routing problems! ICLR.</a:t>
            </a:r>
          </a:p>
        </p:txBody>
      </p:sp>
    </p:spTree>
    <p:extLst>
      <p:ext uri="{BB962C8B-B14F-4D97-AF65-F5344CB8AC3E}">
        <p14:creationId xmlns:p14="http://schemas.microsoft.com/office/powerpoint/2010/main" val="160433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Montserrat SemiBold</vt:lpstr>
      <vt:lpstr>Montserrat Light</vt:lpstr>
      <vt:lpstr>Montserrat</vt:lpstr>
      <vt:lpstr>Arial</vt:lpstr>
      <vt:lpstr>Times New Roman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Thanh-An NGUYEN</cp:lastModifiedBy>
  <cp:revision>4</cp:revision>
  <dcterms:created xsi:type="dcterms:W3CDTF">2006-08-16T00:00:00Z</dcterms:created>
  <dcterms:modified xsi:type="dcterms:W3CDTF">2024-09-22T08:28:35Z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CCBE85ED5C844403B09966F179E09C30_13</vt:lpwstr>
  </property>
  <property fmtid="{D5CDD505-2E9C-101B-9397-08002B2CF9AE}" pid="3" name="KSOProductBuildVer">
    <vt:lpwstr>1033-12.2.0.13215</vt:lpwstr>
  </property>
</Properties>
</file>