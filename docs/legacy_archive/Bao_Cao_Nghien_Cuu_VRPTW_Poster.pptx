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30275784" cy="42803064"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0275784" cy="42803064"/>
          </a:xfrm>
          <a:prstGeom prst="rect">
            <a:avLst/>
          </a:prstGeom>
          <a:solidFill>
            <a:srgbClr val="1E0F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508760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508760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508760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508760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572768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572768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572768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572768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1636776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636776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1636776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636776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17007839"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7007839"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7007839"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17007839"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764792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764792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764792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764792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8288000" y="137160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8288000" y="201168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8288000" y="2651760"/>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18288000" y="3291839"/>
            <a:ext cx="164592" cy="164592"/>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7" name="Connector 26"/>
          <p:cNvCxnSpPr/>
          <p:nvPr/>
        </p:nvCxnSpPr>
        <p:spPr>
          <a:xfrm>
            <a:off x="15169896" y="1453896"/>
            <a:ext cx="3200400" cy="192024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V="1">
            <a:off x="15809976" y="1453896"/>
            <a:ext cx="1280160" cy="128016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V="1">
            <a:off x="17090136" y="2093976"/>
            <a:ext cx="1280160" cy="1280160"/>
          </a:xfrm>
          <a:prstGeom prst="line">
            <a:avLst/>
          </a:prstGeom>
          <a:ln w="19050">
            <a:solidFill>
              <a:srgbClr val="4E308F"/>
            </a:solidFill>
          </a:ln>
        </p:spPr>
        <p:style>
          <a:lnRef idx="2">
            <a:schemeClr val="accent1"/>
          </a:lnRef>
          <a:fillRef idx="0">
            <a:schemeClr val="accent1"/>
          </a:fillRef>
          <a:effectRef idx="1">
            <a:schemeClr val="accent1"/>
          </a:effectRef>
          <a:fontRef idx="minor">
            <a:schemeClr val="tx1"/>
          </a:fontRef>
        </p:style>
      </p:cxnSp>
      <p:sp>
        <p:nvSpPr>
          <p:cNvPr id="30" name="Oval 29"/>
          <p:cNvSpPr/>
          <p:nvPr/>
        </p:nvSpPr>
        <p:spPr>
          <a:xfrm>
            <a:off x="411480" y="3474720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411480" y="3639312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11480" y="3803904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411480" y="39684960"/>
            <a:ext cx="548640" cy="548640"/>
          </a:xfrm>
          <a:prstGeom prst="ellipse">
            <a:avLst/>
          </a:prstGeom>
          <a:solidFill>
            <a:srgbClr val="4E308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10565892.0" y="41888664"/>
            <a:ext cx="9144000.0" cy="0"/>
          </a:xfrm>
          <a:prstGeom prst="line">
            <a:avLst/>
          </a:prstGeom>
          <a:ln w="38100">
            <a:solidFill>
              <a:srgbClr val="00F0FF"/>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9194292.0" y="41431464"/>
            <a:ext cx="1371600.0" cy="457200"/>
          </a:xfrm>
          <a:prstGeom prst="line">
            <a:avLst/>
          </a:prstGeom>
          <a:ln w="25400">
            <a:solidFill>
              <a:srgbClr val="00F0FF"/>
            </a:solidFill>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V="1">
            <a:off x="19709892.0" y="41431464"/>
            <a:ext cx="1371600.0" cy="457200"/>
          </a:xfrm>
          <a:prstGeom prst="line">
            <a:avLst/>
          </a:prstGeom>
          <a:ln w="25400">
            <a:solidFill>
              <a:srgbClr val="00F0FF"/>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1371600" y="9326880"/>
            <a:ext cx="27532584" cy="32104584"/>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371600" y="731520"/>
            <a:ext cx="10972800" cy="1097280"/>
          </a:xfrm>
          <a:prstGeom prst="rect">
            <a:avLst/>
          </a:prstGeom>
          <a:noFill/>
        </p:spPr>
        <p:txBody>
          <a:bodyPr wrap="square">
            <a:spAutoFit/>
          </a:bodyPr>
          <a:lstStyle/>
          <a:p>
            <a:pPr>
              <a:defRPr sz="3600" b="1">
                <a:solidFill>
                  <a:srgbClr val="FFFFFF"/>
                </a:solidFill>
                <a:latin typeface="Arial"/>
              </a:defRPr>
            </a:pPr>
            <a:r>
              <a:t>NGHIÊN CỨU KHOA HỌC SINH VIÊN</a:t>
            </a:r>
          </a:p>
          <a:p>
            <a:pPr>
              <a:spcBef>
                <a:spcPts val="600"/>
              </a:spcBef>
              <a:defRPr sz="2400" i="1">
                <a:solidFill>
                  <a:srgbClr val="B4AAD2"/>
                </a:solidFill>
                <a:latin typeface="Arial"/>
              </a:defRPr>
            </a:pPr>
            <a:r>
              <a:t>Khoa Công nghệ thông tin</a:t>
            </a:r>
          </a:p>
        </p:txBody>
      </p:sp>
      <p:sp>
        <p:nvSpPr>
          <p:cNvPr id="39" name="TextBox 38"/>
          <p:cNvSpPr txBox="1"/>
          <p:nvPr/>
        </p:nvSpPr>
        <p:spPr>
          <a:xfrm>
            <a:off x="1371600" y="2011680"/>
            <a:ext cx="12801600" cy="4572000"/>
          </a:xfrm>
          <a:prstGeom prst="rect">
            <a:avLst/>
          </a:prstGeom>
          <a:noFill/>
        </p:spPr>
        <p:txBody>
          <a:bodyPr wrap="square">
            <a:spAutoFit/>
          </a:bodyPr>
          <a:lstStyle/>
          <a:p>
            <a:pPr>
              <a:spcAft>
                <a:spcPts val="800"/>
              </a:spcAft>
              <a:defRPr sz="3200" b="1">
                <a:solidFill>
                  <a:srgbClr val="FFFFFF"/>
                </a:solidFill>
                <a:latin typeface="Arial"/>
              </a:defRPr>
            </a:pPr>
            <a:r>
              <a:t>Đề tài</a:t>
            </a:r>
          </a:p>
          <a:p>
            <a:pPr>
              <a:spcAft>
                <a:spcPts val="1200"/>
              </a:spcAft>
              <a:defRPr sz="2600" b="1">
                <a:solidFill>
                  <a:srgbClr val="FFFFFF"/>
                </a:solidFill>
                <a:latin typeface="Arial"/>
              </a:defRPr>
            </a:pPr>
            <a:r>
              <a:t>NGHIÊN CỨU VÀ TỐI ƯU HÓA BÀI TOÁN ĐỊNH TUYẾN PHƯƠNG TIỆN CÓ KHUNG THỜI GIAN (VRPTW) BẰNG THUẬT TOÁN TÌM KIẾM LÂN CẬN LỚN THÍCH ỨNG LAI HỌC TĂNG CƯỜNG SÂU (DDQN-ALNS)</a:t>
            </a:r>
          </a:p>
          <a:p>
            <a:pPr>
              <a:spcAft>
                <a:spcPts val="1000"/>
              </a:spcAft>
              <a:defRPr sz="1800" b="1">
                <a:solidFill>
                  <a:srgbClr val="FFFFFF"/>
                </a:solidFill>
                <a:latin typeface="Arial"/>
              </a:defRPr>
            </a:pPr>
            <a:r>
              <a:t>SVTH: Huỳnh Nhật Huy¹ (MSSV: 523c0012)</a:t>
            </a:r>
            <a:br/>
            <a:r>
              <a:t>GVHD: TS. Hồ Thị Linh*</a:t>
            </a:r>
          </a:p>
          <a:p>
            <a:pPr>
              <a:defRPr sz="1400" i="1">
                <a:solidFill>
                  <a:srgbClr val="B4AAD2"/>
                </a:solidFill>
                <a:latin typeface="Arial"/>
              </a:defRPr>
            </a:pPr>
            <a:r>
              <a:t>¹ Sinh viên ngành Khoa học máy tính, Khoa Công nghệ thông tin</a:t>
            </a:r>
            <a:br/>
            <a:r>
              <a:t>* Bộ môn Khoa học máy tính, Khoa Công nghệ thông tin</a:t>
            </a:r>
          </a:p>
        </p:txBody>
      </p:sp>
      <p:sp>
        <p:nvSpPr>
          <p:cNvPr id="40" name="TextBox 39"/>
          <p:cNvSpPr txBox="1"/>
          <p:nvPr/>
        </p:nvSpPr>
        <p:spPr>
          <a:xfrm>
            <a:off x="19202400" y="731520"/>
            <a:ext cx="9601200" cy="1371600"/>
          </a:xfrm>
          <a:prstGeom prst="rect">
            <a:avLst/>
          </a:prstGeom>
          <a:noFill/>
        </p:spPr>
        <p:txBody>
          <a:bodyPr wrap="square">
            <a:spAutoFit/>
          </a:bodyPr>
          <a:lstStyle/>
          <a:p>
            <a:pPr algn="r">
              <a:defRPr sz="2400" b="1">
                <a:solidFill>
                  <a:srgbClr val="FFFFFF"/>
                </a:solidFill>
                <a:latin typeface="Arial"/>
              </a:defRPr>
            </a:pPr>
            <a:r>
              <a:t>TRƯỜNG ĐẠI HỌC TÔN ĐỨC THẮNG</a:t>
            </a:r>
          </a:p>
          <a:p>
            <a:pPr algn="r">
              <a:spcBef>
                <a:spcPts val="400"/>
              </a:spcBef>
              <a:defRPr sz="2000" b="1">
                <a:solidFill>
                  <a:srgbClr val="00F0FF"/>
                </a:solidFill>
                <a:latin typeface="Arial"/>
              </a:defRPr>
            </a:pPr>
            <a:r>
              <a:t>KHOA CÔNG NGHỆ THÔNG TIN</a:t>
            </a:r>
          </a:p>
        </p:txBody>
      </p:sp>
      <p:sp>
        <p:nvSpPr>
          <p:cNvPr id="41" name="Rectangle 40"/>
          <p:cNvSpPr/>
          <p:nvPr/>
        </p:nvSpPr>
        <p:spPr>
          <a:xfrm>
            <a:off x="24688800" y="2011680"/>
            <a:ext cx="4206240" cy="4206240"/>
          </a:xfrm>
          <a:prstGeom prst="rect">
            <a:avLst/>
          </a:prstGeom>
          <a:solidFill>
            <a:srgbClr val="FFFFFF"/>
          </a:solidFill>
          <a:ln w="25400">
            <a:solidFill>
              <a:srgbClr val="4E308F"/>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333333"/>
                </a:solidFill>
                <a:latin typeface="Arial"/>
              </a:defRPr>
            </a:pPr>
            <a:r>
              <a:t>[ QR CODE / ĐẠI DIỆN ĐỀ TÀI ]</a:t>
            </a:r>
          </a:p>
        </p:txBody>
      </p:sp>
      <p:sp>
        <p:nvSpPr>
          <p:cNvPr id="42" name="Rectangle 41"/>
          <p:cNvSpPr/>
          <p:nvPr/>
        </p:nvSpPr>
        <p:spPr>
          <a:xfrm>
            <a:off x="1828800" y="9875520"/>
            <a:ext cx="128016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828800" y="9875520"/>
            <a:ext cx="128016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GIỚI THIỆU</a:t>
            </a:r>
          </a:p>
        </p:txBody>
      </p:sp>
      <p:sp>
        <p:nvSpPr>
          <p:cNvPr id="44" name="TextBox 43"/>
          <p:cNvSpPr txBox="1"/>
          <p:nvPr/>
        </p:nvSpPr>
        <p:spPr>
          <a:xfrm>
            <a:off x="1828800" y="10607040"/>
            <a:ext cx="12801600" cy="7680960"/>
          </a:xfrm>
          <a:prstGeom prst="rect">
            <a:avLst/>
          </a:prstGeom>
          <a:noFill/>
        </p:spPr>
        <p:txBody>
          <a:bodyPr wrap="square">
            <a:spAutoFit/>
          </a:bodyPr>
          <a:lstStyle/>
          <a:p>
            <a:pPr>
              <a:spcAft>
                <a:spcPts val="800"/>
              </a:spcAft>
              <a:defRPr sz="1600">
                <a:solidFill>
                  <a:srgbClr val="333333"/>
                </a:solidFill>
                <a:latin typeface="Segoe UI"/>
              </a:defRPr>
            </a:pPr>
            <a:r>
              <a:t>Bài toán định tuyến phương tiện có khung thời gian (VRPTW) đóng vai trò then chốt trong chuỗi cung ứng logistics đô thị hiện đại.</a:t>
            </a:r>
          </a:p>
          <a:p>
            <a:pPr>
              <a:lnSpc>
                <a:spcPct val="120000"/>
              </a:lnSpc>
              <a:spcAft>
                <a:spcPts val="800"/>
              </a:spcAft>
            </a:pPr>
            <a:r>
              <a:rPr sz="1500" b="1">
                <a:solidFill>
                  <a:srgbClr val="333333"/>
                </a:solidFill>
                <a:latin typeface="Segoe UI"/>
              </a:rPr>
              <a:t>• Phát biểu bài toán: </a:t>
            </a:r>
            <a:r>
              <a:rPr sz="1500">
                <a:solidFill>
                  <a:srgbClr val="333333"/>
                </a:solidFill>
                <a:latin typeface="Segoe UI"/>
              </a:rPr>
              <a:t>Xác định các tuyến đường tối ưu cho đội xe K xuất phát từ kho (depot) đi phục vụ khách hàng rải rác địa lý với nhu cầu q_i và khoảng khung thời gian phục vụ bắt buộc [E_i, L_i].</a:t>
            </a:r>
          </a:p>
          <a:p>
            <a:pPr>
              <a:lnSpc>
                <a:spcPct val="120000"/>
              </a:lnSpc>
              <a:spcAft>
                <a:spcPts val="800"/>
              </a:spcAft>
            </a:pPr>
            <a:r>
              <a:rPr sz="1500" b="1">
                <a:solidFill>
                  <a:srgbClr val="333333"/>
                </a:solidFill>
                <a:latin typeface="Segoe UI"/>
              </a:rPr>
              <a:t>• Hàm mục tiêu MILP: </a:t>
            </a:r>
            <a:r>
              <a:rPr sz="1500">
                <a:solidFill>
                  <a:srgbClr val="333333"/>
                </a:solidFill>
                <a:latin typeface="Segoe UI"/>
              </a:rPr>
              <a:t>min f(x) = M · ∑_(k,j) x_0jk + ∑_(k,i,j) d_ij · x_ijk. Ưu tiên hàng đầu (hệ số phạt lớn M) là giảm quy mô đội xe vận hành (fleet size), và mục tiêu thứ cấp là giảm quãng đường đi.</a:t>
            </a:r>
          </a:p>
          <a:p>
            <a:pPr>
              <a:lnSpc>
                <a:spcPct val="120000"/>
              </a:lnSpc>
              <a:spcAft>
                <a:spcPts val="800"/>
              </a:spcAft>
            </a:pPr>
            <a:r>
              <a:rPr sz="1500" b="1">
                <a:solidFill>
                  <a:srgbClr val="333333"/>
                </a:solidFill>
                <a:latin typeface="Segoe UI"/>
              </a:rPr>
              <a:t>• Hạn chế ALNS truyền thống: </a:t>
            </a:r>
            <a:r>
              <a:rPr sz="1500">
                <a:solidFill>
                  <a:srgbClr val="333333"/>
                </a:solidFill>
                <a:latin typeface="Segoe UI"/>
              </a:rPr>
              <a:t>Adaptive Large Neighborhood Search (ALNS) dựa trên các quy luật tính toán cứng nhắc để chọn toán tử, dễ mắc kẹt tại các cực trị địa phương và phụ thuộc nặng nề vào các tham số Simulated Annealing thiết lập thủ công.</a:t>
            </a:r>
          </a:p>
          <a:p>
            <a:pPr>
              <a:lnSpc>
                <a:spcPct val="120000"/>
              </a:lnSpc>
              <a:spcAft>
                <a:spcPts val="800"/>
              </a:spcAft>
            </a:pPr>
            <a:r>
              <a:rPr sz="1500" b="1">
                <a:solidFill>
                  <a:srgbClr val="333333"/>
                </a:solidFill>
                <a:latin typeface="Segoe UI"/>
              </a:rPr>
              <a:t>• Giải pháp đề xuất: </a:t>
            </a:r>
            <a:r>
              <a:rPr sz="1500">
                <a:solidFill>
                  <a:srgbClr val="333333"/>
                </a:solidFill>
                <a:latin typeface="Segoe UI"/>
              </a:rPr>
              <a:t>Tích hợp Học tăng cường sâu (DRL) thông qua mô hình Double DQN và quy hoạch nguyên Set Partitioning để điều phối quá trình tìm kiếm thích ứng.</a:t>
            </a:r>
          </a:p>
        </p:txBody>
      </p:sp>
      <p:sp>
        <p:nvSpPr>
          <p:cNvPr id="45" name="Rectangle 44"/>
          <p:cNvSpPr/>
          <p:nvPr/>
        </p:nvSpPr>
        <p:spPr>
          <a:xfrm>
            <a:off x="15645384" y="9875520"/>
            <a:ext cx="128016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5645384" y="9875520"/>
            <a:ext cx="128016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TẬP DỮ LIỆU &amp; THIẾT LẬP THỰC NGHIỆM</a:t>
            </a:r>
          </a:p>
        </p:txBody>
      </p:sp>
      <p:sp>
        <p:nvSpPr>
          <p:cNvPr id="47" name="TextBox 46"/>
          <p:cNvSpPr txBox="1"/>
          <p:nvPr/>
        </p:nvSpPr>
        <p:spPr>
          <a:xfrm>
            <a:off x="15645384" y="10607040"/>
            <a:ext cx="12801600" cy="7680960"/>
          </a:xfrm>
          <a:prstGeom prst="rect">
            <a:avLst/>
          </a:prstGeom>
          <a:noFill/>
        </p:spPr>
        <p:txBody>
          <a:bodyPr wrap="square">
            <a:spAutoFit/>
          </a:bodyPr>
          <a:lstStyle/>
          <a:p>
            <a:pPr>
              <a:spcAft>
                <a:spcPts val="800"/>
              </a:spcAft>
              <a:defRPr sz="1600">
                <a:solidFill>
                  <a:srgbClr val="333333"/>
                </a:solidFill>
                <a:latin typeface="Segoe UI"/>
              </a:defRPr>
            </a:pPr>
            <a:r>
              <a:t>Nghiên cứu sử dụng bộ dữ liệu chuẩn Solomon và thiết lập phần cứng chuyên dụng để đánh giá hiệu năng thuật toán lai.</a:t>
            </a:r>
          </a:p>
          <a:p>
            <a:pPr>
              <a:lnSpc>
                <a:spcPct val="120000"/>
              </a:lnSpc>
              <a:spcAft>
                <a:spcPts val="800"/>
              </a:spcAft>
            </a:pPr>
            <a:r>
              <a:rPr sz="1500" b="1">
                <a:solidFill>
                  <a:srgbClr val="333333"/>
                </a:solidFill>
                <a:latin typeface="Segoe UI"/>
              </a:rPr>
              <a:t>• Tập Solomon chính: </a:t>
            </a:r>
            <a:r>
              <a:rPr sz="1500">
                <a:solidFill>
                  <a:srgbClr val="333333"/>
                </a:solidFill>
                <a:latin typeface="Segoe UI"/>
              </a:rPr>
              <a:t>Đánh giá chi tiết trên các lớp RC1 (khung thời gian ngặt, khách hàng phân bố hỗn hợp giữa cụm và ngẫu nhiên) và RC2 (khung thời gian rộng, sức tải xe lớn). Quy mô thực thể gồm 100 khách hàng.</a:t>
            </a:r>
          </a:p>
          <a:p>
            <a:pPr>
              <a:lnSpc>
                <a:spcPct val="120000"/>
              </a:lnSpc>
              <a:spcAft>
                <a:spcPts val="800"/>
              </a:spcAft>
            </a:pPr>
            <a:r>
              <a:rPr sz="1500" b="1">
                <a:solidFill>
                  <a:srgbClr val="333333"/>
                </a:solidFill>
                <a:latin typeface="Segoe UI"/>
              </a:rPr>
              <a:t>• Ngẫu nhiên hóa miền (Domain Randomization): </a:t>
            </a:r>
            <a:r>
              <a:rPr sz="1500">
                <a:solidFill>
                  <a:srgbClr val="333333"/>
                </a:solidFill>
                <a:latin typeface="Segoe UI"/>
              </a:rPr>
              <a:t>Huấn luyện chính sách DRL trên hệ thống mô phỏng dữ liệu tự động với quy mô từ 25 đến 100 khách hàng và các phân phối khung thời gian ngẫu nhiên để tăng khả năng tổng quát hóa.</a:t>
            </a:r>
          </a:p>
          <a:p>
            <a:pPr>
              <a:lnSpc>
                <a:spcPct val="120000"/>
              </a:lnSpc>
              <a:spcAft>
                <a:spcPts val="800"/>
              </a:spcAft>
            </a:pPr>
            <a:r>
              <a:rPr sz="1500" b="1">
                <a:solidFill>
                  <a:srgbClr val="333333"/>
                </a:solidFill>
                <a:latin typeface="Segoe UI"/>
              </a:rPr>
              <a:t>• Môi trường phần cứng: </a:t>
            </a:r>
            <a:r>
              <a:rPr sz="1500">
                <a:solidFill>
                  <a:srgbClr val="333333"/>
                </a:solidFill>
                <a:latin typeface="Segoe UI"/>
              </a:rPr>
              <a:t>CPU Apple M1 (Apple Silicon, 8 nhân), 16 GB bộ nhớ thống nhất (unified memory).</a:t>
            </a:r>
          </a:p>
          <a:p>
            <a:pPr>
              <a:lnSpc>
                <a:spcPct val="120000"/>
              </a:lnSpc>
              <a:spcAft>
                <a:spcPts val="800"/>
              </a:spcAft>
            </a:pPr>
            <a:r>
              <a:rPr sz="1500" b="1">
                <a:solidFill>
                  <a:srgbClr val="333333"/>
                </a:solidFill>
                <a:latin typeface="Segoe UI"/>
              </a:rPr>
              <a:t>• Môi trường phần mềm: </a:t>
            </a:r>
            <a:r>
              <a:rPr sz="1500">
                <a:solidFill>
                  <a:srgbClr val="333333"/>
                </a:solidFill>
                <a:latin typeface="Segoe UI"/>
              </a:rPr>
              <a:t>Python 3.10, PyTorch 2.1 (CPU-optimized), SciPy 1.11, Numba JIT (tối ưu hóa biên dịch trực tiếp các toán tử hình học và tìm kiếm).</a:t>
            </a:r>
          </a:p>
        </p:txBody>
      </p:sp>
      <p:sp>
        <p:nvSpPr>
          <p:cNvPr id="48" name="Rectangle 47"/>
          <p:cNvSpPr/>
          <p:nvPr/>
        </p:nvSpPr>
        <p:spPr>
          <a:xfrm>
            <a:off x="1828800" y="18653760"/>
            <a:ext cx="26618184"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828800" y="18653760"/>
            <a:ext cx="26618184"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PHƯƠNG PHÁP THỰC HIỆN (KIẾN TRÚC LAI DDQN-ALNS)</a:t>
            </a:r>
          </a:p>
        </p:txBody>
      </p:sp>
      <p:sp>
        <p:nvSpPr>
          <p:cNvPr id="50" name="TextBox 49"/>
          <p:cNvSpPr txBox="1"/>
          <p:nvPr/>
        </p:nvSpPr>
        <p:spPr>
          <a:xfrm>
            <a:off x="182880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Hệ thống lai đề xuất sử dụng kiến trúc điều khiển hai tầng học sâu (Plateau &amp; Operator Controllers) kết hợp tối ưu quy hoạch nguyên:</a:t>
            </a:r>
          </a:p>
          <a:p>
            <a:pPr>
              <a:lnSpc>
                <a:spcPct val="120000"/>
              </a:lnSpc>
              <a:spcAft>
                <a:spcPts val="800"/>
              </a:spcAft>
            </a:pPr>
            <a:r>
              <a:rPr sz="1500" b="1">
                <a:solidFill>
                  <a:srgbClr val="333333"/>
                </a:solidFill>
                <a:latin typeface="Segoe UI"/>
              </a:rPr>
              <a:t>• Plateau Controller (DRL cấp cao): </a:t>
            </a:r>
            <a:r>
              <a:rPr sz="1500">
                <a:solidFill>
                  <a:srgbClr val="333333"/>
                </a:solidFill>
                <a:latin typeface="Segoe UI"/>
              </a:rPr>
              <a:t>Mạng Dueling Double DQN nhận vector trạng thái 12 chiều đặc trưng (tỷ lệ trì trệ, nhiệt độ, áp lực xe...) để chuyển đổi linh hoạt giữa 6 Search Mode (default, intensify, diversify, tw_rescue, pool_recombine, route_reduce).</a:t>
            </a:r>
          </a:p>
          <a:p>
            <a:pPr>
              <a:lnSpc>
                <a:spcPct val="120000"/>
              </a:lnSpc>
              <a:spcAft>
                <a:spcPts val="800"/>
              </a:spcAft>
            </a:pPr>
            <a:r>
              <a:rPr sz="1500" b="1">
                <a:solidFill>
                  <a:srgbClr val="333333"/>
                </a:solidFill>
                <a:latin typeface="Segoe UI"/>
              </a:rPr>
              <a:t>• Operator Controller (DRL cấp thấp): </a:t>
            </a:r>
            <a:r>
              <a:rPr sz="1500">
                <a:solidFill>
                  <a:srgbClr val="333333"/>
                </a:solidFill>
                <a:latin typeface="Segoe UI"/>
              </a:rPr>
              <a:t>Mạng Double DQN thứ hai nhận vector đặc trưng 15 chiều để chọn cặp toán tử tốt nhất từ 40 tổ hợp ALNS có sẵn. Kết hợp cơ chế UCB và Thompson Bandit để tăng cường tính khám phá.</a:t>
            </a:r>
          </a:p>
          <a:p>
            <a:pPr>
              <a:lnSpc>
                <a:spcPct val="120000"/>
              </a:lnSpc>
              <a:spcAft>
                <a:spcPts val="800"/>
              </a:spcAft>
            </a:pPr>
            <a:r>
              <a:rPr sz="1500" b="1">
                <a:solidFill>
                  <a:srgbClr val="333333"/>
                </a:solidFill>
                <a:latin typeface="Segoe UI"/>
              </a:rPr>
              <a:t>• Hàm phần thưởng thế năng: </a:t>
            </a:r>
            <a:r>
              <a:rPr sz="1500">
                <a:solidFill>
                  <a:srgbClr val="333333"/>
                </a:solidFill>
                <a:latin typeface="Segoe UI"/>
              </a:rPr>
              <a:t>Thiết lập cơ chế thế năng thích ứng hướng xe: ưu tiên thưởng lớn cho hành động giảm số lượng phương tiện trước khi tối ưu khoảng cách.</a:t>
            </a:r>
          </a:p>
        </p:txBody>
      </p:sp>
      <p:sp>
        <p:nvSpPr>
          <p:cNvPr id="51" name="TextBox 50"/>
          <p:cNvSpPr txBox="1"/>
          <p:nvPr/>
        </p:nvSpPr>
        <p:spPr>
          <a:xfrm>
            <a:off x="1088136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Sự kết hợp giữa học máy phân loại và quy hoạch toán học MILP giải quyết triệt để các ràng buộc ngặt:</a:t>
            </a:r>
          </a:p>
          <a:p>
            <a:pPr>
              <a:lnSpc>
                <a:spcPct val="120000"/>
              </a:lnSpc>
              <a:spcAft>
                <a:spcPts val="800"/>
              </a:spcAft>
            </a:pPr>
            <a:r>
              <a:rPr sz="1500" b="1">
                <a:solidFill>
                  <a:srgbClr val="333333"/>
                </a:solidFill>
                <a:latin typeface="Segoe UI"/>
              </a:rPr>
              <a:t>• Learned Acceptance Criterion (LAC): </a:t>
            </a:r>
            <a:r>
              <a:rPr sz="1500">
                <a:solidFill>
                  <a:srgbClr val="333333"/>
                </a:solidFill>
                <a:latin typeface="Segoe UI"/>
              </a:rPr>
              <a:t>Mạng phân loại nhị phân 3 lớp thay thế Simulated Annealing. Được huấn luyện trực tuyến bằng thuật toán Weighted BCE và gán nhãn trễ (delayed labeling), giúp dự báo chính xác xác suất chấp nhận giải pháp ứng viên.</a:t>
            </a:r>
          </a:p>
          <a:p>
            <a:pPr>
              <a:lnSpc>
                <a:spcPct val="120000"/>
              </a:lnSpc>
              <a:spcAft>
                <a:spcPts val="800"/>
              </a:spcAft>
            </a:pPr>
            <a:r>
              <a:rPr sz="1500" b="1">
                <a:solidFill>
                  <a:srgbClr val="333333"/>
                </a:solidFill>
                <a:latin typeface="Segoe UI"/>
              </a:rPr>
              <a:t>• Tái tổ hợp Set Partitioning: </a:t>
            </a:r>
            <a:r>
              <a:rPr sz="1500">
                <a:solidFill>
                  <a:srgbClr val="333333"/>
                </a:solidFill>
                <a:latin typeface="Segoe UI"/>
              </a:rPr>
              <a:t>Tất cả các tuyến đường tốt nhất được lưu trữ trong Route Pool. Định kỳ, mô hình giải bài toán phân hoạch tập hợp nguyên số (MILP) qua solver SciPy trong giới hạn 4 giây để lắp ghép giải pháp tối ưu toán học: min ∑ (P_veh + c_j) y_j thỏa mãn ∑ a_ij y_j = 1.</a:t>
            </a:r>
          </a:p>
          <a:p>
            <a:pPr>
              <a:lnSpc>
                <a:spcPct val="120000"/>
              </a:lnSpc>
              <a:spcAft>
                <a:spcPts val="800"/>
              </a:spcAft>
            </a:pPr>
            <a:r>
              <a:rPr sz="1500" b="1">
                <a:solidFill>
                  <a:srgbClr val="333333"/>
                </a:solidFill>
                <a:latin typeface="Segoe UI"/>
              </a:rPr>
              <a:t>• Tìm kiếm cục bộ (Local Search): </a:t>
            </a:r>
            <a:r>
              <a:rPr sz="1500">
                <a:solidFill>
                  <a:srgbClr val="333333"/>
                </a:solidFill>
                <a:latin typeface="Segoe UI"/>
              </a:rPr>
              <a:t>Áp dụng bộ lọc bán kính hạt mịn (granular filter) trên các toán tử 2-opt, Relocate, Swap, và Cross-Exchange nhằm tăng tốc.</a:t>
            </a:r>
          </a:p>
        </p:txBody>
      </p:sp>
      <p:sp>
        <p:nvSpPr>
          <p:cNvPr id="52" name="TextBox 51"/>
          <p:cNvSpPr txBox="1"/>
          <p:nvPr/>
        </p:nvSpPr>
        <p:spPr>
          <a:xfrm>
            <a:off x="19933920" y="19385280"/>
            <a:ext cx="8412480" cy="10424160"/>
          </a:xfrm>
          <a:prstGeom prst="rect">
            <a:avLst/>
          </a:prstGeom>
          <a:noFill/>
        </p:spPr>
        <p:txBody>
          <a:bodyPr wrap="square">
            <a:spAutoFit/>
          </a:bodyPr>
          <a:lstStyle/>
          <a:p>
            <a:pPr>
              <a:spcAft>
                <a:spcPts val="1000"/>
              </a:spcAft>
              <a:defRPr sz="1500" b="1">
                <a:solidFill>
                  <a:srgbClr val="0C1E5A"/>
                </a:solidFill>
                <a:latin typeface="Segoe UI"/>
              </a:defRPr>
            </a:pPr>
            <a:r>
              <a:t>Các toán tử chuyên biệt được phát triển để xử lý ràng buộc khung thời gian và số xe:</a:t>
            </a:r>
          </a:p>
          <a:p>
            <a:pPr>
              <a:lnSpc>
                <a:spcPct val="120000"/>
              </a:lnSpc>
              <a:spcAft>
                <a:spcPts val="800"/>
              </a:spcAft>
            </a:pPr>
            <a:r>
              <a:rPr sz="1500" b="1">
                <a:solidFill>
                  <a:srgbClr val="333333"/>
                </a:solidFill>
                <a:latin typeface="Segoe UI"/>
              </a:rPr>
              <a:t>• 8 Toán tử phá hủy: </a:t>
            </a:r>
            <a:r>
              <a:rPr sz="1500">
                <a:solidFill>
                  <a:srgbClr val="333333"/>
                </a:solidFill>
                <a:latin typeface="Segoe UI"/>
              </a:rPr>
              <a:t>Bao gồm phá hủy ngẫu nhiên, tệ nhất, tương đồng Shaw (địa lý, thời gian, tải trọng), một phần tuyến, khẩn cấp khung thời gian (tw_urgent), xóa tuyến toàn phần (route_eliminate), xóa tuyến phân tán, và Shaw liên tuyến.</a:t>
            </a:r>
          </a:p>
          <a:p>
            <a:pPr>
              <a:lnSpc>
                <a:spcPct val="120000"/>
              </a:lnSpc>
              <a:spcAft>
                <a:spcPts val="800"/>
              </a:spcAft>
            </a:pPr>
            <a:r>
              <a:rPr sz="1500" b="1">
                <a:solidFill>
                  <a:srgbClr val="333333"/>
                </a:solidFill>
                <a:latin typeface="Segoe UI"/>
              </a:rPr>
              <a:t>• 5 Toán tử sửa chữa: </a:t>
            </a:r>
            <a:r>
              <a:rPr sz="1500">
                <a:solidFill>
                  <a:srgbClr val="333333"/>
                </a:solidFill>
                <a:latin typeface="Segoe UI"/>
              </a:rPr>
              <a:t>Bao gồm chèn tham lan, regret-2, regret-3, tham lam ưu tiên thời gian, và đặc biệt là toán tử **FTS greedy** chèn khách hàng dựa trên việc cực tiểu hóa Composite Cost và bảo toàn Forward Time Slack (thời gian đệm còn lại của các khách hàng phía sau tuyến).</a:t>
            </a:r>
          </a:p>
          <a:p>
            <a:pPr>
              <a:lnSpc>
                <a:spcPct val="120000"/>
              </a:lnSpc>
              <a:spcAft>
                <a:spcPts val="800"/>
              </a:spcAft>
            </a:pPr>
            <a:r>
              <a:rPr sz="1500" b="1">
                <a:solidFill>
                  <a:srgbClr val="333333"/>
                </a:solidFill>
                <a:latin typeface="Segoe UI"/>
              </a:rPr>
              <a:t>• Giảm xe chủ động: </a:t>
            </a:r>
            <a:r>
              <a:rPr sz="1500">
                <a:solidFill>
                  <a:srgbClr val="333333"/>
                </a:solidFill>
                <a:latin typeface="Segoe UI"/>
              </a:rPr>
              <a:t>Giải thuật loại bỏ tuyến nhỏ nhất và phân phối các khách hàng trên đó vào các tuyến khác khả thi, trực tiếp hạ số xe vận hành.</a:t>
            </a:r>
          </a:p>
        </p:txBody>
      </p:sp>
      <p:sp>
        <p:nvSpPr>
          <p:cNvPr id="53" name="Rectangle 52"/>
          <p:cNvSpPr/>
          <p:nvPr/>
        </p:nvSpPr>
        <p:spPr>
          <a:xfrm>
            <a:off x="1828800" y="30175200"/>
            <a:ext cx="16916400"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828800" y="30175200"/>
            <a:ext cx="16916400"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KẾT QUẢ THỰC NGHIỆM &amp; PHÂN TÍCH</a:t>
            </a:r>
          </a:p>
        </p:txBody>
      </p:sp>
      <p:graphicFrame>
        <p:nvGraphicFramePr>
          <p:cNvPr id="55" name="Table 54"/>
          <p:cNvGraphicFramePr>
            <a:graphicFrameLocks noGrp="1"/>
          </p:cNvGraphicFramePr>
          <p:nvPr/>
        </p:nvGraphicFramePr>
        <p:xfrm>
          <a:off x="1828800" y="30906720"/>
          <a:ext cx="16916400" cy="4114800"/>
        </p:xfrm>
        <a:graphic>
          <a:graphicData uri="http://schemas.openxmlformats.org/drawingml/2006/table">
            <a:tbl>
              <a:tblPr firstRow="1" bandRow="1">
                <a:tableStyleId>{5C22544A-7EE6-4342-B048-85BDC9FD1C3A}</a:tableStyleId>
              </a:tblPr>
              <a:tblGrid>
                <a:gridCol w="1645920"/>
                <a:gridCol w="3840480"/>
                <a:gridCol w="2926080"/>
                <a:gridCol w="3017520"/>
                <a:gridCol w="2743200"/>
                <a:gridCol w="2743200"/>
              </a:tblGrid>
              <a:tr h="374072">
                <a:tc>
                  <a:txBody>
                    <a:bodyPr/>
                    <a:lstStyle/>
                    <a:p>
                      <a:pPr algn="ctr">
                        <a:defRPr sz="1300" b="1">
                          <a:solidFill>
                            <a:srgbClr val="FFFFFF"/>
                          </a:solidFill>
                          <a:latin typeface="Segoe UI"/>
                        </a:defRPr>
                      </a:pPr>
                      <a:r>
                        <a:t>Lớp dữ liệu</a:t>
                      </a:r>
                    </a:p>
                  </a:txBody>
                  <a:tcPr>
                    <a:solidFill>
                      <a:srgbClr val="2A164B"/>
                    </a:solidFill>
                  </a:tcPr>
                </a:tc>
                <a:tc>
                  <a:txBody>
                    <a:bodyPr/>
                    <a:lstStyle/>
                    <a:p>
                      <a:pPr algn="ctr">
                        <a:defRPr sz="1300" b="1">
                          <a:solidFill>
                            <a:srgbClr val="FFFFFF"/>
                          </a:solidFill>
                          <a:latin typeface="Segoe UI"/>
                        </a:defRPr>
                      </a:pPr>
                      <a:r>
                        <a:t>Thuật toán</a:t>
                      </a:r>
                    </a:p>
                  </a:txBody>
                  <a:tcPr>
                    <a:solidFill>
                      <a:srgbClr val="2A164B"/>
                    </a:solidFill>
                  </a:tcPr>
                </a:tc>
                <a:tc>
                  <a:txBody>
                    <a:bodyPr/>
                    <a:lstStyle/>
                    <a:p>
                      <a:pPr algn="ctr">
                        <a:defRPr sz="1300" b="1">
                          <a:solidFill>
                            <a:srgbClr val="FFFFFF"/>
                          </a:solidFill>
                          <a:latin typeface="Segoe UI"/>
                        </a:defRPr>
                      </a:pPr>
                      <a:r>
                        <a:t>Số xe trung bình (NV)</a:t>
                      </a:r>
                    </a:p>
                  </a:txBody>
                  <a:tcPr>
                    <a:solidFill>
                      <a:srgbClr val="2A164B"/>
                    </a:solidFill>
                  </a:tcPr>
                </a:tc>
                <a:tc>
                  <a:txBody>
                    <a:bodyPr/>
                    <a:lstStyle/>
                    <a:p>
                      <a:pPr algn="ctr">
                        <a:defRPr sz="1300" b="1">
                          <a:solidFill>
                            <a:srgbClr val="FFFFFF"/>
                          </a:solidFill>
                          <a:latin typeface="Segoe UI"/>
                        </a:defRPr>
                      </a:pPr>
                      <a:r>
                        <a:t>Quãng đường trung bình</a:t>
                      </a:r>
                    </a:p>
                  </a:txBody>
                  <a:tcPr>
                    <a:solidFill>
                      <a:srgbClr val="2A164B"/>
                    </a:solidFill>
                  </a:tcPr>
                </a:tc>
                <a:tc>
                  <a:txBody>
                    <a:bodyPr/>
                    <a:lstStyle/>
                    <a:p>
                      <a:pPr algn="ctr">
                        <a:defRPr sz="1300" b="1">
                          <a:solidFill>
                            <a:srgbClr val="FFFFFF"/>
                          </a:solidFill>
                          <a:latin typeface="Segoe UI"/>
                        </a:defRPr>
                      </a:pPr>
                      <a:r>
                        <a:t>Độ lệch Gap%</a:t>
                      </a:r>
                    </a:p>
                  </a:txBody>
                  <a:tcPr>
                    <a:solidFill>
                      <a:srgbClr val="2A164B"/>
                    </a:solidFill>
                  </a:tcPr>
                </a:tc>
                <a:tc>
                  <a:txBody>
                    <a:bodyPr/>
                    <a:lstStyle/>
                    <a:p>
                      <a:pPr algn="ctr">
                        <a:defRPr sz="1300" b="1">
                          <a:solidFill>
                            <a:srgbClr val="FFFFFF"/>
                          </a:solidFill>
                          <a:latin typeface="Segoe UI"/>
                        </a:defRPr>
                      </a:pPr>
                      <a:r>
                        <a:t>Thời gian chạy</a:t>
                      </a:r>
                    </a:p>
                  </a:txBody>
                  <a:tcPr>
                    <a:solidFill>
                      <a:srgbClr val="2A164B"/>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ALNS-Base</a:t>
                      </a:r>
                    </a:p>
                  </a:txBody>
                  <a:tcPr>
                    <a:solidFill>
                      <a:srgbClr val="FFFFFF"/>
                    </a:solidFill>
                  </a:tcPr>
                </a:tc>
                <a:tc>
                  <a:txBody>
                    <a:bodyPr/>
                    <a:lstStyle/>
                    <a:p>
                      <a:pPr algn="ctr">
                        <a:defRPr sz="1200">
                          <a:solidFill>
                            <a:srgbClr val="333333"/>
                          </a:solidFill>
                          <a:latin typeface="Segoe UI"/>
                        </a:defRPr>
                      </a:pPr>
                      <a:r>
                        <a:t>12.575</a:t>
                      </a:r>
                    </a:p>
                  </a:txBody>
                  <a:tcPr>
                    <a:solidFill>
                      <a:srgbClr val="FFFFFF"/>
                    </a:solidFill>
                  </a:tcPr>
                </a:tc>
                <a:tc>
                  <a:txBody>
                    <a:bodyPr/>
                    <a:lstStyle/>
                    <a:p>
                      <a:pPr algn="ctr">
                        <a:defRPr sz="1200">
                          <a:solidFill>
                            <a:srgbClr val="333333"/>
                          </a:solidFill>
                          <a:latin typeface="Segoe UI"/>
                        </a:defRPr>
                      </a:pPr>
                      <a:r>
                        <a:t>1327.91</a:t>
                      </a:r>
                    </a:p>
                  </a:txBody>
                  <a:tcPr>
                    <a:solidFill>
                      <a:srgbClr val="FFFFFF"/>
                    </a:solidFill>
                  </a:tcPr>
                </a:tc>
                <a:tc>
                  <a:txBody>
                    <a:bodyPr/>
                    <a:lstStyle/>
                    <a:p>
                      <a:pPr algn="ctr">
                        <a:defRPr sz="1200">
                          <a:solidFill>
                            <a:srgbClr val="333333"/>
                          </a:solidFill>
                          <a:latin typeface="Segoe UI"/>
                        </a:defRPr>
                      </a:pPr>
                      <a:r>
                        <a:t>+1.909%</a:t>
                      </a:r>
                    </a:p>
                  </a:txBody>
                  <a:tcPr>
                    <a:solidFill>
                      <a:srgbClr val="FFFFFF"/>
                    </a:solidFill>
                  </a:tcPr>
                </a:tc>
                <a:tc>
                  <a:txBody>
                    <a:bodyPr/>
                    <a:lstStyle/>
                    <a:p>
                      <a:pPr algn="ctr">
                        <a:defRPr sz="1200">
                          <a:solidFill>
                            <a:srgbClr val="333333"/>
                          </a:solidFill>
                          <a:latin typeface="Segoe UI"/>
                        </a:defRPr>
                      </a:pPr>
                      <a:r>
                        <a:t>19.2s</a:t>
                      </a:r>
                    </a:p>
                  </a:txBody>
                  <a:tcPr>
                    <a:solidFill>
                      <a:srgbClr val="FFFFFF"/>
                    </a:solidFill>
                  </a:tcPr>
                </a:tc>
              </a:tr>
              <a:tr h="374072">
                <a:tc>
                  <a:txBody>
                    <a:bodyPr/>
                    <a:lstStyle/>
                    <a:p>
                      <a:pPr algn="ctr">
                        <a:defRPr sz="1200">
                          <a:solidFill>
                            <a:srgbClr val="333333"/>
                          </a:solidFill>
                          <a:latin typeface="Segoe UI"/>
                        </a:defRPr>
                      </a:pPr>
                      <a:r>
                        <a:t>RC1</a:t>
                      </a:r>
                    </a:p>
                  </a:txBody>
                  <a:tcPr>
                    <a:solidFill>
                      <a:srgbClr val="F5F5FA"/>
                    </a:solidFill>
                  </a:tcPr>
                </a:tc>
                <a:tc>
                  <a:txBody>
                    <a:bodyPr/>
                    <a:lstStyle/>
                    <a:p>
                      <a:pPr algn="ctr">
                        <a:defRPr sz="1200">
                          <a:solidFill>
                            <a:srgbClr val="333333"/>
                          </a:solidFill>
                          <a:latin typeface="Segoe UI"/>
                        </a:defRPr>
                      </a:pPr>
                      <a:r>
                        <a:t>Hybrid-Fixed</a:t>
                      </a:r>
                    </a:p>
                  </a:txBody>
                  <a:tcPr>
                    <a:solidFill>
                      <a:srgbClr val="F5F5FA"/>
                    </a:solidFill>
                  </a:tcPr>
                </a:tc>
                <a:tc>
                  <a:txBody>
                    <a:bodyPr/>
                    <a:lstStyle/>
                    <a:p>
                      <a:pPr algn="ctr">
                        <a:defRPr sz="1200">
                          <a:solidFill>
                            <a:srgbClr val="333333"/>
                          </a:solidFill>
                          <a:latin typeface="Segoe UI"/>
                        </a:defRPr>
                      </a:pPr>
                      <a:r>
                        <a:t>12.300</a:t>
                      </a:r>
                    </a:p>
                  </a:txBody>
                  <a:tcPr>
                    <a:solidFill>
                      <a:srgbClr val="F5F5FA"/>
                    </a:solidFill>
                  </a:tcPr>
                </a:tc>
                <a:tc>
                  <a:txBody>
                    <a:bodyPr/>
                    <a:lstStyle/>
                    <a:p>
                      <a:pPr algn="ctr">
                        <a:defRPr sz="1200">
                          <a:solidFill>
                            <a:srgbClr val="333333"/>
                          </a:solidFill>
                          <a:latin typeface="Segoe UI"/>
                        </a:defRPr>
                      </a:pPr>
                      <a:r>
                        <a:t>1302.48</a:t>
                      </a:r>
                    </a:p>
                  </a:txBody>
                  <a:tcPr>
                    <a:solidFill>
                      <a:srgbClr val="F5F5FA"/>
                    </a:solidFill>
                  </a:tcPr>
                </a:tc>
                <a:tc>
                  <a:txBody>
                    <a:bodyPr/>
                    <a:lstStyle/>
                    <a:p>
                      <a:pPr algn="ctr">
                        <a:defRPr sz="1200">
                          <a:solidFill>
                            <a:srgbClr val="333333"/>
                          </a:solidFill>
                          <a:latin typeface="Segoe UI"/>
                        </a:defRPr>
                      </a:pPr>
                      <a:r>
                        <a:t>-0.055%</a:t>
                      </a:r>
                    </a:p>
                  </a:txBody>
                  <a:tcPr>
                    <a:solidFill>
                      <a:srgbClr val="F5F5FA"/>
                    </a:solidFill>
                  </a:tcPr>
                </a:tc>
                <a:tc>
                  <a:txBody>
                    <a:bodyPr/>
                    <a:lstStyle/>
                    <a:p>
                      <a:pPr algn="ctr">
                        <a:defRPr sz="1200">
                          <a:solidFill>
                            <a:srgbClr val="333333"/>
                          </a:solidFill>
                          <a:latin typeface="Segoe UI"/>
                        </a:defRPr>
                      </a:pPr>
                      <a:r>
                        <a:t>36.7s</a:t>
                      </a:r>
                    </a:p>
                  </a:txBody>
                  <a:tcPr>
                    <a:solidFill>
                      <a:srgbClr val="F5F5FA"/>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Hybrid-Rule</a:t>
                      </a:r>
                    </a:p>
                  </a:txBody>
                  <a:tcPr>
                    <a:solidFill>
                      <a:srgbClr val="FFFFFF"/>
                    </a:solidFill>
                  </a:tcPr>
                </a:tc>
                <a:tc>
                  <a:txBody>
                    <a:bodyPr/>
                    <a:lstStyle/>
                    <a:p>
                      <a:pPr algn="ctr">
                        <a:defRPr sz="1200">
                          <a:solidFill>
                            <a:srgbClr val="333333"/>
                          </a:solidFill>
                          <a:latin typeface="Segoe UI"/>
                        </a:defRPr>
                      </a:pPr>
                      <a:r>
                        <a:t>12.250</a:t>
                      </a:r>
                    </a:p>
                  </a:txBody>
                  <a:tcPr>
                    <a:solidFill>
                      <a:srgbClr val="FFFFFF"/>
                    </a:solidFill>
                  </a:tcPr>
                </a:tc>
                <a:tc>
                  <a:txBody>
                    <a:bodyPr/>
                    <a:lstStyle/>
                    <a:p>
                      <a:pPr algn="ctr">
                        <a:defRPr sz="1200">
                          <a:solidFill>
                            <a:srgbClr val="333333"/>
                          </a:solidFill>
                          <a:latin typeface="Segoe UI"/>
                        </a:defRPr>
                      </a:pPr>
                      <a:r>
                        <a:t>1298.41</a:t>
                      </a:r>
                    </a:p>
                  </a:txBody>
                  <a:tcPr>
                    <a:solidFill>
                      <a:srgbClr val="FFFFFF"/>
                    </a:solidFill>
                  </a:tcPr>
                </a:tc>
                <a:tc>
                  <a:txBody>
                    <a:bodyPr/>
                    <a:lstStyle/>
                    <a:p>
                      <a:pPr algn="ctr">
                        <a:defRPr sz="1200">
                          <a:solidFill>
                            <a:srgbClr val="333333"/>
                          </a:solidFill>
                          <a:latin typeface="Segoe UI"/>
                        </a:defRPr>
                      </a:pPr>
                      <a:r>
                        <a:t>-0.368%</a:t>
                      </a:r>
                    </a:p>
                  </a:txBody>
                  <a:tcPr>
                    <a:solidFill>
                      <a:srgbClr val="FFFFFF"/>
                    </a:solidFill>
                  </a:tcPr>
                </a:tc>
                <a:tc>
                  <a:txBody>
                    <a:bodyPr/>
                    <a:lstStyle/>
                    <a:p>
                      <a:pPr algn="ctr">
                        <a:defRPr sz="1200">
                          <a:solidFill>
                            <a:srgbClr val="333333"/>
                          </a:solidFill>
                          <a:latin typeface="Segoe UI"/>
                        </a:defRPr>
                      </a:pPr>
                      <a:r>
                        <a:t>36.6s</a:t>
                      </a:r>
                    </a:p>
                  </a:txBody>
                  <a:tcPr>
                    <a:solidFill>
                      <a:srgbClr val="FFFFFF"/>
                    </a:solidFill>
                  </a:tcPr>
                </a:tc>
              </a:tr>
              <a:tr h="374072">
                <a:tc>
                  <a:txBody>
                    <a:bodyPr/>
                    <a:lstStyle/>
                    <a:p>
                      <a:pPr algn="ctr">
                        <a:defRPr sz="1200" b="1">
                          <a:solidFill>
                            <a:srgbClr val="0C1E96"/>
                          </a:solidFill>
                          <a:latin typeface="Segoe UI"/>
                        </a:defRPr>
                      </a:pPr>
                      <a:r>
                        <a:t>RC1</a:t>
                      </a:r>
                    </a:p>
                  </a:txBody>
                  <a:tcPr>
                    <a:solidFill>
                      <a:srgbClr val="F5F5FA"/>
                    </a:solidFill>
                  </a:tcPr>
                </a:tc>
                <a:tc>
                  <a:txBody>
                    <a:bodyPr/>
                    <a:lstStyle/>
                    <a:p>
                      <a:pPr algn="ctr">
                        <a:defRPr sz="1200" b="1">
                          <a:solidFill>
                            <a:srgbClr val="0C1E96"/>
                          </a:solidFill>
                          <a:latin typeface="Segoe UI"/>
                        </a:defRPr>
                      </a:pPr>
                      <a:r>
                        <a:t>Hybrid-DDQN (Đề xuất)</a:t>
                      </a:r>
                    </a:p>
                  </a:txBody>
                  <a:tcPr>
                    <a:solidFill>
                      <a:srgbClr val="FEF3D6"/>
                    </a:solidFill>
                  </a:tcPr>
                </a:tc>
                <a:tc>
                  <a:txBody>
                    <a:bodyPr/>
                    <a:lstStyle/>
                    <a:p>
                      <a:pPr algn="ctr">
                        <a:defRPr sz="1200" b="1">
                          <a:solidFill>
                            <a:srgbClr val="0C1E96"/>
                          </a:solidFill>
                          <a:latin typeface="Segoe UI"/>
                        </a:defRPr>
                      </a:pPr>
                      <a:r>
                        <a:t>12.350</a:t>
                      </a:r>
                    </a:p>
                  </a:txBody>
                  <a:tcPr>
                    <a:solidFill>
                      <a:srgbClr val="F5F5FA"/>
                    </a:solidFill>
                  </a:tcPr>
                </a:tc>
                <a:tc>
                  <a:txBody>
                    <a:bodyPr/>
                    <a:lstStyle/>
                    <a:p>
                      <a:pPr algn="ctr">
                        <a:defRPr sz="1200" b="1">
                          <a:solidFill>
                            <a:srgbClr val="0C1E96"/>
                          </a:solidFill>
                          <a:latin typeface="Segoe UI"/>
                        </a:defRPr>
                      </a:pPr>
                      <a:r>
                        <a:t>1298.54</a:t>
                      </a:r>
                    </a:p>
                  </a:txBody>
                  <a:tcPr>
                    <a:solidFill>
                      <a:srgbClr val="F5F5FA"/>
                    </a:solidFill>
                  </a:tcPr>
                </a:tc>
                <a:tc>
                  <a:txBody>
                    <a:bodyPr/>
                    <a:lstStyle/>
                    <a:p>
                      <a:pPr algn="ctr">
                        <a:defRPr sz="1200" b="1">
                          <a:solidFill>
                            <a:srgbClr val="0C1E96"/>
                          </a:solidFill>
                          <a:latin typeface="Segoe UI"/>
                        </a:defRPr>
                      </a:pPr>
                      <a:r>
                        <a:t>-0.358%</a:t>
                      </a:r>
                    </a:p>
                  </a:txBody>
                  <a:tcPr>
                    <a:solidFill>
                      <a:srgbClr val="F5F5FA"/>
                    </a:solidFill>
                  </a:tcPr>
                </a:tc>
                <a:tc>
                  <a:txBody>
                    <a:bodyPr/>
                    <a:lstStyle/>
                    <a:p>
                      <a:pPr algn="ctr">
                        <a:defRPr sz="1200" b="1">
                          <a:solidFill>
                            <a:srgbClr val="0C1E96"/>
                          </a:solidFill>
                          <a:latin typeface="Segoe UI"/>
                        </a:defRPr>
                      </a:pPr>
                      <a:r>
                        <a:t>40.3s</a:t>
                      </a:r>
                    </a:p>
                  </a:txBody>
                  <a:tcPr>
                    <a:solidFill>
                      <a:srgbClr val="F5F5FA"/>
                    </a:solidFill>
                  </a:tcPr>
                </a:tc>
              </a:tr>
              <a:tr h="374072">
                <a:tc>
                  <a:txBody>
                    <a:bodyPr/>
                    <a:lstStyle/>
                    <a:p>
                      <a:pPr algn="ctr">
                        <a:defRPr sz="1200">
                          <a:solidFill>
                            <a:srgbClr val="333333"/>
                          </a:solidFill>
                          <a:latin typeface="Segoe UI"/>
                        </a:defRPr>
                      </a:pPr>
                      <a:r>
                        <a:t>RC1</a:t>
                      </a:r>
                    </a:p>
                  </a:txBody>
                  <a:tcPr>
                    <a:solidFill>
                      <a:srgbClr val="FFFFFF"/>
                    </a:solidFill>
                  </a:tcPr>
                </a:tc>
                <a:tc>
                  <a:txBody>
                    <a:bodyPr/>
                    <a:lstStyle/>
                    <a:p>
                      <a:pPr algn="ctr">
                        <a:defRPr sz="1200">
                          <a:solidFill>
                            <a:srgbClr val="333333"/>
                          </a:solidFill>
                          <a:latin typeface="Segoe UI"/>
                        </a:defRPr>
                      </a:pPr>
                      <a:r>
                        <a:t>OR-Tools (CP-SAT)</a:t>
                      </a:r>
                    </a:p>
                  </a:txBody>
                  <a:tcPr>
                    <a:solidFill>
                      <a:srgbClr val="FFFFFF"/>
                    </a:solidFill>
                  </a:tcPr>
                </a:tc>
                <a:tc>
                  <a:txBody>
                    <a:bodyPr/>
                    <a:lstStyle/>
                    <a:p>
                      <a:pPr algn="ctr">
                        <a:defRPr sz="1200">
                          <a:solidFill>
                            <a:srgbClr val="333333"/>
                          </a:solidFill>
                          <a:latin typeface="Segoe UI"/>
                        </a:defRPr>
                      </a:pPr>
                      <a:r>
                        <a:t>13.625</a:t>
                      </a:r>
                    </a:p>
                  </a:txBody>
                  <a:tcPr>
                    <a:solidFill>
                      <a:srgbClr val="FFFFFF"/>
                    </a:solidFill>
                  </a:tcPr>
                </a:tc>
                <a:tc>
                  <a:txBody>
                    <a:bodyPr/>
                    <a:lstStyle/>
                    <a:p>
                      <a:pPr algn="ctr">
                        <a:defRPr sz="1200">
                          <a:solidFill>
                            <a:srgbClr val="333333"/>
                          </a:solidFill>
                          <a:latin typeface="Segoe UI"/>
                        </a:defRPr>
                      </a:pPr>
                      <a:r>
                        <a:t>1343.35</a:t>
                      </a:r>
                    </a:p>
                  </a:txBody>
                  <a:tcPr>
                    <a:solidFill>
                      <a:srgbClr val="FFFFFF"/>
                    </a:solidFill>
                  </a:tcPr>
                </a:tc>
                <a:tc>
                  <a:txBody>
                    <a:bodyPr/>
                    <a:lstStyle/>
                    <a:p>
                      <a:pPr algn="ctr">
                        <a:defRPr sz="1200">
                          <a:solidFill>
                            <a:srgbClr val="333333"/>
                          </a:solidFill>
                          <a:latin typeface="Segoe UI"/>
                        </a:defRPr>
                      </a:pPr>
                      <a:r>
                        <a:t>+3.088%</a:t>
                      </a:r>
                    </a:p>
                  </a:txBody>
                  <a:tcPr>
                    <a:solidFill>
                      <a:srgbClr val="FFFFFF"/>
                    </a:solidFill>
                  </a:tcPr>
                </a:tc>
                <a:tc>
                  <a:txBody>
                    <a:bodyPr/>
                    <a:lstStyle/>
                    <a:p>
                      <a:pPr algn="ctr">
                        <a:defRPr sz="1200">
                          <a:solidFill>
                            <a:srgbClr val="333333"/>
                          </a:solidFill>
                          <a:latin typeface="Segoe UI"/>
                        </a:defRPr>
                      </a:pPr>
                      <a:r>
                        <a:t>60.1s</a:t>
                      </a:r>
                    </a:p>
                  </a:txBody>
                  <a:tcPr>
                    <a:solidFill>
                      <a:srgbClr val="FFFFFF"/>
                    </a:solidFill>
                  </a:tcPr>
                </a:tc>
              </a:tr>
              <a:tr h="374072">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ALNS-Base</a:t>
                      </a:r>
                    </a:p>
                  </a:txBody>
                  <a:tcPr>
                    <a:solidFill>
                      <a:srgbClr val="F5F5FA"/>
                    </a:solidFill>
                  </a:tcPr>
                </a:tc>
                <a:tc>
                  <a:txBody>
                    <a:bodyPr/>
                    <a:lstStyle/>
                    <a:p>
                      <a:pPr algn="ctr">
                        <a:defRPr sz="1200">
                          <a:solidFill>
                            <a:srgbClr val="333333"/>
                          </a:solidFill>
                          <a:latin typeface="Segoe UI"/>
                        </a:defRPr>
                      </a:pPr>
                      <a:r>
                        <a:t>3.500</a:t>
                      </a:r>
                    </a:p>
                  </a:txBody>
                  <a:tcPr>
                    <a:solidFill>
                      <a:srgbClr val="F5F5FA"/>
                    </a:solidFill>
                  </a:tcPr>
                </a:tc>
                <a:tc>
                  <a:txBody>
                    <a:bodyPr/>
                    <a:lstStyle/>
                    <a:p>
                      <a:pPr algn="ctr">
                        <a:defRPr sz="1200">
                          <a:solidFill>
                            <a:srgbClr val="333333"/>
                          </a:solidFill>
                          <a:latin typeface="Segoe UI"/>
                        </a:defRPr>
                      </a:pPr>
                      <a:r>
                        <a:t>1146.51</a:t>
                      </a:r>
                    </a:p>
                  </a:txBody>
                  <a:tcPr>
                    <a:solidFill>
                      <a:srgbClr val="F5F5FA"/>
                    </a:solidFill>
                  </a:tcPr>
                </a:tc>
                <a:tc>
                  <a:txBody>
                    <a:bodyPr/>
                    <a:lstStyle/>
                    <a:p>
                      <a:pPr algn="ctr">
                        <a:defRPr sz="1200">
                          <a:solidFill>
                            <a:srgbClr val="333333"/>
                          </a:solidFill>
                          <a:latin typeface="Segoe UI"/>
                        </a:defRPr>
                      </a:pPr>
                      <a:r>
                        <a:t>+2.774%</a:t>
                      </a:r>
                    </a:p>
                  </a:txBody>
                  <a:tcPr>
                    <a:solidFill>
                      <a:srgbClr val="F5F5FA"/>
                    </a:solidFill>
                  </a:tcPr>
                </a:tc>
                <a:tc>
                  <a:txBody>
                    <a:bodyPr/>
                    <a:lstStyle/>
                    <a:p>
                      <a:pPr algn="ctr">
                        <a:defRPr sz="1200">
                          <a:solidFill>
                            <a:srgbClr val="333333"/>
                          </a:solidFill>
                          <a:latin typeface="Segoe UI"/>
                        </a:defRPr>
                      </a:pPr>
                      <a:r>
                        <a:t>19.2s</a:t>
                      </a:r>
                    </a:p>
                  </a:txBody>
                  <a:tcPr>
                    <a:solidFill>
                      <a:srgbClr val="F5F5FA"/>
                    </a:solidFill>
                  </a:tcPr>
                </a:tc>
              </a:tr>
              <a:tr h="374072">
                <a:tc>
                  <a:txBody>
                    <a:bodyPr/>
                    <a:lstStyle/>
                    <a:p>
                      <a:pPr algn="ctr">
                        <a:defRPr sz="1200">
                          <a:solidFill>
                            <a:srgbClr val="333333"/>
                          </a:solidFill>
                          <a:latin typeface="Segoe UI"/>
                        </a:defRPr>
                      </a:pPr>
                      <a:r>
                        <a:t>RC2</a:t>
                      </a:r>
                    </a:p>
                  </a:txBody>
                  <a:tcPr>
                    <a:solidFill>
                      <a:srgbClr val="FFFFFF"/>
                    </a:solidFill>
                  </a:tcPr>
                </a:tc>
                <a:tc>
                  <a:txBody>
                    <a:bodyPr/>
                    <a:lstStyle/>
                    <a:p>
                      <a:pPr algn="ctr">
                        <a:defRPr sz="1200">
                          <a:solidFill>
                            <a:srgbClr val="333333"/>
                          </a:solidFill>
                          <a:latin typeface="Segoe UI"/>
                        </a:defRPr>
                      </a:pPr>
                      <a:r>
                        <a:t>Hybrid-Fixed</a:t>
                      </a:r>
                    </a:p>
                  </a:txBody>
                  <a:tcPr>
                    <a:solidFill>
                      <a:srgbClr val="FFFFFF"/>
                    </a:solidFill>
                  </a:tcPr>
                </a:tc>
                <a:tc>
                  <a:txBody>
                    <a:bodyPr/>
                    <a:lstStyle/>
                    <a:p>
                      <a:pPr algn="ctr">
                        <a:defRPr sz="1200">
                          <a:solidFill>
                            <a:srgbClr val="333333"/>
                          </a:solidFill>
                          <a:latin typeface="Segoe UI"/>
                        </a:defRPr>
                      </a:pPr>
                      <a:r>
                        <a:t>3.400</a:t>
                      </a:r>
                    </a:p>
                  </a:txBody>
                  <a:tcPr>
                    <a:solidFill>
                      <a:srgbClr val="FFFFFF"/>
                    </a:solidFill>
                  </a:tcPr>
                </a:tc>
                <a:tc>
                  <a:txBody>
                    <a:bodyPr/>
                    <a:lstStyle/>
                    <a:p>
                      <a:pPr algn="ctr">
                        <a:defRPr sz="1200">
                          <a:solidFill>
                            <a:srgbClr val="333333"/>
                          </a:solidFill>
                          <a:latin typeface="Segoe UI"/>
                        </a:defRPr>
                      </a:pPr>
                      <a:r>
                        <a:t>1131.42</a:t>
                      </a:r>
                    </a:p>
                  </a:txBody>
                  <a:tcPr>
                    <a:solidFill>
                      <a:srgbClr val="FFFFFF"/>
                    </a:solidFill>
                  </a:tcPr>
                </a:tc>
                <a:tc>
                  <a:txBody>
                    <a:bodyPr/>
                    <a:lstStyle/>
                    <a:p>
                      <a:pPr algn="ctr">
                        <a:defRPr sz="1200">
                          <a:solidFill>
                            <a:srgbClr val="333333"/>
                          </a:solidFill>
                          <a:latin typeface="Segoe UI"/>
                        </a:defRPr>
                      </a:pPr>
                      <a:r>
                        <a:t>+1.425%</a:t>
                      </a:r>
                    </a:p>
                  </a:txBody>
                  <a:tcPr>
                    <a:solidFill>
                      <a:srgbClr val="FFFFFF"/>
                    </a:solidFill>
                  </a:tcPr>
                </a:tc>
                <a:tc>
                  <a:txBody>
                    <a:bodyPr/>
                    <a:lstStyle/>
                    <a:p>
                      <a:pPr algn="ctr">
                        <a:defRPr sz="1200">
                          <a:solidFill>
                            <a:srgbClr val="333333"/>
                          </a:solidFill>
                          <a:latin typeface="Segoe UI"/>
                        </a:defRPr>
                      </a:pPr>
                      <a:r>
                        <a:t>36.7s</a:t>
                      </a:r>
                    </a:p>
                  </a:txBody>
                  <a:tcPr>
                    <a:solidFill>
                      <a:srgbClr val="FFFFFF"/>
                    </a:solidFill>
                  </a:tcPr>
                </a:tc>
              </a:tr>
              <a:tr h="374072">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Hybrid-Rule</a:t>
                      </a:r>
                    </a:p>
                  </a:txBody>
                  <a:tcPr>
                    <a:solidFill>
                      <a:srgbClr val="F5F5FA"/>
                    </a:solidFill>
                  </a:tcPr>
                </a:tc>
                <a:tc>
                  <a:txBody>
                    <a:bodyPr/>
                    <a:lstStyle/>
                    <a:p>
                      <a:pPr algn="ctr">
                        <a:defRPr sz="1200">
                          <a:solidFill>
                            <a:srgbClr val="333333"/>
                          </a:solidFill>
                          <a:latin typeface="Segoe UI"/>
                        </a:defRPr>
                      </a:pPr>
                      <a:r>
                        <a:t>3.400</a:t>
                      </a:r>
                    </a:p>
                  </a:txBody>
                  <a:tcPr>
                    <a:solidFill>
                      <a:srgbClr val="F5F5FA"/>
                    </a:solidFill>
                  </a:tcPr>
                </a:tc>
                <a:tc>
                  <a:txBody>
                    <a:bodyPr/>
                    <a:lstStyle/>
                    <a:p>
                      <a:pPr algn="ctr">
                        <a:defRPr sz="1200">
                          <a:solidFill>
                            <a:srgbClr val="333333"/>
                          </a:solidFill>
                          <a:latin typeface="Segoe UI"/>
                        </a:defRPr>
                      </a:pPr>
                      <a:r>
                        <a:t>1128.16</a:t>
                      </a:r>
                    </a:p>
                  </a:txBody>
                  <a:tcPr>
                    <a:solidFill>
                      <a:srgbClr val="F5F5FA"/>
                    </a:solidFill>
                  </a:tcPr>
                </a:tc>
                <a:tc>
                  <a:txBody>
                    <a:bodyPr/>
                    <a:lstStyle/>
                    <a:p>
                      <a:pPr algn="ctr">
                        <a:defRPr sz="1200">
                          <a:solidFill>
                            <a:srgbClr val="333333"/>
                          </a:solidFill>
                          <a:latin typeface="Segoe UI"/>
                        </a:defRPr>
                      </a:pPr>
                      <a:r>
                        <a:t>+1.130%</a:t>
                      </a:r>
                    </a:p>
                  </a:txBody>
                  <a:tcPr>
                    <a:solidFill>
                      <a:srgbClr val="F5F5FA"/>
                    </a:solidFill>
                  </a:tcPr>
                </a:tc>
                <a:tc>
                  <a:txBody>
                    <a:bodyPr/>
                    <a:lstStyle/>
                    <a:p>
                      <a:pPr algn="ctr">
                        <a:defRPr sz="1200">
                          <a:solidFill>
                            <a:srgbClr val="333333"/>
                          </a:solidFill>
                          <a:latin typeface="Segoe UI"/>
                        </a:defRPr>
                      </a:pPr>
                      <a:r>
                        <a:t>36.6s</a:t>
                      </a:r>
                    </a:p>
                  </a:txBody>
                  <a:tcPr>
                    <a:solidFill>
                      <a:srgbClr val="F5F5FA"/>
                    </a:solidFill>
                  </a:tcPr>
                </a:tc>
              </a:tr>
              <a:tr h="374072">
                <a:tc>
                  <a:txBody>
                    <a:bodyPr/>
                    <a:lstStyle/>
                    <a:p>
                      <a:pPr algn="ctr">
                        <a:defRPr sz="1200" b="1">
                          <a:solidFill>
                            <a:srgbClr val="0C1E96"/>
                          </a:solidFill>
                          <a:latin typeface="Segoe UI"/>
                        </a:defRPr>
                      </a:pPr>
                      <a:r>
                        <a:t>RC2</a:t>
                      </a:r>
                    </a:p>
                  </a:txBody>
                  <a:tcPr>
                    <a:solidFill>
                      <a:srgbClr val="FFFFFF"/>
                    </a:solidFill>
                  </a:tcPr>
                </a:tc>
                <a:tc>
                  <a:txBody>
                    <a:bodyPr/>
                    <a:lstStyle/>
                    <a:p>
                      <a:pPr algn="ctr">
                        <a:defRPr sz="1200" b="1">
                          <a:solidFill>
                            <a:srgbClr val="0C1E96"/>
                          </a:solidFill>
                          <a:latin typeface="Segoe UI"/>
                        </a:defRPr>
                      </a:pPr>
                      <a:r>
                        <a:t>Hybrid-DDQN (Đề xuất)</a:t>
                      </a:r>
                    </a:p>
                  </a:txBody>
                  <a:tcPr>
                    <a:solidFill>
                      <a:srgbClr val="FEF3D6"/>
                    </a:solidFill>
                  </a:tcPr>
                </a:tc>
                <a:tc>
                  <a:txBody>
                    <a:bodyPr/>
                    <a:lstStyle/>
                    <a:p>
                      <a:pPr algn="ctr">
                        <a:defRPr sz="1200" b="1">
                          <a:solidFill>
                            <a:srgbClr val="0C1E96"/>
                          </a:solidFill>
                          <a:latin typeface="Segoe UI"/>
                        </a:defRPr>
                      </a:pPr>
                      <a:r>
                        <a:t>3.475</a:t>
                      </a:r>
                    </a:p>
                  </a:txBody>
                  <a:tcPr>
                    <a:solidFill>
                      <a:srgbClr val="FFFFFF"/>
                    </a:solidFill>
                  </a:tcPr>
                </a:tc>
                <a:tc>
                  <a:txBody>
                    <a:bodyPr/>
                    <a:lstStyle/>
                    <a:p>
                      <a:pPr algn="ctr">
                        <a:defRPr sz="1200" b="1">
                          <a:solidFill>
                            <a:srgbClr val="0C1E96"/>
                          </a:solidFill>
                          <a:latin typeface="Segoe UI"/>
                        </a:defRPr>
                      </a:pPr>
                      <a:r>
                        <a:t>1125.55</a:t>
                      </a:r>
                    </a:p>
                  </a:txBody>
                  <a:tcPr>
                    <a:solidFill>
                      <a:srgbClr val="FFFFFF"/>
                    </a:solidFill>
                  </a:tcPr>
                </a:tc>
                <a:tc>
                  <a:txBody>
                    <a:bodyPr/>
                    <a:lstStyle/>
                    <a:p>
                      <a:pPr algn="ctr">
                        <a:defRPr sz="1200" b="1">
                          <a:solidFill>
                            <a:srgbClr val="0C1E96"/>
                          </a:solidFill>
                          <a:latin typeface="Segoe UI"/>
                        </a:defRPr>
                      </a:pPr>
                      <a:r>
                        <a:t>+0.898%</a:t>
                      </a:r>
                    </a:p>
                  </a:txBody>
                  <a:tcPr>
                    <a:solidFill>
                      <a:srgbClr val="FFFFFF"/>
                    </a:solidFill>
                  </a:tcPr>
                </a:tc>
                <a:tc>
                  <a:txBody>
                    <a:bodyPr/>
                    <a:lstStyle/>
                    <a:p>
                      <a:pPr algn="ctr">
                        <a:defRPr sz="1200" b="1">
                          <a:solidFill>
                            <a:srgbClr val="0C1E96"/>
                          </a:solidFill>
                          <a:latin typeface="Segoe UI"/>
                        </a:defRPr>
                      </a:pPr>
                      <a:r>
                        <a:t>40.3s</a:t>
                      </a:r>
                    </a:p>
                  </a:txBody>
                  <a:tcPr>
                    <a:solidFill>
                      <a:srgbClr val="FFFFFF"/>
                    </a:solidFill>
                  </a:tcPr>
                </a:tc>
              </a:tr>
              <a:tr h="374080">
                <a:tc>
                  <a:txBody>
                    <a:bodyPr/>
                    <a:lstStyle/>
                    <a:p>
                      <a:pPr algn="ctr">
                        <a:defRPr sz="1200">
                          <a:solidFill>
                            <a:srgbClr val="333333"/>
                          </a:solidFill>
                          <a:latin typeface="Segoe UI"/>
                        </a:defRPr>
                      </a:pPr>
                      <a:r>
                        <a:t>RC2</a:t>
                      </a:r>
                    </a:p>
                  </a:txBody>
                  <a:tcPr>
                    <a:solidFill>
                      <a:srgbClr val="F5F5FA"/>
                    </a:solidFill>
                  </a:tcPr>
                </a:tc>
                <a:tc>
                  <a:txBody>
                    <a:bodyPr/>
                    <a:lstStyle/>
                    <a:p>
                      <a:pPr algn="ctr">
                        <a:defRPr sz="1200">
                          <a:solidFill>
                            <a:srgbClr val="333333"/>
                          </a:solidFill>
                          <a:latin typeface="Segoe UI"/>
                        </a:defRPr>
                      </a:pPr>
                      <a:r>
                        <a:t>OR-Tools (CP-SAT)</a:t>
                      </a:r>
                    </a:p>
                  </a:txBody>
                  <a:tcPr>
                    <a:solidFill>
                      <a:srgbClr val="F5F5FA"/>
                    </a:solidFill>
                  </a:tcPr>
                </a:tc>
                <a:tc>
                  <a:txBody>
                    <a:bodyPr/>
                    <a:lstStyle/>
                    <a:p>
                      <a:pPr algn="ctr">
                        <a:defRPr sz="1200">
                          <a:solidFill>
                            <a:srgbClr val="333333"/>
                          </a:solidFill>
                          <a:latin typeface="Segoe UI"/>
                        </a:defRPr>
                      </a:pPr>
                      <a:r>
                        <a:t>6.250</a:t>
                      </a:r>
                    </a:p>
                  </a:txBody>
                  <a:tcPr>
                    <a:solidFill>
                      <a:srgbClr val="F5F5FA"/>
                    </a:solidFill>
                  </a:tcPr>
                </a:tc>
                <a:tc>
                  <a:txBody>
                    <a:bodyPr/>
                    <a:lstStyle/>
                    <a:p>
                      <a:pPr algn="ctr">
                        <a:defRPr sz="1200">
                          <a:solidFill>
                            <a:srgbClr val="333333"/>
                          </a:solidFill>
                          <a:latin typeface="Segoe UI"/>
                        </a:defRPr>
                      </a:pPr>
                      <a:r>
                        <a:t>1034.02</a:t>
                      </a:r>
                    </a:p>
                  </a:txBody>
                  <a:tcPr>
                    <a:solidFill>
                      <a:srgbClr val="F5F5FA"/>
                    </a:solidFill>
                  </a:tcPr>
                </a:tc>
                <a:tc>
                  <a:txBody>
                    <a:bodyPr/>
                    <a:lstStyle/>
                    <a:p>
                      <a:pPr algn="ctr">
                        <a:defRPr sz="1200">
                          <a:solidFill>
                            <a:srgbClr val="333333"/>
                          </a:solidFill>
                          <a:latin typeface="Segoe UI"/>
                        </a:defRPr>
                      </a:pPr>
                      <a:r>
                        <a:t>-7.350%*</a:t>
                      </a:r>
                    </a:p>
                  </a:txBody>
                  <a:tcPr>
                    <a:solidFill>
                      <a:srgbClr val="F5F5FA"/>
                    </a:solidFill>
                  </a:tcPr>
                </a:tc>
                <a:tc>
                  <a:txBody>
                    <a:bodyPr/>
                    <a:lstStyle/>
                    <a:p>
                      <a:pPr algn="ctr">
                        <a:defRPr sz="1200">
                          <a:solidFill>
                            <a:srgbClr val="333333"/>
                          </a:solidFill>
                          <a:latin typeface="Segoe UI"/>
                        </a:defRPr>
                      </a:pPr>
                      <a:r>
                        <a:t>60.1s</a:t>
                      </a:r>
                    </a:p>
                  </a:txBody>
                  <a:tcPr>
                    <a:solidFill>
                      <a:srgbClr val="F5F5FA"/>
                    </a:solidFill>
                  </a:tcPr>
                </a:tc>
              </a:tr>
            </a:tbl>
          </a:graphicData>
        </a:graphic>
      </p:graphicFrame>
      <p:sp>
        <p:nvSpPr>
          <p:cNvPr id="56" name="TextBox 55"/>
          <p:cNvSpPr txBox="1"/>
          <p:nvPr/>
        </p:nvSpPr>
        <p:spPr>
          <a:xfrm>
            <a:off x="1828800" y="35112960"/>
            <a:ext cx="16916400" cy="5120640"/>
          </a:xfrm>
          <a:prstGeom prst="rect">
            <a:avLst/>
          </a:prstGeom>
          <a:noFill/>
        </p:spPr>
        <p:txBody>
          <a:bodyPr wrap="square">
            <a:spAutoFit/>
          </a:bodyPr>
          <a:lstStyle/>
          <a:p>
            <a:pPr>
              <a:spcAft>
                <a:spcPts val="600"/>
              </a:spcAft>
              <a:defRPr sz="1500" b="1">
                <a:solidFill>
                  <a:srgbClr val="0C1E5A"/>
                </a:solidFill>
                <a:latin typeface="Segoe UI"/>
              </a:defRPr>
            </a:pPr>
            <a:r>
              <a:t>Phân tích và bình luận chuyên sâu:</a:t>
            </a:r>
          </a:p>
          <a:p>
            <a:pPr>
              <a:lnSpc>
                <a:spcPct val="120000"/>
              </a:lnSpc>
              <a:spcAft>
                <a:spcPts val="800"/>
              </a:spcAft>
            </a:pPr>
            <a:r>
              <a:rPr sz="1500" b="1">
                <a:solidFill>
                  <a:srgbClr val="333333"/>
                </a:solidFill>
                <a:latin typeface="Segoe UI"/>
              </a:rPr>
              <a:t>• Hiện tượng lạm phát xe (NV inflated) của OR-Tools: </a:t>
            </a:r>
            <a:r>
              <a:rPr sz="1500">
                <a:solidFill>
                  <a:srgbClr val="333333"/>
                </a:solidFill>
                <a:latin typeface="Segoe UI"/>
              </a:rPr>
              <a:t>Trên nhóm RC2, OR-Tools cho kết quả khoảng cách ngắn vượt trội (Gap% âm sâu -7.350%) nhưng bắt buộc sử dụng trung bình tới 6.25 xe (tăng 80% so với 3.475 xe của Hybrid-DDQN). Trong logistics đô thị thực tế, chi phí vận hành thêm một phương tiện cực lớn so với chi phí xăng xe chênh lệch, do đó giải pháp của Hybrid-DDQN hiệu quả kinh tế hơn rất nhiều.</a:t>
            </a:r>
          </a:p>
          <a:p>
            <a:pPr>
              <a:lnSpc>
                <a:spcPct val="120000"/>
              </a:lnSpc>
              <a:spcAft>
                <a:spcPts val="800"/>
              </a:spcAft>
            </a:pPr>
            <a:r>
              <a:rPr sz="1500" b="1">
                <a:solidFill>
                  <a:srgbClr val="333333"/>
                </a:solidFill>
                <a:latin typeface="Segoe UI"/>
              </a:rPr>
              <a:t>• Đóng băng chính sách chuyển giao (Transfer-DR): </a:t>
            </a:r>
            <a:r>
              <a:rPr sz="1500">
                <a:solidFill>
                  <a:srgbClr val="333333"/>
                </a:solidFill>
                <a:latin typeface="Segoe UI"/>
              </a:rPr>
              <a:t>Mô hình DRL sau khi huấn luyện Domain Randomization trên dữ liệu nhân tạo được đóng băng hoàn toàn trọng số. Khi giải trực tiếp 56 thực thể Solomon thu được Gap% cực kỳ ấn tượng 1.62% mà không cần cập nhật trực tuyến, chứng minh khả năng tổng quát hóa thực tiễn dạng plug-and-play.</a:t>
            </a:r>
          </a:p>
          <a:p>
            <a:pPr>
              <a:lnSpc>
                <a:spcPct val="120000"/>
              </a:lnSpc>
              <a:spcAft>
                <a:spcPts val="800"/>
              </a:spcAft>
            </a:pPr>
            <a:r>
              <a:rPr sz="1500" b="1">
                <a:solidFill>
                  <a:srgbClr val="333333"/>
                </a:solidFill>
                <a:latin typeface="Segoe UI"/>
              </a:rPr>
              <a:t>• Cổng điều phối tương tác NAMI: </a:t>
            </a:r>
            <a:r>
              <a:rPr sz="1500">
                <a:solidFill>
                  <a:srgbClr val="333333"/>
                </a:solidFill>
                <a:latin typeface="Segoe UI"/>
              </a:rPr>
              <a:t>Hệ thống visualizer tích hợp backend FastAPI xử lý tối ưu hóa đa tiến trình và frontend trực quan hóa lộ trình các phương tiện trên bản đồ số, hiển thị biểu đồ hội tụ chi phí thời gian thực.</a:t>
            </a:r>
          </a:p>
        </p:txBody>
      </p:sp>
      <p:sp>
        <p:nvSpPr>
          <p:cNvPr id="57" name="Rectangle 56"/>
          <p:cNvSpPr/>
          <p:nvPr/>
        </p:nvSpPr>
        <p:spPr>
          <a:xfrm>
            <a:off x="19385280" y="30175200"/>
            <a:ext cx="9061704" cy="640080"/>
          </a:xfrm>
          <a:prstGeom prst="rect">
            <a:avLst/>
          </a:prstGeom>
          <a:solidFill>
            <a:srgbClr val="FEF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9385280" y="30175200"/>
            <a:ext cx="9061704" cy="640080"/>
          </a:xfrm>
          <a:prstGeom prst="rect">
            <a:avLst/>
          </a:prstGeom>
          <a:noFill/>
        </p:spPr>
        <p:txBody>
          <a:bodyPr wrap="square">
            <a:spAutoFit/>
          </a:bodyPr>
          <a:lstStyle/>
          <a:p>
            <a:pPr algn="l">
              <a:spcBef>
                <a:spcPts val="400"/>
              </a:spcBef>
            </a:pPr>
            <a:r>
              <a:rPr sz="2200" b="1">
                <a:solidFill>
                  <a:srgbClr val="0C1E5A"/>
                </a:solidFill>
                <a:latin typeface="Segoe UI"/>
              </a:rPr>
              <a:t>[] </a:t>
            </a:r>
            <a:r>
              <a:rPr sz="2200" b="1">
                <a:solidFill>
                  <a:srgbClr val="0C1E5A"/>
                </a:solidFill>
                <a:latin typeface="Segoe UI"/>
              </a:rPr>
              <a:t>KẾT LUẬN &amp; HƯỚNG ĐỀ NGHỊ</a:t>
            </a:r>
          </a:p>
        </p:txBody>
      </p:sp>
      <p:sp>
        <p:nvSpPr>
          <p:cNvPr id="59" name="TextBox 58"/>
          <p:cNvSpPr txBox="1"/>
          <p:nvPr/>
        </p:nvSpPr>
        <p:spPr>
          <a:xfrm>
            <a:off x="19385280" y="30906720"/>
            <a:ext cx="9061704" cy="9326880"/>
          </a:xfrm>
          <a:prstGeom prst="rect">
            <a:avLst/>
          </a:prstGeom>
          <a:noFill/>
        </p:spPr>
        <p:txBody>
          <a:bodyPr wrap="square">
            <a:spAutoFit/>
          </a:bodyPr>
          <a:lstStyle/>
          <a:p>
            <a:pPr>
              <a:spcAft>
                <a:spcPts val="800"/>
              </a:spcAft>
              <a:defRPr sz="1500">
                <a:solidFill>
                  <a:srgbClr val="333333"/>
                </a:solidFill>
                <a:latin typeface="Segoe UI"/>
              </a:defRPr>
            </a:pPr>
            <a:r>
              <a:t>Đề tài thiết lập thành công mô hình tối ưu lai DDQN-ALNS kết hợp thông minh học tăng cường sâu và quy hoạch toán học.</a:t>
            </a:r>
          </a:p>
          <a:p>
            <a:pPr>
              <a:lnSpc>
                <a:spcPct val="120000"/>
              </a:lnSpc>
              <a:spcAft>
                <a:spcPts val="800"/>
              </a:spcAft>
            </a:pPr>
            <a:r>
              <a:rPr sz="1500" b="1">
                <a:solidFill>
                  <a:srgbClr val="333333"/>
                </a:solidFill>
                <a:latin typeface="Segoe UI"/>
              </a:rPr>
              <a:t>• Đóng góp chính: </a:t>
            </a:r>
            <a:r>
              <a:rPr sz="1500">
                <a:solidFill>
                  <a:srgbClr val="333333"/>
                </a:solidFill>
                <a:latin typeface="Segoe UI"/>
              </a:rPr>
              <a:t>Phát triển bộ điều khiển Plateau &amp; Operator bằng Dueling Double DQN; thay Simulated Annealing bằng cơ chế học LAC; phát triển toán tử sửa chữa bảo toàn Forward Time Slack (FTS) phối hợp Set Partitioning qua MILP.</a:t>
            </a:r>
          </a:p>
          <a:p>
            <a:pPr>
              <a:lnSpc>
                <a:spcPct val="120000"/>
              </a:lnSpc>
              <a:spcAft>
                <a:spcPts val="800"/>
              </a:spcAft>
            </a:pPr>
            <a:r>
              <a:rPr sz="1500" b="1">
                <a:solidFill>
                  <a:srgbClr val="333333"/>
                </a:solidFill>
                <a:latin typeface="Segoe UI"/>
              </a:rPr>
              <a:t>• Hiệu năng thực tế: </a:t>
            </a:r>
            <a:r>
              <a:rPr sz="1500">
                <a:solidFill>
                  <a:srgbClr val="333333"/>
                </a:solidFill>
                <a:latin typeface="Segoe UI"/>
              </a:rPr>
              <a:t>Đạt Gap% chỉ 0.27% trên Solomon (ở cấu hình 1200 vòng lặp), duy trì quy mô đội xe tối thiểu tối ưu kinh tế vượt trội so với Google OR-Tools. Đóng gói hệ thống trực quan hóa điều phối NAMI.</a:t>
            </a:r>
          </a:p>
          <a:p>
            <a:pPr>
              <a:lnSpc>
                <a:spcPct val="120000"/>
              </a:lnSpc>
              <a:spcAft>
                <a:spcPts val="800"/>
              </a:spcAft>
            </a:pPr>
            <a:r>
              <a:rPr sz="1500" b="1">
                <a:solidFill>
                  <a:srgbClr val="333333"/>
                </a:solidFill>
                <a:latin typeface="Segoe UI"/>
              </a:rPr>
              <a:t>• Hướng nghiên cứu tiếp theo: </a:t>
            </a:r>
            <a:r>
              <a:rPr sz="1500">
                <a:solidFill>
                  <a:srgbClr val="333333"/>
                </a:solidFill>
                <a:latin typeface="Segoe UI"/>
              </a:rPr>
              <a:t>Mở rộng bài toán hỗ trợ đội xe không đồng nhất (Heterogeneous Fleet VRP) với sức tải và định mức chi phí khác nhau; tích hợp các quy định bắt buộc về thời gian làm việc và nghỉ ngơi của tài xế; phát triển mô hình tái tối ưu hóa động (Dynamic Routing) thời gian thực.</a:t>
            </a:r>
          </a:p>
          <a:p>
            <a:pPr>
              <a:spcBef>
                <a:spcPts val="1200"/>
              </a:spcBef>
              <a:spcAft>
                <a:spcPts val="400"/>
              </a:spcAft>
              <a:defRPr sz="1400" b="1">
                <a:solidFill>
                  <a:srgbClr val="0C1E5A"/>
                </a:solidFill>
                <a:latin typeface="Segoe UI"/>
              </a:defRPr>
            </a:pPr>
            <a:r>
              <a:t>Tài liệu tham khảo:</a:t>
            </a:r>
          </a:p>
          <a:p>
            <a:pPr>
              <a:lnSpc>
                <a:spcPct val="110000"/>
              </a:lnSpc>
              <a:defRPr sz="1100" i="1">
                <a:solidFill>
                  <a:srgbClr val="333333"/>
                </a:solidFill>
                <a:latin typeface="Segoe UI"/>
              </a:defRPr>
            </a:pPr>
            <a:r>
              <a:t>1. Bi et al. (2022). A reinforcement learning-aided adaptive ALNS heuristic... IEEE Trans. Cybern., 52(9).</a:t>
            </a:r>
            <a:br/>
            <a:r>
              <a:t>2. Kool et al. (2021). Deep policy dynamic programming for vehicle routing. NeurIPS.</a:t>
            </a:r>
            <a:br/>
            <a:r>
              <a:t>3. Ropke &amp; Pisinger (2006). An adaptive large neighborhood search heuristic... Transportation Science, 40(4).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